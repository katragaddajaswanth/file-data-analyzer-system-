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27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1" y="118872"/>
            <a:ext cx="3151019" cy="426412"/>
          </a:xfrm>
          <a:prstGeom prst="rect">
            <a:avLst/>
          </a:prstGeom>
        </p:spPr>
      </p:pic>
      <p:sp>
        <p:nvSpPr>
          <p:cNvPr id="3" name="TextBox 2"/>
          <p:cNvSpPr txBox="1"/>
          <p:nvPr/>
        </p:nvSpPr>
        <p:spPr>
          <a:xfrm>
            <a:off x="1097280" y="1051560"/>
            <a:ext cx="9966960" cy="548640"/>
          </a:xfrm>
          <a:prstGeom prst="rect">
            <a:avLst/>
          </a:prstGeom>
          <a:noFill/>
        </p:spPr>
        <p:txBody>
          <a:bodyPr wrap="square" lIns="36576" tIns="36576" rIns="36576" bIns="36576" anchor="t">
            <a:spAutoFit/>
          </a:bodyPr>
          <a:lstStyle/>
          <a:p>
            <a:pPr algn="ctr"/>
            <a:r>
              <a:rPr sz="2800" b="1">
                <a:solidFill>
                  <a:srgbClr val="183769"/>
                </a:solidFill>
                <a:latin typeface="Aptos"/>
              </a:rPr>
              <a:t>FILE DATA ANALYZER SYSTEM</a:t>
            </a:r>
          </a:p>
        </p:txBody>
      </p:sp>
      <p:sp>
        <p:nvSpPr>
          <p:cNvPr id="4" name="TextBox 3"/>
          <p:cNvSpPr txBox="1"/>
          <p:nvPr/>
        </p:nvSpPr>
        <p:spPr>
          <a:xfrm>
            <a:off x="1508760" y="1783080"/>
            <a:ext cx="9144000" cy="731520"/>
          </a:xfrm>
          <a:prstGeom prst="rect">
            <a:avLst/>
          </a:prstGeom>
          <a:noFill/>
        </p:spPr>
        <p:txBody>
          <a:bodyPr wrap="square" lIns="36576" tIns="36576" rIns="36576" bIns="36576" anchor="t">
            <a:spAutoFit/>
          </a:bodyPr>
          <a:lstStyle/>
          <a:p>
            <a:pPr algn="ctr"/>
            <a:r>
              <a:rPr sz="1800" b="1">
                <a:solidFill>
                  <a:srgbClr val="FF6900"/>
                </a:solidFill>
                <a:latin typeface="Aptos"/>
              </a:rPr>
              <a:t>A reusable Python-based system for analyzing multiple file formats in Google Colab.</a:t>
            </a:r>
          </a:p>
        </p:txBody>
      </p:sp>
      <p:sp>
        <p:nvSpPr>
          <p:cNvPr id="5" name="TextBox 4"/>
          <p:cNvSpPr txBox="1"/>
          <p:nvPr/>
        </p:nvSpPr>
        <p:spPr>
          <a:xfrm>
            <a:off x="1828800" y="2606040"/>
            <a:ext cx="8503920" cy="1097280"/>
          </a:xfrm>
          <a:prstGeom prst="rect">
            <a:avLst/>
          </a:prstGeom>
          <a:noFill/>
        </p:spPr>
        <p:txBody>
          <a:bodyPr wrap="square" lIns="36576" tIns="36576" rIns="36576" bIns="36576" anchor="t">
            <a:spAutoFit/>
          </a:bodyPr>
          <a:lstStyle/>
          <a:p>
            <a:pPr algn="ctr"/>
            <a:r>
              <a:rPr sz="1600" b="0">
                <a:solidFill>
                  <a:srgbClr val="373737"/>
                </a:solidFill>
                <a:latin typeface="Aptos"/>
              </a:rPr>
              <a:t>Supports TXT, CSV, JSON and Excel files, with word counting, data filtering, statistical analysis, visualization, batch processing and automatic CSV reporting.</a:t>
            </a:r>
          </a:p>
        </p:txBody>
      </p:sp>
      <p:sp>
        <p:nvSpPr>
          <p:cNvPr id="6" name="TextBox 5"/>
          <p:cNvSpPr txBox="1"/>
          <p:nvPr/>
        </p:nvSpPr>
        <p:spPr>
          <a:xfrm>
            <a:off x="1508760" y="3619327"/>
            <a:ext cx="7955279" cy="1181862"/>
          </a:xfrm>
          <a:prstGeom prst="rect">
            <a:avLst/>
          </a:prstGeom>
          <a:noFill/>
        </p:spPr>
        <p:txBody>
          <a:bodyPr wrap="square" lIns="36576" tIns="36576" rIns="36576" bIns="36576" anchor="t">
            <a:spAutoFit/>
          </a:bodyPr>
          <a:lstStyle/>
          <a:p>
            <a:pPr algn="ctr"/>
            <a:r>
              <a:rPr lang="en-IN" dirty="0"/>
              <a:t>Ram Charan </a:t>
            </a:r>
            <a:r>
              <a:rPr lang="en-IN" dirty="0" err="1"/>
              <a:t>Kancham</a:t>
            </a:r>
            <a:r>
              <a:rPr lang="en-IN" dirty="0"/>
              <a:t> – 25B11CS387</a:t>
            </a:r>
          </a:p>
          <a:p>
            <a:pPr algn="ctr"/>
            <a:r>
              <a:rPr lang="en-IN" dirty="0"/>
              <a:t>Nikhil </a:t>
            </a:r>
            <a:r>
              <a:rPr lang="en-IN" dirty="0" err="1"/>
              <a:t>Bantupalli</a:t>
            </a:r>
            <a:r>
              <a:rPr lang="en-IN" dirty="0"/>
              <a:t> – 25B11CS676</a:t>
            </a:r>
          </a:p>
          <a:p>
            <a:pPr algn="ctr"/>
            <a:r>
              <a:rPr lang="en-IN" dirty="0"/>
              <a:t>Pranav Aditya – 25B11CSA00</a:t>
            </a:r>
          </a:p>
          <a:p>
            <a:pPr algn="ctr"/>
            <a:r>
              <a:rPr lang="en-IN" dirty="0"/>
              <a:t>Jaswanth Katragadda – 25B11CS349</a:t>
            </a:r>
          </a:p>
        </p:txBody>
      </p:sp>
      <p:sp>
        <p:nvSpPr>
          <p:cNvPr id="7" name="TextBox 6"/>
          <p:cNvSpPr txBox="1"/>
          <p:nvPr/>
        </p:nvSpPr>
        <p:spPr>
          <a:xfrm>
            <a:off x="2286000" y="5166360"/>
            <a:ext cx="7589520" cy="640080"/>
          </a:xfrm>
          <a:prstGeom prst="rect">
            <a:avLst/>
          </a:prstGeom>
          <a:noFill/>
        </p:spPr>
        <p:txBody>
          <a:bodyPr wrap="square" lIns="36576" tIns="36576" rIns="36576" bIns="36576" anchor="t">
            <a:spAutoFit/>
          </a:bodyPr>
          <a:lstStyle/>
          <a:p>
            <a:pPr algn="ctr"/>
            <a:r>
              <a:rPr sz="1300" b="0">
                <a:solidFill>
                  <a:srgbClr val="6E7882"/>
                </a:solidFill>
                <a:latin typeface="Aptos"/>
              </a:rPr>
              <a:t>II Year – 3rd Semester  |  Batch 11</a:t>
            </a:r>
            <a:br/>
            <a:r>
              <a:t>Department of Computer Science and Engineering</a:t>
            </a:r>
          </a:p>
        </p:txBody>
      </p:sp>
      <p:sp>
        <p:nvSpPr>
          <p:cNvPr id="8" name="TextBox 7"/>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539240" y="509722"/>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08760" y="512245"/>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OBJECTIVE</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2</a:t>
            </a:r>
          </a:p>
        </p:txBody>
      </p:sp>
      <p:sp>
        <p:nvSpPr>
          <p:cNvPr id="6" name="Rounded Rectangle 5"/>
          <p:cNvSpPr/>
          <p:nvPr/>
        </p:nvSpPr>
        <p:spPr>
          <a:xfrm>
            <a:off x="594360" y="1234440"/>
            <a:ext cx="5440680" cy="4389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64008" cy="438912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1339889"/>
            <a:ext cx="5166360" cy="292608"/>
          </a:xfrm>
          <a:prstGeom prst="rect">
            <a:avLst/>
          </a:prstGeom>
          <a:noFill/>
        </p:spPr>
        <p:txBody>
          <a:bodyPr wrap="square" lIns="36576" tIns="36576" rIns="36576" bIns="36576" anchor="t">
            <a:spAutoFit/>
          </a:bodyPr>
          <a:lstStyle/>
          <a:p>
            <a:pPr algn="l"/>
            <a:r>
              <a:rPr sz="1400" b="1" dirty="0">
                <a:solidFill>
                  <a:srgbClr val="183769"/>
                </a:solidFill>
                <a:latin typeface="Aptos"/>
              </a:rPr>
              <a:t>PRIMARY OBJECTIVE</a:t>
            </a:r>
          </a:p>
        </p:txBody>
      </p:sp>
      <p:sp>
        <p:nvSpPr>
          <p:cNvPr id="9" name="TextBox 8"/>
          <p:cNvSpPr txBox="1"/>
          <p:nvPr/>
        </p:nvSpPr>
        <p:spPr>
          <a:xfrm>
            <a:off x="731520" y="1737585"/>
            <a:ext cx="5166360" cy="3822191"/>
          </a:xfrm>
          <a:prstGeom prst="rect">
            <a:avLst/>
          </a:prstGeom>
          <a:noFill/>
        </p:spPr>
        <p:txBody>
          <a:bodyPr wrap="square" lIns="36576" tIns="36576" rIns="36576" bIns="36576" anchor="t">
            <a:spAutoFit/>
          </a:bodyPr>
          <a:lstStyle/>
          <a:p>
            <a:pPr algn="l"/>
            <a:r>
              <a:rPr sz="1600" b="0">
                <a:solidFill>
                  <a:srgbClr val="373737"/>
                </a:solidFill>
                <a:latin typeface="Aptos"/>
              </a:rPr>
              <a:t>Provide one reusable workflow for reading different file formats and extracting useful information. The system combines file handling, analysis and reporting so the same approach can be applied to many uploaded datasets.</a:t>
            </a:r>
          </a:p>
        </p:txBody>
      </p:sp>
      <p:sp>
        <p:nvSpPr>
          <p:cNvPr id="10" name="Rounded Rectangle 9"/>
          <p:cNvSpPr/>
          <p:nvPr/>
        </p:nvSpPr>
        <p:spPr>
          <a:xfrm>
            <a:off x="6217920" y="1234440"/>
            <a:ext cx="5349240" cy="4389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234440"/>
            <a:ext cx="64008" cy="438912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42532" y="1347775"/>
            <a:ext cx="5074920" cy="292608"/>
          </a:xfrm>
          <a:prstGeom prst="rect">
            <a:avLst/>
          </a:prstGeom>
          <a:noFill/>
        </p:spPr>
        <p:txBody>
          <a:bodyPr wrap="square" lIns="36576" tIns="36576" rIns="36576" bIns="36576" anchor="t">
            <a:spAutoFit/>
          </a:bodyPr>
          <a:lstStyle/>
          <a:p>
            <a:pPr algn="l"/>
            <a:r>
              <a:rPr sz="1400" b="1" dirty="0">
                <a:solidFill>
                  <a:srgbClr val="183769"/>
                </a:solidFill>
                <a:latin typeface="Aptos"/>
              </a:rPr>
              <a:t>KEY OPERATIONS</a:t>
            </a:r>
          </a:p>
        </p:txBody>
      </p:sp>
      <p:sp>
        <p:nvSpPr>
          <p:cNvPr id="13" name="TextBox 12"/>
          <p:cNvSpPr txBox="1"/>
          <p:nvPr/>
        </p:nvSpPr>
        <p:spPr>
          <a:xfrm>
            <a:off x="6382512" y="1709928"/>
            <a:ext cx="5074920" cy="3822191"/>
          </a:xfrm>
          <a:prstGeom prst="rect">
            <a:avLst/>
          </a:prstGeom>
          <a:noFill/>
        </p:spPr>
        <p:txBody>
          <a:bodyPr wrap="square" lIns="36576" tIns="36576" rIns="36576" bIns="36576" anchor="t">
            <a:spAutoFit/>
          </a:bodyPr>
          <a:lstStyle/>
          <a:p>
            <a:pPr algn="l"/>
            <a:r>
              <a:rPr sz="1600" b="0">
                <a:solidFill>
                  <a:srgbClr val="373737"/>
                </a:solidFill>
                <a:latin typeface="Aptos"/>
              </a:rPr>
              <a:t>• Word counting</a:t>
            </a:r>
            <a:br/>
            <a:r>
              <a:t>• Data filtering</a:t>
            </a:r>
            <a:br/>
            <a:r>
              <a:t>• Descriptive statistics</a:t>
            </a:r>
            <a:br/>
            <a:r>
              <a:t>• Missing-value and duplicate checks</a:t>
            </a:r>
            <a:br/>
            <a:r>
              <a:t>• Data visualization</a:t>
            </a:r>
            <a:br/>
            <a:r>
              <a:t>• Multiple-file processing using glob</a:t>
            </a:r>
            <a:br/>
            <a:r>
              <a:t>• Automatic summary generation</a:t>
            </a:r>
          </a:p>
        </p:txBody>
      </p:sp>
      <p:pic>
        <p:nvPicPr>
          <p:cNvPr id="15" name="Picture 14" descr="logo.png">
            <a:extLst>
              <a:ext uri="{FF2B5EF4-FFF2-40B4-BE49-F238E27FC236}">
                <a16:creationId xmlns:a16="http://schemas.microsoft.com/office/drawing/2014/main" id="{A55D92E3-056B-5908-E870-A037EBF66757}"/>
              </a:ext>
            </a:extLst>
          </p:cNvPr>
          <p:cNvPicPr>
            <a:picLocks noChangeAspect="1"/>
          </p:cNvPicPr>
          <p:nvPr/>
        </p:nvPicPr>
        <p:blipFill>
          <a:blip r:embed="rId2"/>
          <a:stretch>
            <a:fillRect/>
          </a:stretch>
        </p:blipFill>
        <p:spPr>
          <a:xfrm>
            <a:off x="97842" y="44944"/>
            <a:ext cx="3151019" cy="4264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432560" y="581808"/>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24000" y="630712"/>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SUPPORTED FILE FORMATS</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3</a:t>
            </a:r>
          </a:p>
        </p:txBody>
      </p:sp>
      <p:sp>
        <p:nvSpPr>
          <p:cNvPr id="6" name="Rounded Rectangle 5"/>
          <p:cNvSpPr/>
          <p:nvPr/>
        </p:nvSpPr>
        <p:spPr>
          <a:xfrm>
            <a:off x="59436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64008" cy="1874519"/>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TXT</a:t>
            </a:r>
          </a:p>
        </p:txBody>
      </p:sp>
      <p:sp>
        <p:nvSpPr>
          <p:cNvPr id="9" name="TextBox 8"/>
          <p:cNvSpPr txBox="1"/>
          <p:nvPr/>
        </p:nvSpPr>
        <p:spPr>
          <a:xfrm>
            <a:off x="758952"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Plain text files are read as text and used for direct word-count analysis.</a:t>
            </a:r>
          </a:p>
        </p:txBody>
      </p:sp>
      <p:sp>
        <p:nvSpPr>
          <p:cNvPr id="10" name="Rounded Rectangle 9"/>
          <p:cNvSpPr/>
          <p:nvPr/>
        </p:nvSpPr>
        <p:spPr>
          <a:xfrm>
            <a:off x="342900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234440"/>
            <a:ext cx="64008" cy="1874519"/>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93592"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CSV</a:t>
            </a:r>
          </a:p>
        </p:txBody>
      </p:sp>
      <p:sp>
        <p:nvSpPr>
          <p:cNvPr id="13" name="TextBox 12"/>
          <p:cNvSpPr txBox="1"/>
          <p:nvPr/>
        </p:nvSpPr>
        <p:spPr>
          <a:xfrm>
            <a:off x="3593592"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Tabular files are processed with Pandas, including structure, filtering and statistics.</a:t>
            </a:r>
          </a:p>
        </p:txBody>
      </p:sp>
      <p:sp>
        <p:nvSpPr>
          <p:cNvPr id="14" name="Rounded Rectangle 13"/>
          <p:cNvSpPr/>
          <p:nvPr/>
        </p:nvSpPr>
        <p:spPr>
          <a:xfrm>
            <a:off x="626364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234440"/>
            <a:ext cx="64008" cy="1874519"/>
          </a:xfrm>
          <a:prstGeom prst="rect">
            <a:avLst/>
          </a:prstGeom>
          <a:solidFill>
            <a:srgbClr val="6E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8231"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JSON</a:t>
            </a:r>
          </a:p>
        </p:txBody>
      </p:sp>
      <p:sp>
        <p:nvSpPr>
          <p:cNvPr id="17" name="TextBox 16"/>
          <p:cNvSpPr txBox="1"/>
          <p:nvPr/>
        </p:nvSpPr>
        <p:spPr>
          <a:xfrm>
            <a:off x="6428231"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Structured data is read and recursively inspected for text and values.</a:t>
            </a:r>
          </a:p>
        </p:txBody>
      </p:sp>
      <p:sp>
        <p:nvSpPr>
          <p:cNvPr id="18" name="Rounded Rectangle 17"/>
          <p:cNvSpPr/>
          <p:nvPr/>
        </p:nvSpPr>
        <p:spPr>
          <a:xfrm>
            <a:off x="9098280" y="1234440"/>
            <a:ext cx="265176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98280" y="1234440"/>
            <a:ext cx="64008" cy="1874519"/>
          </a:xfrm>
          <a:prstGeom prst="rect">
            <a:avLst/>
          </a:prstGeom>
          <a:solidFill>
            <a:srgbClr val="B45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62872" y="1344168"/>
            <a:ext cx="2377440" cy="292608"/>
          </a:xfrm>
          <a:prstGeom prst="rect">
            <a:avLst/>
          </a:prstGeom>
          <a:noFill/>
        </p:spPr>
        <p:txBody>
          <a:bodyPr wrap="square" lIns="36576" tIns="36576" rIns="36576" bIns="36576" anchor="t">
            <a:spAutoFit/>
          </a:bodyPr>
          <a:lstStyle/>
          <a:p>
            <a:pPr algn="l"/>
            <a:r>
              <a:rPr sz="1400" b="1">
                <a:solidFill>
                  <a:srgbClr val="183769"/>
                </a:solidFill>
                <a:latin typeface="Aptos"/>
              </a:rPr>
              <a:t>EXCEL</a:t>
            </a:r>
          </a:p>
        </p:txBody>
      </p:sp>
      <p:sp>
        <p:nvSpPr>
          <p:cNvPr id="21" name="TextBox 20"/>
          <p:cNvSpPr txBox="1"/>
          <p:nvPr/>
        </p:nvSpPr>
        <p:spPr>
          <a:xfrm>
            <a:off x="9262872" y="1709928"/>
            <a:ext cx="2377440" cy="1307591"/>
          </a:xfrm>
          <a:prstGeom prst="rect">
            <a:avLst/>
          </a:prstGeom>
          <a:noFill/>
        </p:spPr>
        <p:txBody>
          <a:bodyPr wrap="square" lIns="36576" tIns="36576" rIns="36576" bIns="36576" anchor="t">
            <a:spAutoFit/>
          </a:bodyPr>
          <a:lstStyle/>
          <a:p>
            <a:pPr algn="l"/>
            <a:r>
              <a:rPr sz="1300" b="0">
                <a:solidFill>
                  <a:srgbClr val="373737"/>
                </a:solidFill>
                <a:latin typeface="Aptos"/>
              </a:rPr>
              <a:t>XLSX and XLS spreadsheets are supported through the same analysis workflow.</a:t>
            </a:r>
          </a:p>
        </p:txBody>
      </p:sp>
      <p:sp>
        <p:nvSpPr>
          <p:cNvPr id="22" name="Rounded Rectangle 21"/>
          <p:cNvSpPr/>
          <p:nvPr/>
        </p:nvSpPr>
        <p:spPr>
          <a:xfrm>
            <a:off x="594360" y="3429000"/>
            <a:ext cx="11155680" cy="192024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4360" y="3429000"/>
            <a:ext cx="64008" cy="1920240"/>
          </a:xfrm>
          <a:prstGeom prst="rect">
            <a:avLst/>
          </a:prstGeom>
          <a:solidFill>
            <a:srgbClr val="183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8952" y="3538728"/>
            <a:ext cx="10881359" cy="292608"/>
          </a:xfrm>
          <a:prstGeom prst="rect">
            <a:avLst/>
          </a:prstGeom>
          <a:noFill/>
        </p:spPr>
        <p:txBody>
          <a:bodyPr wrap="square" lIns="36576" tIns="36576" rIns="36576" bIns="36576" anchor="t">
            <a:spAutoFit/>
          </a:bodyPr>
          <a:lstStyle/>
          <a:p>
            <a:pPr algn="l"/>
            <a:r>
              <a:rPr sz="1400" b="1">
                <a:solidFill>
                  <a:srgbClr val="183769"/>
                </a:solidFill>
                <a:latin typeface="Aptos"/>
              </a:rPr>
              <a:t>FORMAT DETECTION</a:t>
            </a:r>
          </a:p>
        </p:txBody>
      </p:sp>
      <p:sp>
        <p:nvSpPr>
          <p:cNvPr id="25" name="TextBox 24"/>
          <p:cNvSpPr txBox="1"/>
          <p:nvPr/>
        </p:nvSpPr>
        <p:spPr>
          <a:xfrm>
            <a:off x="758952" y="3904487"/>
            <a:ext cx="10881359" cy="1353312"/>
          </a:xfrm>
          <a:prstGeom prst="rect">
            <a:avLst/>
          </a:prstGeom>
          <a:noFill/>
        </p:spPr>
        <p:txBody>
          <a:bodyPr wrap="square" lIns="36576" tIns="36576" rIns="36576" bIns="36576" anchor="t">
            <a:spAutoFit/>
          </a:bodyPr>
          <a:lstStyle/>
          <a:p>
            <a:pPr algn="l"/>
            <a:r>
              <a:rPr sz="1500" b="0">
                <a:solidFill>
                  <a:srgbClr val="373737"/>
                </a:solidFill>
                <a:latin typeface="Aptos"/>
              </a:rPr>
              <a:t>The system checks the file extension and routes each file to the corresponding reader. This keeps the processing flow reusable while allowing different input types to be analyzed through one menu-driven system.</a:t>
            </a:r>
          </a:p>
        </p:txBody>
      </p:sp>
      <p:pic>
        <p:nvPicPr>
          <p:cNvPr id="27" name="Picture 26" descr="logo.png">
            <a:extLst>
              <a:ext uri="{FF2B5EF4-FFF2-40B4-BE49-F238E27FC236}">
                <a16:creationId xmlns:a16="http://schemas.microsoft.com/office/drawing/2014/main" id="{E903A56B-F45D-8299-6986-B0045AA8DFBC}"/>
              </a:ext>
            </a:extLst>
          </p:cNvPr>
          <p:cNvPicPr>
            <a:picLocks noChangeAspect="1"/>
          </p:cNvPicPr>
          <p:nvPr/>
        </p:nvPicPr>
        <p:blipFill>
          <a:blip r:embed="rId2"/>
          <a:stretch>
            <a:fillRect/>
          </a:stretch>
        </p:blipFill>
        <p:spPr>
          <a:xfrm>
            <a:off x="256031" y="118872"/>
            <a:ext cx="2880361" cy="3897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581912" y="651698"/>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600200" y="713231"/>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DATASET &amp; PROCESSING</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4</a:t>
            </a:r>
          </a:p>
        </p:txBody>
      </p:sp>
      <p:sp>
        <p:nvSpPr>
          <p:cNvPr id="6" name="Rounded Rectangle 5"/>
          <p:cNvSpPr/>
          <p:nvPr/>
        </p:nvSpPr>
        <p:spPr>
          <a:xfrm>
            <a:off x="594360" y="1234440"/>
            <a:ext cx="4617720" cy="4526280"/>
          </a:xfrm>
          <a:prstGeom prst="roundRect">
            <a:avLst/>
          </a:prstGeom>
          <a:solidFill>
            <a:srgbClr val="FFFFFF"/>
          </a:solidFill>
          <a:ln>
            <a:solidFill>
              <a:srgbClr val="DC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234440"/>
            <a:ext cx="64008" cy="4526280"/>
          </a:xfrm>
          <a:prstGeom prst="rect">
            <a:avLst/>
          </a:prstGeom>
          <a:solidFill>
            <a:srgbClr val="EC7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417320"/>
            <a:ext cx="4160520" cy="365760"/>
          </a:xfrm>
          <a:prstGeom prst="rect">
            <a:avLst/>
          </a:prstGeom>
          <a:noFill/>
        </p:spPr>
        <p:txBody>
          <a:bodyPr wrap="none">
            <a:spAutoFit/>
          </a:bodyPr>
          <a:lstStyle/>
          <a:p>
            <a:r>
              <a:rPr sz="1600" b="1">
                <a:solidFill>
                  <a:srgbClr val="12243A"/>
                </a:solidFill>
              </a:rPr>
              <a:t>DATASET &amp; PROCESSING</a:t>
            </a:r>
          </a:p>
        </p:txBody>
      </p:sp>
      <p:sp>
        <p:nvSpPr>
          <p:cNvPr id="9" name="TextBox 8"/>
          <p:cNvSpPr txBox="1"/>
          <p:nvPr/>
        </p:nvSpPr>
        <p:spPr>
          <a:xfrm>
            <a:off x="804672" y="1874519"/>
            <a:ext cx="4114800" cy="3566160"/>
          </a:xfrm>
          <a:prstGeom prst="rect">
            <a:avLst/>
          </a:prstGeom>
          <a:noFill/>
        </p:spPr>
        <p:txBody>
          <a:bodyPr wrap="square">
            <a:spAutoFit/>
          </a:bodyPr>
          <a:lstStyle/>
          <a:p>
            <a:pPr>
              <a:spcAft>
                <a:spcPts val="1200"/>
              </a:spcAft>
            </a:pPr>
            <a:r>
              <a:rPr sz="1200" b="1">
                <a:solidFill>
                  <a:srgbClr val="EC7E20"/>
                </a:solidFill>
              </a:rPr>
              <a:t>Dataset: </a:t>
            </a:r>
            <a:r>
              <a:rPr sz="1200">
                <a:solidFill>
                  <a:srgbClr val="303741"/>
                </a:solidFill>
              </a:rPr>
              <a:t>Sample - Superstore CSV</a:t>
            </a:r>
          </a:p>
          <a:p>
            <a:pPr>
              <a:spcAft>
                <a:spcPts val="1200"/>
              </a:spcAft>
            </a:pPr>
            <a:r>
              <a:rPr sz="1200" b="1">
                <a:solidFill>
                  <a:srgbClr val="EC7E20"/>
                </a:solidFill>
              </a:rPr>
              <a:t>Source: </a:t>
            </a:r>
            <a:r>
              <a:rPr sz="1200">
                <a:solidFill>
                  <a:srgbClr val="303741"/>
                </a:solidFill>
              </a:rPr>
              <a:t>Kaggle Superstore Dataset</a:t>
            </a:r>
          </a:p>
          <a:p>
            <a:pPr>
              <a:spcAft>
                <a:spcPts val="1200"/>
              </a:spcAft>
            </a:pPr>
            <a:r>
              <a:rPr sz="1200" b="1">
                <a:solidFill>
                  <a:srgbClr val="EC7E20"/>
                </a:solidFill>
              </a:rPr>
              <a:t>Processing: </a:t>
            </a:r>
            <a:r>
              <a:rPr sz="1200">
                <a:solidFill>
                  <a:srgbClr val="303741"/>
                </a:solidFill>
              </a:rPr>
              <a:t>CSV is loaded with Pandas; UTF-8 is attempted first, followed by latin1 when required.</a:t>
            </a:r>
          </a:p>
          <a:p>
            <a:pPr>
              <a:spcAft>
                <a:spcPts val="1200"/>
              </a:spcAft>
            </a:pPr>
            <a:r>
              <a:rPr sz="1200" b="1">
                <a:solidFill>
                  <a:srgbClr val="EC7E20"/>
                </a:solidFill>
              </a:rPr>
              <a:t>Analysis: </a:t>
            </a:r>
            <a:r>
              <a:rPr sz="1200">
                <a:solidFill>
                  <a:srgbClr val="303741"/>
                </a:solidFill>
              </a:rPr>
              <a:t>Structure, data quality, word count, filtering, statistics and visualization are generated automatically.</a:t>
            </a:r>
          </a:p>
        </p:txBody>
      </p:sp>
      <p:sp>
        <p:nvSpPr>
          <p:cNvPr id="10" name="TextBox 9"/>
          <p:cNvSpPr txBox="1"/>
          <p:nvPr/>
        </p:nvSpPr>
        <p:spPr>
          <a:xfrm>
            <a:off x="5440680" y="1261872"/>
            <a:ext cx="5486400" cy="384048"/>
          </a:xfrm>
          <a:prstGeom prst="rect">
            <a:avLst/>
          </a:prstGeom>
          <a:noFill/>
        </p:spPr>
        <p:txBody>
          <a:bodyPr wrap="none">
            <a:spAutoFit/>
          </a:bodyPr>
          <a:lstStyle/>
          <a:p>
            <a:r>
              <a:rPr sz="1600" b="1">
                <a:solidFill>
                  <a:srgbClr val="12243A"/>
                </a:solidFill>
              </a:rPr>
              <a:t>DATASET CONSTRAINTS</a:t>
            </a:r>
          </a:p>
        </p:txBody>
      </p:sp>
      <p:graphicFrame>
        <p:nvGraphicFramePr>
          <p:cNvPr id="11" name="Table 10"/>
          <p:cNvGraphicFramePr>
            <a:graphicFrameLocks noGrp="1"/>
          </p:cNvGraphicFramePr>
          <p:nvPr/>
        </p:nvGraphicFramePr>
        <p:xfrm>
          <a:off x="5440680" y="1737360"/>
          <a:ext cx="5532120" cy="402336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74765">
                <a:tc>
                  <a:txBody>
                    <a:bodyPr/>
                    <a:lstStyle/>
                    <a:p>
                      <a:pPr algn="l"/>
                      <a:r>
                        <a:rPr sz="1150" b="1">
                          <a:solidFill>
                            <a:srgbClr val="FFFFFF"/>
                          </a:solidFill>
                        </a:rPr>
                        <a:t>Constraint</a:t>
                      </a:r>
                    </a:p>
                  </a:txBody>
                  <a:tcPr marL="109728" marR="73152" anchor="ctr">
                    <a:solidFill>
                      <a:srgbClr val="12243A"/>
                    </a:solidFill>
                  </a:tcPr>
                </a:tc>
                <a:tc>
                  <a:txBody>
                    <a:bodyPr/>
                    <a:lstStyle/>
                    <a:p>
                      <a:pPr algn="l"/>
                      <a:r>
                        <a:rPr sz="1150" b="1">
                          <a:solidFill>
                            <a:srgbClr val="FFFFFF"/>
                          </a:solidFill>
                        </a:rPr>
                        <a:t>Dataset value / condition</a:t>
                      </a:r>
                    </a:p>
                  </a:txBody>
                  <a:tcPr marL="109728" marR="73152" anchor="ctr">
                    <a:solidFill>
                      <a:srgbClr val="12243A"/>
                    </a:solidFill>
                  </a:tcPr>
                </a:tc>
                <a:extLst>
                  <a:ext uri="{0D108BD9-81ED-4DB2-BD59-A6C34878D82A}">
                    <a16:rowId xmlns:a16="http://schemas.microsoft.com/office/drawing/2014/main" val="10000"/>
                  </a:ext>
                </a:extLst>
              </a:tr>
              <a:tr h="574765">
                <a:tc>
                  <a:txBody>
                    <a:bodyPr/>
                    <a:lstStyle/>
                    <a:p>
                      <a:pPr algn="l"/>
                      <a:r>
                        <a:rPr sz="1100" b="1">
                          <a:solidFill>
                            <a:srgbClr val="12243A"/>
                          </a:solidFill>
                        </a:rPr>
                        <a:t>Rows</a:t>
                      </a:r>
                    </a:p>
                  </a:txBody>
                  <a:tcPr marL="109728" marR="73152" anchor="ctr">
                    <a:solidFill>
                      <a:srgbClr val="FFFFFF"/>
                    </a:solidFill>
                  </a:tcPr>
                </a:tc>
                <a:tc>
                  <a:txBody>
                    <a:bodyPr/>
                    <a:lstStyle/>
                    <a:p>
                      <a:pPr algn="l"/>
                      <a:r>
                        <a:rPr sz="1100" b="0">
                          <a:solidFill>
                            <a:srgbClr val="303741"/>
                          </a:solidFill>
                        </a:rPr>
                        <a:t>9,994 records</a:t>
                      </a:r>
                    </a:p>
                  </a:txBody>
                  <a:tcPr marL="109728" marR="73152" anchor="ctr">
                    <a:solidFill>
                      <a:srgbClr val="FFFFFF"/>
                    </a:solidFill>
                  </a:tcPr>
                </a:tc>
                <a:extLst>
                  <a:ext uri="{0D108BD9-81ED-4DB2-BD59-A6C34878D82A}">
                    <a16:rowId xmlns:a16="http://schemas.microsoft.com/office/drawing/2014/main" val="10001"/>
                  </a:ext>
                </a:extLst>
              </a:tr>
              <a:tr h="574765">
                <a:tc>
                  <a:txBody>
                    <a:bodyPr/>
                    <a:lstStyle/>
                    <a:p>
                      <a:pPr algn="l"/>
                      <a:r>
                        <a:rPr sz="1100" b="1">
                          <a:solidFill>
                            <a:srgbClr val="12243A"/>
                          </a:solidFill>
                        </a:rPr>
                        <a:t>Columns</a:t>
                      </a:r>
                    </a:p>
                  </a:txBody>
                  <a:tcPr marL="109728" marR="73152" anchor="ctr">
                    <a:solidFill>
                      <a:srgbClr val="F7F8FA"/>
                    </a:solidFill>
                  </a:tcPr>
                </a:tc>
                <a:tc>
                  <a:txBody>
                    <a:bodyPr/>
                    <a:lstStyle/>
                    <a:p>
                      <a:pPr algn="l"/>
                      <a:r>
                        <a:rPr sz="1100" b="0">
                          <a:solidFill>
                            <a:srgbClr val="303741"/>
                          </a:solidFill>
                        </a:rPr>
                        <a:t>21 fields</a:t>
                      </a:r>
                    </a:p>
                  </a:txBody>
                  <a:tcPr marL="109728" marR="73152" anchor="ctr">
                    <a:solidFill>
                      <a:srgbClr val="F7F8FA"/>
                    </a:solidFill>
                  </a:tcPr>
                </a:tc>
                <a:extLst>
                  <a:ext uri="{0D108BD9-81ED-4DB2-BD59-A6C34878D82A}">
                    <a16:rowId xmlns:a16="http://schemas.microsoft.com/office/drawing/2014/main" val="10002"/>
                  </a:ext>
                </a:extLst>
              </a:tr>
              <a:tr h="574765">
                <a:tc>
                  <a:txBody>
                    <a:bodyPr/>
                    <a:lstStyle/>
                    <a:p>
                      <a:pPr algn="l"/>
                      <a:r>
                        <a:rPr sz="1100" b="1">
                          <a:solidFill>
                            <a:srgbClr val="12243A"/>
                          </a:solidFill>
                        </a:rPr>
                        <a:t>Missing values</a:t>
                      </a:r>
                    </a:p>
                  </a:txBody>
                  <a:tcPr marL="109728" marR="73152" anchor="ctr">
                    <a:solidFill>
                      <a:srgbClr val="FFFFFF"/>
                    </a:solidFill>
                  </a:tcPr>
                </a:tc>
                <a:tc>
                  <a:txBody>
                    <a:bodyPr/>
                    <a:lstStyle/>
                    <a:p>
                      <a:pPr algn="l"/>
                      <a:r>
                        <a:rPr sz="1100" b="0">
                          <a:solidFill>
                            <a:srgbClr val="303741"/>
                          </a:solidFill>
                        </a:rPr>
                        <a:t>0 missing values</a:t>
                      </a:r>
                    </a:p>
                  </a:txBody>
                  <a:tcPr marL="109728" marR="73152" anchor="ctr">
                    <a:solidFill>
                      <a:srgbClr val="FFFFFF"/>
                    </a:solidFill>
                  </a:tcPr>
                </a:tc>
                <a:extLst>
                  <a:ext uri="{0D108BD9-81ED-4DB2-BD59-A6C34878D82A}">
                    <a16:rowId xmlns:a16="http://schemas.microsoft.com/office/drawing/2014/main" val="10003"/>
                  </a:ext>
                </a:extLst>
              </a:tr>
              <a:tr h="574765">
                <a:tc>
                  <a:txBody>
                    <a:bodyPr/>
                    <a:lstStyle/>
                    <a:p>
                      <a:pPr algn="l"/>
                      <a:r>
                        <a:rPr sz="1100" b="1">
                          <a:solidFill>
                            <a:srgbClr val="12243A"/>
                          </a:solidFill>
                        </a:rPr>
                        <a:t>Duplicate rows</a:t>
                      </a:r>
                    </a:p>
                  </a:txBody>
                  <a:tcPr marL="109728" marR="73152" anchor="ctr">
                    <a:solidFill>
                      <a:srgbClr val="F7F8FA"/>
                    </a:solidFill>
                  </a:tcPr>
                </a:tc>
                <a:tc>
                  <a:txBody>
                    <a:bodyPr/>
                    <a:lstStyle/>
                    <a:p>
                      <a:pPr algn="l"/>
                      <a:r>
                        <a:rPr sz="1100" b="0">
                          <a:solidFill>
                            <a:srgbClr val="303741"/>
                          </a:solidFill>
                        </a:rPr>
                        <a:t>0 duplicate rows</a:t>
                      </a:r>
                    </a:p>
                  </a:txBody>
                  <a:tcPr marL="109728" marR="73152" anchor="ctr">
                    <a:solidFill>
                      <a:srgbClr val="F7F8FA"/>
                    </a:solidFill>
                  </a:tcPr>
                </a:tc>
                <a:extLst>
                  <a:ext uri="{0D108BD9-81ED-4DB2-BD59-A6C34878D82A}">
                    <a16:rowId xmlns:a16="http://schemas.microsoft.com/office/drawing/2014/main" val="10004"/>
                  </a:ext>
                </a:extLst>
              </a:tr>
              <a:tr h="574765">
                <a:tc>
                  <a:txBody>
                    <a:bodyPr/>
                    <a:lstStyle/>
                    <a:p>
                      <a:pPr algn="l"/>
                      <a:r>
                        <a:rPr sz="1100" b="1">
                          <a:solidFill>
                            <a:srgbClr val="12243A"/>
                          </a:solidFill>
                        </a:rPr>
                        <a:t>Numeric fields</a:t>
                      </a:r>
                    </a:p>
                  </a:txBody>
                  <a:tcPr marL="109728" marR="73152" anchor="ctr">
                    <a:solidFill>
                      <a:srgbClr val="FFFFFF"/>
                    </a:solidFill>
                  </a:tcPr>
                </a:tc>
                <a:tc>
                  <a:txBody>
                    <a:bodyPr/>
                    <a:lstStyle/>
                    <a:p>
                      <a:pPr algn="l"/>
                      <a:r>
                        <a:rPr sz="1100" b="0">
                          <a:solidFill>
                            <a:srgbClr val="303741"/>
                          </a:solidFill>
                        </a:rPr>
                        <a:t>6: Row ID, Postal Code, Sales, Quantity, Discount, Profit</a:t>
                      </a:r>
                    </a:p>
                  </a:txBody>
                  <a:tcPr marL="109728" marR="73152" anchor="ctr">
                    <a:solidFill>
                      <a:srgbClr val="FFFFFF"/>
                    </a:solidFill>
                  </a:tcPr>
                </a:tc>
                <a:extLst>
                  <a:ext uri="{0D108BD9-81ED-4DB2-BD59-A6C34878D82A}">
                    <a16:rowId xmlns:a16="http://schemas.microsoft.com/office/drawing/2014/main" val="10005"/>
                  </a:ext>
                </a:extLst>
              </a:tr>
              <a:tr h="574770">
                <a:tc>
                  <a:txBody>
                    <a:bodyPr/>
                    <a:lstStyle/>
                    <a:p>
                      <a:pPr algn="l"/>
                      <a:r>
                        <a:rPr sz="1100" b="1">
                          <a:solidFill>
                            <a:srgbClr val="12243A"/>
                          </a:solidFill>
                        </a:rPr>
                        <a:t>Filtering condition</a:t>
                      </a:r>
                    </a:p>
                  </a:txBody>
                  <a:tcPr marL="109728" marR="73152" anchor="ctr">
                    <a:solidFill>
                      <a:srgbClr val="F7F8FA"/>
                    </a:solidFill>
                  </a:tcPr>
                </a:tc>
                <a:tc>
                  <a:txBody>
                    <a:bodyPr/>
                    <a:lstStyle/>
                    <a:p>
                      <a:pPr algn="l"/>
                      <a:r>
                        <a:rPr sz="1100" b="0">
                          <a:solidFill>
                            <a:srgbClr val="303741"/>
                          </a:solidFill>
                        </a:rPr>
                        <a:t>Sales &gt; mean Sales (229.86) → 2,360 rows</a:t>
                      </a:r>
                    </a:p>
                  </a:txBody>
                  <a:tcPr marL="109728" marR="73152" anchor="ctr">
                    <a:solidFill>
                      <a:srgbClr val="F7F8FA"/>
                    </a:solidFill>
                  </a:tcPr>
                </a:tc>
                <a:extLst>
                  <a:ext uri="{0D108BD9-81ED-4DB2-BD59-A6C34878D82A}">
                    <a16:rowId xmlns:a16="http://schemas.microsoft.com/office/drawing/2014/main" val="10006"/>
                  </a:ext>
                </a:extLst>
              </a:tr>
            </a:tbl>
          </a:graphicData>
        </a:graphic>
      </p:graphicFrame>
      <p:sp>
        <p:nvSpPr>
          <p:cNvPr id="12" name="TextBox 11"/>
          <p:cNvSpPr txBox="1"/>
          <p:nvPr/>
        </p:nvSpPr>
        <p:spPr>
          <a:xfrm>
            <a:off x="5468112" y="5833872"/>
            <a:ext cx="5440680" cy="256032"/>
          </a:xfrm>
          <a:prstGeom prst="rect">
            <a:avLst/>
          </a:prstGeom>
          <a:noFill/>
        </p:spPr>
        <p:txBody>
          <a:bodyPr wrap="none">
            <a:spAutoFit/>
          </a:bodyPr>
          <a:lstStyle/>
          <a:p>
            <a:pPr algn="r"/>
            <a:r>
              <a:rPr sz="850" i="1">
                <a:solidFill>
                  <a:srgbClr val="697078"/>
                </a:solidFill>
              </a:rPr>
              <a:t>Constraints shown are based on the demonstrated execution.</a:t>
            </a:r>
          </a:p>
        </p:txBody>
      </p:sp>
      <p:pic>
        <p:nvPicPr>
          <p:cNvPr id="14" name="Picture 13" descr="logo.png">
            <a:extLst>
              <a:ext uri="{FF2B5EF4-FFF2-40B4-BE49-F238E27FC236}">
                <a16:creationId xmlns:a16="http://schemas.microsoft.com/office/drawing/2014/main" id="{8F84F7C6-CFFC-86D2-5606-3B9C75E44055}"/>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554480" y="662715"/>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73352" y="722151"/>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SYSTEM WORKFLOW</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5</a:t>
            </a:r>
          </a:p>
        </p:txBody>
      </p:sp>
      <p:sp>
        <p:nvSpPr>
          <p:cNvPr id="6" name="Oval 5"/>
          <p:cNvSpPr/>
          <p:nvPr/>
        </p:nvSpPr>
        <p:spPr>
          <a:xfrm>
            <a:off x="59436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1</a:t>
            </a:r>
          </a:p>
        </p:txBody>
      </p:sp>
      <p:sp>
        <p:nvSpPr>
          <p:cNvPr id="8" name="TextBox 7"/>
          <p:cNvSpPr txBox="1"/>
          <p:nvPr/>
        </p:nvSpPr>
        <p:spPr>
          <a:xfrm>
            <a:off x="114300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SELECT</a:t>
            </a:r>
          </a:p>
        </p:txBody>
      </p:sp>
      <p:sp>
        <p:nvSpPr>
          <p:cNvPr id="9" name="TextBox 8"/>
          <p:cNvSpPr txBox="1"/>
          <p:nvPr/>
        </p:nvSpPr>
        <p:spPr>
          <a:xfrm>
            <a:off x="114300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Upload one or more files</a:t>
            </a:r>
          </a:p>
        </p:txBody>
      </p:sp>
      <p:sp>
        <p:nvSpPr>
          <p:cNvPr id="10" name="TextBox 9"/>
          <p:cNvSpPr txBox="1"/>
          <p:nvPr/>
        </p:nvSpPr>
        <p:spPr>
          <a:xfrm>
            <a:off x="216712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11" name="Oval 10"/>
          <p:cNvSpPr/>
          <p:nvPr/>
        </p:nvSpPr>
        <p:spPr>
          <a:xfrm>
            <a:off x="2468879"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68879"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2</a:t>
            </a:r>
          </a:p>
        </p:txBody>
      </p:sp>
      <p:sp>
        <p:nvSpPr>
          <p:cNvPr id="13" name="TextBox 12"/>
          <p:cNvSpPr txBox="1"/>
          <p:nvPr/>
        </p:nvSpPr>
        <p:spPr>
          <a:xfrm>
            <a:off x="301752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DETECT</a:t>
            </a:r>
          </a:p>
        </p:txBody>
      </p:sp>
      <p:sp>
        <p:nvSpPr>
          <p:cNvPr id="14" name="TextBox 13"/>
          <p:cNvSpPr txBox="1"/>
          <p:nvPr/>
        </p:nvSpPr>
        <p:spPr>
          <a:xfrm>
            <a:off x="301752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Identify file type</a:t>
            </a:r>
          </a:p>
        </p:txBody>
      </p:sp>
      <p:sp>
        <p:nvSpPr>
          <p:cNvPr id="15" name="TextBox 14"/>
          <p:cNvSpPr txBox="1"/>
          <p:nvPr/>
        </p:nvSpPr>
        <p:spPr>
          <a:xfrm>
            <a:off x="404164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16" name="Oval 15"/>
          <p:cNvSpPr/>
          <p:nvPr/>
        </p:nvSpPr>
        <p:spPr>
          <a:xfrm>
            <a:off x="434340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4340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3</a:t>
            </a:r>
          </a:p>
        </p:txBody>
      </p:sp>
      <p:sp>
        <p:nvSpPr>
          <p:cNvPr id="18" name="TextBox 17"/>
          <p:cNvSpPr txBox="1"/>
          <p:nvPr/>
        </p:nvSpPr>
        <p:spPr>
          <a:xfrm>
            <a:off x="489204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READ</a:t>
            </a:r>
          </a:p>
        </p:txBody>
      </p:sp>
      <p:sp>
        <p:nvSpPr>
          <p:cNvPr id="19" name="TextBox 18"/>
          <p:cNvSpPr txBox="1"/>
          <p:nvPr/>
        </p:nvSpPr>
        <p:spPr>
          <a:xfrm>
            <a:off x="489204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Use Pandas / JSON reader</a:t>
            </a:r>
          </a:p>
        </p:txBody>
      </p:sp>
      <p:sp>
        <p:nvSpPr>
          <p:cNvPr id="20" name="TextBox 19"/>
          <p:cNvSpPr txBox="1"/>
          <p:nvPr/>
        </p:nvSpPr>
        <p:spPr>
          <a:xfrm>
            <a:off x="591616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21" name="Oval 20"/>
          <p:cNvSpPr/>
          <p:nvPr/>
        </p:nvSpPr>
        <p:spPr>
          <a:xfrm>
            <a:off x="621792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4</a:t>
            </a:r>
          </a:p>
        </p:txBody>
      </p:sp>
      <p:sp>
        <p:nvSpPr>
          <p:cNvPr id="23" name="TextBox 22"/>
          <p:cNvSpPr txBox="1"/>
          <p:nvPr/>
        </p:nvSpPr>
        <p:spPr>
          <a:xfrm>
            <a:off x="6766559"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CHECK</a:t>
            </a:r>
          </a:p>
        </p:txBody>
      </p:sp>
      <p:sp>
        <p:nvSpPr>
          <p:cNvPr id="24" name="TextBox 23"/>
          <p:cNvSpPr txBox="1"/>
          <p:nvPr/>
        </p:nvSpPr>
        <p:spPr>
          <a:xfrm>
            <a:off x="6766559"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Rows, columns, missing values</a:t>
            </a:r>
          </a:p>
        </p:txBody>
      </p:sp>
      <p:sp>
        <p:nvSpPr>
          <p:cNvPr id="25" name="TextBox 24"/>
          <p:cNvSpPr txBox="1"/>
          <p:nvPr/>
        </p:nvSpPr>
        <p:spPr>
          <a:xfrm>
            <a:off x="779068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26" name="Oval 25"/>
          <p:cNvSpPr/>
          <p:nvPr/>
        </p:nvSpPr>
        <p:spPr>
          <a:xfrm>
            <a:off x="809244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9244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5</a:t>
            </a:r>
          </a:p>
        </p:txBody>
      </p:sp>
      <p:sp>
        <p:nvSpPr>
          <p:cNvPr id="28" name="TextBox 27"/>
          <p:cNvSpPr txBox="1"/>
          <p:nvPr/>
        </p:nvSpPr>
        <p:spPr>
          <a:xfrm>
            <a:off x="864108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ANALYZE</a:t>
            </a:r>
          </a:p>
        </p:txBody>
      </p:sp>
      <p:sp>
        <p:nvSpPr>
          <p:cNvPr id="29" name="TextBox 28"/>
          <p:cNvSpPr txBox="1"/>
          <p:nvPr/>
        </p:nvSpPr>
        <p:spPr>
          <a:xfrm>
            <a:off x="864108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Words, statistics, filtering</a:t>
            </a:r>
          </a:p>
        </p:txBody>
      </p:sp>
      <p:sp>
        <p:nvSpPr>
          <p:cNvPr id="30" name="TextBox 29"/>
          <p:cNvSpPr txBox="1"/>
          <p:nvPr/>
        </p:nvSpPr>
        <p:spPr>
          <a:xfrm>
            <a:off x="9665208" y="1499616"/>
            <a:ext cx="228600" cy="228600"/>
          </a:xfrm>
          <a:prstGeom prst="rect">
            <a:avLst/>
          </a:prstGeom>
          <a:noFill/>
        </p:spPr>
        <p:txBody>
          <a:bodyPr wrap="square" lIns="36576" tIns="36576" rIns="36576" bIns="36576" anchor="t">
            <a:spAutoFit/>
          </a:bodyPr>
          <a:lstStyle/>
          <a:p>
            <a:pPr algn="ctr"/>
            <a:r>
              <a:rPr sz="1800" b="1">
                <a:solidFill>
                  <a:srgbClr val="6E7882"/>
                </a:solidFill>
                <a:latin typeface="Aptos"/>
              </a:rPr>
              <a:t>→</a:t>
            </a:r>
          </a:p>
        </p:txBody>
      </p:sp>
      <p:sp>
        <p:nvSpPr>
          <p:cNvPr id="31" name="Oval 30"/>
          <p:cNvSpPr/>
          <p:nvPr/>
        </p:nvSpPr>
        <p:spPr>
          <a:xfrm>
            <a:off x="9966960" y="1417320"/>
            <a:ext cx="457200" cy="457200"/>
          </a:xfrm>
          <a:prstGeom prst="ellipse">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966960" y="1499616"/>
            <a:ext cx="457200" cy="228600"/>
          </a:xfrm>
          <a:prstGeom prst="rect">
            <a:avLst/>
          </a:prstGeom>
          <a:noFill/>
        </p:spPr>
        <p:txBody>
          <a:bodyPr wrap="square" lIns="36576" tIns="36576" rIns="36576" bIns="36576" anchor="t">
            <a:spAutoFit/>
          </a:bodyPr>
          <a:lstStyle/>
          <a:p>
            <a:pPr algn="ctr"/>
            <a:r>
              <a:rPr sz="1100" b="1">
                <a:solidFill>
                  <a:srgbClr val="FFFFFF"/>
                </a:solidFill>
                <a:latin typeface="Aptos"/>
              </a:rPr>
              <a:t>6</a:t>
            </a:r>
          </a:p>
        </p:txBody>
      </p:sp>
      <p:sp>
        <p:nvSpPr>
          <p:cNvPr id="33" name="TextBox 32"/>
          <p:cNvSpPr txBox="1"/>
          <p:nvPr/>
        </p:nvSpPr>
        <p:spPr>
          <a:xfrm>
            <a:off x="10515600" y="1417320"/>
            <a:ext cx="1234440" cy="274320"/>
          </a:xfrm>
          <a:prstGeom prst="rect">
            <a:avLst/>
          </a:prstGeom>
          <a:noFill/>
        </p:spPr>
        <p:txBody>
          <a:bodyPr wrap="square" lIns="36576" tIns="36576" rIns="36576" bIns="36576" anchor="t">
            <a:spAutoFit/>
          </a:bodyPr>
          <a:lstStyle/>
          <a:p>
            <a:pPr algn="l"/>
            <a:r>
              <a:rPr sz="1200" b="1">
                <a:solidFill>
                  <a:srgbClr val="183769"/>
                </a:solidFill>
                <a:latin typeface="Aptos"/>
              </a:rPr>
              <a:t>REPORT</a:t>
            </a:r>
          </a:p>
        </p:txBody>
      </p:sp>
      <p:sp>
        <p:nvSpPr>
          <p:cNvPr id="34" name="TextBox 33"/>
          <p:cNvSpPr txBox="1"/>
          <p:nvPr/>
        </p:nvSpPr>
        <p:spPr>
          <a:xfrm>
            <a:off x="10515600" y="1737360"/>
            <a:ext cx="1234440" cy="640080"/>
          </a:xfrm>
          <a:prstGeom prst="rect">
            <a:avLst/>
          </a:prstGeom>
          <a:noFill/>
        </p:spPr>
        <p:txBody>
          <a:bodyPr wrap="square" lIns="36576" tIns="36576" rIns="36576" bIns="36576" anchor="t">
            <a:spAutoFit/>
          </a:bodyPr>
          <a:lstStyle/>
          <a:p>
            <a:pPr algn="l"/>
            <a:r>
              <a:rPr sz="1100" b="0">
                <a:solidFill>
                  <a:srgbClr val="373737"/>
                </a:solidFill>
                <a:latin typeface="Aptos"/>
              </a:rPr>
              <a:t>Charts + CSV summary</a:t>
            </a:r>
          </a:p>
        </p:txBody>
      </p:sp>
      <p:pic>
        <p:nvPicPr>
          <p:cNvPr id="35" name="Picture 34" descr="01_upload_glob.png"/>
          <p:cNvPicPr>
            <a:picLocks noChangeAspect="1"/>
          </p:cNvPicPr>
          <p:nvPr/>
        </p:nvPicPr>
        <p:blipFill>
          <a:blip r:embed="rId3"/>
          <a:stretch>
            <a:fillRect/>
          </a:stretch>
        </p:blipFill>
        <p:spPr>
          <a:xfrm>
            <a:off x="685800" y="2788920"/>
            <a:ext cx="5212080" cy="2468880"/>
          </a:xfrm>
          <a:prstGeom prst="rect">
            <a:avLst/>
          </a:prstGeom>
        </p:spPr>
      </p:pic>
      <p:sp>
        <p:nvSpPr>
          <p:cNvPr id="36" name="Rounded Rectangle 35"/>
          <p:cNvSpPr/>
          <p:nvPr/>
        </p:nvSpPr>
        <p:spPr>
          <a:xfrm>
            <a:off x="6172200" y="2788920"/>
            <a:ext cx="5394960" cy="246888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2200" y="2788920"/>
            <a:ext cx="64008" cy="246888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36792" y="2898648"/>
            <a:ext cx="5120640" cy="292608"/>
          </a:xfrm>
          <a:prstGeom prst="rect">
            <a:avLst/>
          </a:prstGeom>
          <a:noFill/>
        </p:spPr>
        <p:txBody>
          <a:bodyPr wrap="square" lIns="36576" tIns="36576" rIns="36576" bIns="36576" anchor="t">
            <a:spAutoFit/>
          </a:bodyPr>
          <a:lstStyle/>
          <a:p>
            <a:pPr algn="l"/>
            <a:r>
              <a:rPr sz="1400" b="1">
                <a:solidFill>
                  <a:srgbClr val="183769"/>
                </a:solidFill>
                <a:latin typeface="Aptos"/>
              </a:rPr>
              <a:t>BATCH PROCESSING</a:t>
            </a:r>
          </a:p>
        </p:txBody>
      </p:sp>
      <p:sp>
        <p:nvSpPr>
          <p:cNvPr id="39" name="TextBox 38"/>
          <p:cNvSpPr txBox="1"/>
          <p:nvPr/>
        </p:nvSpPr>
        <p:spPr>
          <a:xfrm>
            <a:off x="6336792" y="3264408"/>
            <a:ext cx="5120640" cy="1901952"/>
          </a:xfrm>
          <a:prstGeom prst="rect">
            <a:avLst/>
          </a:prstGeom>
          <a:noFill/>
        </p:spPr>
        <p:txBody>
          <a:bodyPr wrap="square" lIns="36576" tIns="36576" rIns="36576" bIns="36576" anchor="t">
            <a:spAutoFit/>
          </a:bodyPr>
          <a:lstStyle/>
          <a:p>
            <a:pPr algn="l"/>
            <a:r>
              <a:rPr sz="1500" b="0">
                <a:solidFill>
                  <a:srgbClr val="373737"/>
                </a:solidFill>
                <a:latin typeface="Aptos"/>
              </a:rPr>
              <a:t>Files are collected with glob patterns, processed according to extension and summarized into a single report. The same workflow can therefore be repeated across multiple uploaded files.</a:t>
            </a:r>
          </a:p>
        </p:txBody>
      </p:sp>
      <p:pic>
        <p:nvPicPr>
          <p:cNvPr id="41" name="Picture 40" descr="logo.png">
            <a:extLst>
              <a:ext uri="{FF2B5EF4-FFF2-40B4-BE49-F238E27FC236}">
                <a16:creationId xmlns:a16="http://schemas.microsoft.com/office/drawing/2014/main" id="{790EB89E-7329-3785-6FCC-9E6FE3084549}"/>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600200" y="617220"/>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600200" y="658143"/>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STATISTICAL ANALYSIS</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6</a:t>
            </a:r>
          </a:p>
        </p:txBody>
      </p:sp>
      <p:pic>
        <p:nvPicPr>
          <p:cNvPr id="6" name="Picture 5" descr="02_statistics.png"/>
          <p:cNvPicPr>
            <a:picLocks noChangeAspect="1"/>
          </p:cNvPicPr>
          <p:nvPr/>
        </p:nvPicPr>
        <p:blipFill>
          <a:blip r:embed="rId3"/>
          <a:stretch>
            <a:fillRect/>
          </a:stretch>
        </p:blipFill>
        <p:spPr>
          <a:xfrm>
            <a:off x="594360" y="1234440"/>
            <a:ext cx="5715000" cy="3474720"/>
          </a:xfrm>
          <a:prstGeom prst="rect">
            <a:avLst/>
          </a:prstGeom>
        </p:spPr>
      </p:pic>
      <p:sp>
        <p:nvSpPr>
          <p:cNvPr id="7" name="Rounded Rectangle 6"/>
          <p:cNvSpPr/>
          <p:nvPr/>
        </p:nvSpPr>
        <p:spPr>
          <a:xfrm>
            <a:off x="6537960" y="1234440"/>
            <a:ext cx="5212080" cy="34747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37960" y="1234440"/>
            <a:ext cx="64008" cy="347472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02552" y="1344168"/>
            <a:ext cx="4937760" cy="292608"/>
          </a:xfrm>
          <a:prstGeom prst="rect">
            <a:avLst/>
          </a:prstGeom>
          <a:noFill/>
        </p:spPr>
        <p:txBody>
          <a:bodyPr wrap="square" lIns="36576" tIns="36576" rIns="36576" bIns="36576" anchor="t">
            <a:spAutoFit/>
          </a:bodyPr>
          <a:lstStyle/>
          <a:p>
            <a:pPr algn="l"/>
            <a:r>
              <a:rPr sz="1400" b="1">
                <a:solidFill>
                  <a:srgbClr val="183769"/>
                </a:solidFill>
                <a:latin typeface="Aptos"/>
              </a:rPr>
              <a:t>SUPERSTORE RESULTS</a:t>
            </a:r>
          </a:p>
        </p:txBody>
      </p:sp>
      <p:sp>
        <p:nvSpPr>
          <p:cNvPr id="10" name="TextBox 9"/>
          <p:cNvSpPr txBox="1"/>
          <p:nvPr/>
        </p:nvSpPr>
        <p:spPr>
          <a:xfrm>
            <a:off x="6702552" y="1709928"/>
            <a:ext cx="4937760" cy="2907791"/>
          </a:xfrm>
          <a:prstGeom prst="rect">
            <a:avLst/>
          </a:prstGeom>
          <a:noFill/>
        </p:spPr>
        <p:txBody>
          <a:bodyPr wrap="square" lIns="36576" tIns="36576" rIns="36576" bIns="36576" anchor="t">
            <a:spAutoFit/>
          </a:bodyPr>
          <a:lstStyle/>
          <a:p>
            <a:pPr algn="l"/>
            <a:r>
              <a:rPr sz="1600" b="0">
                <a:solidFill>
                  <a:srgbClr val="373737"/>
                </a:solidFill>
                <a:latin typeface="Aptos"/>
              </a:rPr>
              <a:t>Mean Sales: 229.858</a:t>
            </a:r>
            <a:br/>
            <a:r>
              <a:t>Median Sales: 54.49</a:t>
            </a:r>
            <a:br/>
            <a:r>
              <a:t>Mean Profit: 28.657</a:t>
            </a:r>
            <a:br/>
            <a:r>
              <a:t>Median Profit: 8.667</a:t>
            </a:r>
            <a:br/>
            <a:r>
              <a:t>Sales standard deviation: 623.245</a:t>
            </a:r>
            <a:br/>
            <a:r>
              <a:t>Profit standard deviation: 234.260</a:t>
            </a:r>
          </a:p>
        </p:txBody>
      </p:sp>
      <p:sp>
        <p:nvSpPr>
          <p:cNvPr id="11" name="TextBox 10"/>
          <p:cNvSpPr txBox="1"/>
          <p:nvPr/>
        </p:nvSpPr>
        <p:spPr>
          <a:xfrm>
            <a:off x="685800" y="5074920"/>
            <a:ext cx="10881360" cy="594360"/>
          </a:xfrm>
          <a:prstGeom prst="rect">
            <a:avLst/>
          </a:prstGeom>
          <a:noFill/>
        </p:spPr>
        <p:txBody>
          <a:bodyPr wrap="square" lIns="36576" tIns="36576" rIns="36576" bIns="36576" anchor="t">
            <a:spAutoFit/>
          </a:bodyPr>
          <a:lstStyle/>
          <a:p>
            <a:pPr algn="ctr"/>
            <a:r>
              <a:rPr sz="1400" b="0">
                <a:solidFill>
                  <a:srgbClr val="373737"/>
                </a:solidFill>
                <a:latin typeface="Aptos"/>
              </a:rPr>
              <a:t>The system identifies numeric columns and calculates descriptive statistics while also reporting dataset dimensions and validation results.</a:t>
            </a:r>
          </a:p>
        </p:txBody>
      </p:sp>
      <p:pic>
        <p:nvPicPr>
          <p:cNvPr id="13" name="Picture 12" descr="logo.png">
            <a:extLst>
              <a:ext uri="{FF2B5EF4-FFF2-40B4-BE49-F238E27FC236}">
                <a16:creationId xmlns:a16="http://schemas.microsoft.com/office/drawing/2014/main" id="{45DAE669-9E91-C5EE-B366-F0A2353D16D7}"/>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417320" y="384048"/>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08760" y="429768"/>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WORD COUNT &amp; DATA FILTERING</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7</a:t>
            </a:r>
          </a:p>
        </p:txBody>
      </p:sp>
      <p:pic>
        <p:nvPicPr>
          <p:cNvPr id="6" name="Picture 5" descr="03_word_filter.png"/>
          <p:cNvPicPr>
            <a:picLocks noChangeAspect="1"/>
          </p:cNvPicPr>
          <p:nvPr/>
        </p:nvPicPr>
        <p:blipFill>
          <a:blip r:embed="rId3"/>
          <a:stretch>
            <a:fillRect/>
          </a:stretch>
        </p:blipFill>
        <p:spPr>
          <a:xfrm>
            <a:off x="594360" y="1234440"/>
            <a:ext cx="5394960" cy="4206240"/>
          </a:xfrm>
          <a:prstGeom prst="rect">
            <a:avLst/>
          </a:prstGeom>
        </p:spPr>
      </p:pic>
      <p:sp>
        <p:nvSpPr>
          <p:cNvPr id="7" name="Rounded Rectangle 6"/>
          <p:cNvSpPr/>
          <p:nvPr/>
        </p:nvSpPr>
        <p:spPr>
          <a:xfrm>
            <a:off x="6217920" y="1234440"/>
            <a:ext cx="5440680" cy="1874519"/>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0" y="1234440"/>
            <a:ext cx="64008" cy="1874519"/>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1344168"/>
            <a:ext cx="5166360" cy="292608"/>
          </a:xfrm>
          <a:prstGeom prst="rect">
            <a:avLst/>
          </a:prstGeom>
          <a:noFill/>
        </p:spPr>
        <p:txBody>
          <a:bodyPr wrap="square" lIns="36576" tIns="36576" rIns="36576" bIns="36576" anchor="t">
            <a:spAutoFit/>
          </a:bodyPr>
          <a:lstStyle/>
          <a:p>
            <a:pPr algn="l"/>
            <a:r>
              <a:rPr sz="1400" b="1">
                <a:solidFill>
                  <a:srgbClr val="183769"/>
                </a:solidFill>
                <a:latin typeface="Aptos"/>
              </a:rPr>
              <a:t>WORD COUNT</a:t>
            </a:r>
          </a:p>
        </p:txBody>
      </p:sp>
      <p:sp>
        <p:nvSpPr>
          <p:cNvPr id="10" name="TextBox 9"/>
          <p:cNvSpPr txBox="1"/>
          <p:nvPr/>
        </p:nvSpPr>
        <p:spPr>
          <a:xfrm>
            <a:off x="6382512" y="1709928"/>
            <a:ext cx="5166360" cy="1307591"/>
          </a:xfrm>
          <a:prstGeom prst="rect">
            <a:avLst/>
          </a:prstGeom>
          <a:noFill/>
        </p:spPr>
        <p:txBody>
          <a:bodyPr wrap="square" lIns="36576" tIns="36576" rIns="36576" bIns="36576" anchor="t">
            <a:spAutoFit/>
          </a:bodyPr>
          <a:lstStyle/>
          <a:p>
            <a:pPr algn="l"/>
            <a:r>
              <a:rPr sz="1500" b="0">
                <a:solidFill>
                  <a:srgbClr val="373737"/>
                </a:solidFill>
                <a:latin typeface="Aptos"/>
              </a:rPr>
              <a:t>The CSV text columns produce a total of 333,992 words. This demonstrates that word analysis can be performed on tabular data, not only on standalone text files.</a:t>
            </a:r>
          </a:p>
        </p:txBody>
      </p:sp>
      <p:sp>
        <p:nvSpPr>
          <p:cNvPr id="11" name="Rounded Rectangle 10"/>
          <p:cNvSpPr/>
          <p:nvPr/>
        </p:nvSpPr>
        <p:spPr>
          <a:xfrm>
            <a:off x="6217920" y="3337560"/>
            <a:ext cx="5440680" cy="2103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3337560"/>
            <a:ext cx="64008" cy="210312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3447288"/>
            <a:ext cx="5166360" cy="292608"/>
          </a:xfrm>
          <a:prstGeom prst="rect">
            <a:avLst/>
          </a:prstGeom>
          <a:noFill/>
        </p:spPr>
        <p:txBody>
          <a:bodyPr wrap="square" lIns="36576" tIns="36576" rIns="36576" bIns="36576" anchor="t">
            <a:spAutoFit/>
          </a:bodyPr>
          <a:lstStyle/>
          <a:p>
            <a:pPr algn="l"/>
            <a:r>
              <a:rPr sz="1400" b="1">
                <a:solidFill>
                  <a:srgbClr val="183769"/>
                </a:solidFill>
                <a:latin typeface="Aptos"/>
              </a:rPr>
              <a:t>DATA FILTERING</a:t>
            </a:r>
          </a:p>
        </p:txBody>
      </p:sp>
      <p:sp>
        <p:nvSpPr>
          <p:cNvPr id="14" name="TextBox 13"/>
          <p:cNvSpPr txBox="1"/>
          <p:nvPr/>
        </p:nvSpPr>
        <p:spPr>
          <a:xfrm>
            <a:off x="6382512" y="3813048"/>
            <a:ext cx="5166360" cy="1536191"/>
          </a:xfrm>
          <a:prstGeom prst="rect">
            <a:avLst/>
          </a:prstGeom>
          <a:noFill/>
        </p:spPr>
        <p:txBody>
          <a:bodyPr wrap="square" lIns="36576" tIns="36576" rIns="36576" bIns="36576" anchor="t">
            <a:spAutoFit/>
          </a:bodyPr>
          <a:lstStyle/>
          <a:p>
            <a:pPr algn="l"/>
            <a:r>
              <a:rPr sz="1500" b="0">
                <a:solidFill>
                  <a:srgbClr val="373737"/>
                </a:solidFill>
                <a:latin typeface="Aptos"/>
              </a:rPr>
              <a:t>Filter condition: Sales &gt; mean Sales (229.86). The execution returns 2,360 rows for inspection, demonstrating how a numeric condition can reduce a large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432560" y="717804"/>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00200" y="740665"/>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DATA VISUALIZATION</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8</a:t>
            </a:r>
          </a:p>
        </p:txBody>
      </p:sp>
      <p:pic>
        <p:nvPicPr>
          <p:cNvPr id="6" name="Picture 5" descr="04_visualization.png"/>
          <p:cNvPicPr>
            <a:picLocks noChangeAspect="1"/>
          </p:cNvPicPr>
          <p:nvPr/>
        </p:nvPicPr>
        <p:blipFill>
          <a:blip r:embed="rId3"/>
          <a:stretch>
            <a:fillRect/>
          </a:stretch>
        </p:blipFill>
        <p:spPr>
          <a:xfrm>
            <a:off x="640080" y="1234440"/>
            <a:ext cx="6583680" cy="4434840"/>
          </a:xfrm>
          <a:prstGeom prst="rect">
            <a:avLst/>
          </a:prstGeom>
        </p:spPr>
      </p:pic>
      <p:sp>
        <p:nvSpPr>
          <p:cNvPr id="7" name="Rounded Rectangle 6"/>
          <p:cNvSpPr/>
          <p:nvPr/>
        </p:nvSpPr>
        <p:spPr>
          <a:xfrm>
            <a:off x="7498079" y="1234440"/>
            <a:ext cx="4160520" cy="443484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79" y="1234440"/>
            <a:ext cx="64008" cy="443484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417320"/>
            <a:ext cx="3886200" cy="292608"/>
          </a:xfrm>
          <a:prstGeom prst="rect">
            <a:avLst/>
          </a:prstGeom>
          <a:noFill/>
        </p:spPr>
        <p:txBody>
          <a:bodyPr wrap="square" lIns="36576" tIns="36576" rIns="36576" bIns="36576" anchor="t">
            <a:spAutoFit/>
          </a:bodyPr>
          <a:lstStyle/>
          <a:p>
            <a:pPr algn="l"/>
            <a:r>
              <a:rPr sz="1400" b="1" dirty="0">
                <a:solidFill>
                  <a:srgbClr val="183769"/>
                </a:solidFill>
                <a:latin typeface="Aptos"/>
              </a:rPr>
              <a:t>GENERATED CHARTS</a:t>
            </a:r>
          </a:p>
        </p:txBody>
      </p:sp>
      <p:sp>
        <p:nvSpPr>
          <p:cNvPr id="10" name="TextBox 9"/>
          <p:cNvSpPr txBox="1"/>
          <p:nvPr/>
        </p:nvSpPr>
        <p:spPr>
          <a:xfrm>
            <a:off x="7662671" y="1709928"/>
            <a:ext cx="3886200" cy="3867911"/>
          </a:xfrm>
          <a:prstGeom prst="rect">
            <a:avLst/>
          </a:prstGeom>
          <a:noFill/>
        </p:spPr>
        <p:txBody>
          <a:bodyPr wrap="square" lIns="36576" tIns="36576" rIns="36576" bIns="36576" anchor="t">
            <a:spAutoFit/>
          </a:bodyPr>
          <a:lstStyle/>
          <a:p>
            <a:pPr algn="l"/>
            <a:r>
              <a:rPr sz="1500" b="0">
                <a:solidFill>
                  <a:srgbClr val="373737"/>
                </a:solidFill>
                <a:latin typeface="Aptos"/>
              </a:rPr>
              <a:t>• Sales histogram for distribution</a:t>
            </a:r>
            <a:br/>
            <a:br/>
            <a:r>
              <a:t>• Sales vs Profit comparison</a:t>
            </a:r>
            <a:br/>
            <a:br/>
            <a:r>
              <a:t>The charts provide visual views of numeric behavior and relationships, and are generated as part of the automated analysis workflow.</a:t>
            </a:r>
          </a:p>
        </p:txBody>
      </p:sp>
      <p:pic>
        <p:nvPicPr>
          <p:cNvPr id="12" name="Picture 11" descr="logo.png">
            <a:extLst>
              <a:ext uri="{FF2B5EF4-FFF2-40B4-BE49-F238E27FC236}">
                <a16:creationId xmlns:a16="http://schemas.microsoft.com/office/drawing/2014/main" id="{E87705E5-CC1B-D15C-A7C1-CF5DED36503B}"/>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463040" y="534924"/>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08760" y="603504"/>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MULTIPLE FILES USING GLOB</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9</a:t>
            </a:r>
          </a:p>
        </p:txBody>
      </p:sp>
      <p:pic>
        <p:nvPicPr>
          <p:cNvPr id="6" name="Picture 5" descr="01_upload_glob.png"/>
          <p:cNvPicPr>
            <a:picLocks noChangeAspect="1"/>
          </p:cNvPicPr>
          <p:nvPr/>
        </p:nvPicPr>
        <p:blipFill>
          <a:blip r:embed="rId3"/>
          <a:stretch>
            <a:fillRect/>
          </a:stretch>
        </p:blipFill>
        <p:spPr>
          <a:xfrm>
            <a:off x="594360" y="1234440"/>
            <a:ext cx="5760720" cy="3429000"/>
          </a:xfrm>
          <a:prstGeom prst="rect">
            <a:avLst/>
          </a:prstGeom>
        </p:spPr>
      </p:pic>
      <p:sp>
        <p:nvSpPr>
          <p:cNvPr id="7" name="Rounded Rectangle 6"/>
          <p:cNvSpPr/>
          <p:nvPr/>
        </p:nvSpPr>
        <p:spPr>
          <a:xfrm>
            <a:off x="6629400" y="1234440"/>
            <a:ext cx="5029200" cy="342900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29400" y="1234440"/>
            <a:ext cx="64008" cy="342900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93992" y="1344168"/>
            <a:ext cx="4754880" cy="292608"/>
          </a:xfrm>
          <a:prstGeom prst="rect">
            <a:avLst/>
          </a:prstGeom>
          <a:noFill/>
        </p:spPr>
        <p:txBody>
          <a:bodyPr wrap="square" lIns="36576" tIns="36576" rIns="36576" bIns="36576" anchor="t">
            <a:spAutoFit/>
          </a:bodyPr>
          <a:lstStyle/>
          <a:p>
            <a:pPr algn="l"/>
            <a:r>
              <a:rPr sz="1400" b="1">
                <a:solidFill>
                  <a:srgbClr val="183769"/>
                </a:solidFill>
                <a:latin typeface="Aptos"/>
              </a:rPr>
              <a:t>BATCH EXECUTION</a:t>
            </a:r>
          </a:p>
        </p:txBody>
      </p:sp>
      <p:sp>
        <p:nvSpPr>
          <p:cNvPr id="10" name="TextBox 9"/>
          <p:cNvSpPr txBox="1"/>
          <p:nvPr/>
        </p:nvSpPr>
        <p:spPr>
          <a:xfrm>
            <a:off x="6793992" y="1709928"/>
            <a:ext cx="4754880" cy="2862072"/>
          </a:xfrm>
          <a:prstGeom prst="rect">
            <a:avLst/>
          </a:prstGeom>
          <a:noFill/>
        </p:spPr>
        <p:txBody>
          <a:bodyPr wrap="square" lIns="36576" tIns="36576" rIns="36576" bIns="36576" anchor="t">
            <a:spAutoFit/>
          </a:bodyPr>
          <a:lstStyle/>
          <a:p>
            <a:pPr algn="l"/>
            <a:r>
              <a:rPr sz="1500" b="0">
                <a:solidFill>
                  <a:srgbClr val="373737"/>
                </a:solidFill>
                <a:latin typeface="Aptos"/>
              </a:rPr>
              <a:t>The supplied run detected five files and processed them in one workflow. Several Superstore CSV copies were analyzed successfully, demonstrating that the same operations can be repeated without manually rewriting the analysis for each file.</a:t>
            </a:r>
          </a:p>
        </p:txBody>
      </p:sp>
      <p:sp>
        <p:nvSpPr>
          <p:cNvPr id="11" name="Rounded Rectangle 10"/>
          <p:cNvSpPr/>
          <p:nvPr/>
        </p:nvSpPr>
        <p:spPr>
          <a:xfrm>
            <a:off x="594360" y="4892040"/>
            <a:ext cx="11064240" cy="9601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360" y="4892040"/>
            <a:ext cx="64008" cy="960120"/>
          </a:xfrm>
          <a:prstGeom prst="rect">
            <a:avLst/>
          </a:prstGeom>
          <a:solidFill>
            <a:srgbClr val="B45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5001768"/>
            <a:ext cx="10789919" cy="292608"/>
          </a:xfrm>
          <a:prstGeom prst="rect">
            <a:avLst/>
          </a:prstGeom>
          <a:noFill/>
        </p:spPr>
        <p:txBody>
          <a:bodyPr wrap="square" lIns="36576" tIns="36576" rIns="36576" bIns="36576" anchor="t">
            <a:spAutoFit/>
          </a:bodyPr>
          <a:lstStyle/>
          <a:p>
            <a:pPr algn="l"/>
            <a:r>
              <a:rPr sz="1400" b="1">
                <a:solidFill>
                  <a:srgbClr val="183769"/>
                </a:solidFill>
                <a:latin typeface="Aptos"/>
              </a:rPr>
              <a:t>RUN NOTE</a:t>
            </a:r>
          </a:p>
        </p:txBody>
      </p:sp>
      <p:sp>
        <p:nvSpPr>
          <p:cNvPr id="14" name="TextBox 13"/>
          <p:cNvSpPr txBox="1"/>
          <p:nvPr/>
        </p:nvSpPr>
        <p:spPr>
          <a:xfrm>
            <a:off x="758952" y="5367527"/>
            <a:ext cx="10789919" cy="393192"/>
          </a:xfrm>
          <a:prstGeom prst="rect">
            <a:avLst/>
          </a:prstGeom>
          <a:noFill/>
        </p:spPr>
        <p:txBody>
          <a:bodyPr wrap="square" lIns="36576" tIns="36576" rIns="36576" bIns="36576" anchor="t">
            <a:spAutoFit/>
          </a:bodyPr>
          <a:lstStyle/>
          <a:p>
            <a:pPr algn="l"/>
            <a:r>
              <a:rPr sz="1300" b="0">
                <a:solidFill>
                  <a:srgbClr val="373737"/>
                </a:solidFill>
                <a:latin typeface="Aptos"/>
              </a:rPr>
              <a:t>The generated file_analysis_summary.csv was also present in the folder and was picked up by the glob pattern during this run.</a:t>
            </a:r>
          </a:p>
        </p:txBody>
      </p:sp>
      <p:pic>
        <p:nvPicPr>
          <p:cNvPr id="16" name="Picture 15" descr="logo.png">
            <a:extLst>
              <a:ext uri="{FF2B5EF4-FFF2-40B4-BE49-F238E27FC236}">
                <a16:creationId xmlns:a16="http://schemas.microsoft.com/office/drawing/2014/main" id="{0C91294B-4E1C-C2AB-DC32-9F0F020C77DF}"/>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539240" y="617220"/>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30680" y="676656"/>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GENERATED REPORT &amp; ENHANCEMENTS</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10</a:t>
            </a:r>
          </a:p>
        </p:txBody>
      </p:sp>
      <p:pic>
        <p:nvPicPr>
          <p:cNvPr id="6" name="Picture 5" descr="05_final_summary.png"/>
          <p:cNvPicPr>
            <a:picLocks noChangeAspect="1"/>
          </p:cNvPicPr>
          <p:nvPr/>
        </p:nvPicPr>
        <p:blipFill>
          <a:blip r:embed="rId3"/>
          <a:stretch>
            <a:fillRect/>
          </a:stretch>
        </p:blipFill>
        <p:spPr>
          <a:xfrm>
            <a:off x="640080" y="1234440"/>
            <a:ext cx="5486400" cy="3566160"/>
          </a:xfrm>
          <a:prstGeom prst="rect">
            <a:avLst/>
          </a:prstGeom>
        </p:spPr>
      </p:pic>
      <p:sp>
        <p:nvSpPr>
          <p:cNvPr id="7" name="Rounded Rectangle 6"/>
          <p:cNvSpPr/>
          <p:nvPr/>
        </p:nvSpPr>
        <p:spPr>
          <a:xfrm>
            <a:off x="6400800" y="1234440"/>
            <a:ext cx="5257800" cy="356616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0" y="1234440"/>
            <a:ext cx="64008" cy="356616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65392" y="1344168"/>
            <a:ext cx="4983480" cy="292608"/>
          </a:xfrm>
          <a:prstGeom prst="rect">
            <a:avLst/>
          </a:prstGeom>
          <a:noFill/>
        </p:spPr>
        <p:txBody>
          <a:bodyPr wrap="square" lIns="36576" tIns="36576" rIns="36576" bIns="36576" anchor="t">
            <a:spAutoFit/>
          </a:bodyPr>
          <a:lstStyle/>
          <a:p>
            <a:pPr algn="l"/>
            <a:r>
              <a:rPr sz="1400" b="1">
                <a:solidFill>
                  <a:srgbClr val="183769"/>
                </a:solidFill>
                <a:latin typeface="Aptos"/>
              </a:rPr>
              <a:t>GENERATED REPORT</a:t>
            </a:r>
          </a:p>
        </p:txBody>
      </p:sp>
      <p:sp>
        <p:nvSpPr>
          <p:cNvPr id="10" name="TextBox 9"/>
          <p:cNvSpPr txBox="1"/>
          <p:nvPr/>
        </p:nvSpPr>
        <p:spPr>
          <a:xfrm>
            <a:off x="6565392" y="1709928"/>
            <a:ext cx="4983480" cy="2999232"/>
          </a:xfrm>
          <a:prstGeom prst="rect">
            <a:avLst/>
          </a:prstGeom>
          <a:noFill/>
        </p:spPr>
        <p:txBody>
          <a:bodyPr wrap="square" lIns="36576" tIns="36576" rIns="36576" bIns="36576" anchor="t">
            <a:spAutoFit/>
          </a:bodyPr>
          <a:lstStyle/>
          <a:p>
            <a:pPr algn="l"/>
            <a:r>
              <a:rPr sz="1500" b="0">
                <a:solidFill>
                  <a:srgbClr val="373737"/>
                </a:solidFill>
                <a:latin typeface="Aptos"/>
              </a:rPr>
              <a:t>file_analysis_summary.csv contains file name, file type, row count, column count and word information for processed files. The system also reports missing values and duplicate rows during execution.</a:t>
            </a:r>
          </a:p>
        </p:txBody>
      </p:sp>
      <p:sp>
        <p:nvSpPr>
          <p:cNvPr id="11" name="Rounded Rectangle 10"/>
          <p:cNvSpPr/>
          <p:nvPr/>
        </p:nvSpPr>
        <p:spPr>
          <a:xfrm>
            <a:off x="640080" y="5074920"/>
            <a:ext cx="11018520" cy="73152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5074920"/>
            <a:ext cx="64008" cy="73152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1" y="5184648"/>
            <a:ext cx="10744200" cy="292608"/>
          </a:xfrm>
          <a:prstGeom prst="rect">
            <a:avLst/>
          </a:prstGeom>
          <a:noFill/>
        </p:spPr>
        <p:txBody>
          <a:bodyPr wrap="square" lIns="36576" tIns="36576" rIns="36576" bIns="36576" anchor="t">
            <a:spAutoFit/>
          </a:bodyPr>
          <a:lstStyle/>
          <a:p>
            <a:pPr algn="l"/>
            <a:r>
              <a:rPr sz="1400" b="1">
                <a:solidFill>
                  <a:srgbClr val="183769"/>
                </a:solidFill>
                <a:latin typeface="Aptos"/>
              </a:rPr>
              <a:t>ENHANCEMENT SCOPE</a:t>
            </a:r>
          </a:p>
        </p:txBody>
      </p:sp>
      <p:sp>
        <p:nvSpPr>
          <p:cNvPr id="14" name="TextBox 13"/>
          <p:cNvSpPr txBox="1"/>
          <p:nvPr/>
        </p:nvSpPr>
        <p:spPr>
          <a:xfrm>
            <a:off x="804671" y="5550408"/>
            <a:ext cx="10744200" cy="164592"/>
          </a:xfrm>
          <a:prstGeom prst="rect">
            <a:avLst/>
          </a:prstGeom>
          <a:noFill/>
        </p:spPr>
        <p:txBody>
          <a:bodyPr wrap="square" lIns="36576" tIns="36576" rIns="36576" bIns="36576" anchor="t">
            <a:spAutoFit/>
          </a:bodyPr>
          <a:lstStyle/>
          <a:p>
            <a:pPr algn="l"/>
            <a:r>
              <a:rPr sz="1300" b="0">
                <a:solidFill>
                  <a:srgbClr val="373737"/>
                </a:solidFill>
                <a:latin typeface="Aptos"/>
              </a:rPr>
              <a:t>Automation, batch processing, broader format support, richer charts and additional analysis functions can extend the reusable workflow.</a:t>
            </a:r>
          </a:p>
        </p:txBody>
      </p:sp>
      <p:pic>
        <p:nvPicPr>
          <p:cNvPr id="16" name="Picture 15" descr="logo.png">
            <a:extLst>
              <a:ext uri="{FF2B5EF4-FFF2-40B4-BE49-F238E27FC236}">
                <a16:creationId xmlns:a16="http://schemas.microsoft.com/office/drawing/2014/main" id="{D9A8339E-B530-6F97-1920-34547A94A4E7}"/>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417320" y="562356"/>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24000" y="621792"/>
            <a:ext cx="9144000" cy="384048"/>
          </a:xfrm>
          <a:prstGeom prst="rect">
            <a:avLst/>
          </a:prstGeom>
          <a:noFill/>
        </p:spPr>
        <p:txBody>
          <a:bodyPr wrap="square" lIns="36576" tIns="36576" rIns="36576" bIns="36576" anchor="ctr">
            <a:spAutoFit/>
          </a:bodyPr>
          <a:lstStyle/>
          <a:p>
            <a:pPr algn="ctr"/>
            <a:r>
              <a:rPr sz="2000" b="1" dirty="0">
                <a:solidFill>
                  <a:srgbClr val="FFFFFF"/>
                </a:solidFill>
                <a:latin typeface="Aptos"/>
              </a:rPr>
              <a:t>EXECUTION RESULTS</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11</a:t>
            </a:r>
          </a:p>
        </p:txBody>
      </p:sp>
      <p:pic>
        <p:nvPicPr>
          <p:cNvPr id="6" name="Picture 5" descr="05_final_summary.png"/>
          <p:cNvPicPr>
            <a:picLocks noChangeAspect="1"/>
          </p:cNvPicPr>
          <p:nvPr/>
        </p:nvPicPr>
        <p:blipFill>
          <a:blip r:embed="rId3"/>
          <a:stretch>
            <a:fillRect/>
          </a:stretch>
        </p:blipFill>
        <p:spPr>
          <a:xfrm>
            <a:off x="640080" y="1234440"/>
            <a:ext cx="6400800" cy="4023360"/>
          </a:xfrm>
          <a:prstGeom prst="rect">
            <a:avLst/>
          </a:prstGeom>
        </p:spPr>
      </p:pic>
      <p:sp>
        <p:nvSpPr>
          <p:cNvPr id="7" name="Rounded Rectangle 6"/>
          <p:cNvSpPr/>
          <p:nvPr/>
        </p:nvSpPr>
        <p:spPr>
          <a:xfrm>
            <a:off x="7269480" y="1234440"/>
            <a:ext cx="4434840" cy="402336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269480" y="1234440"/>
            <a:ext cx="64008" cy="402336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43800" y="1362456"/>
            <a:ext cx="4160520" cy="292608"/>
          </a:xfrm>
          <a:prstGeom prst="rect">
            <a:avLst/>
          </a:prstGeom>
          <a:noFill/>
        </p:spPr>
        <p:txBody>
          <a:bodyPr wrap="square" lIns="36576" tIns="36576" rIns="36576" bIns="36576" anchor="t">
            <a:spAutoFit/>
          </a:bodyPr>
          <a:lstStyle/>
          <a:p>
            <a:pPr algn="l"/>
            <a:r>
              <a:rPr sz="1400" b="1" dirty="0">
                <a:solidFill>
                  <a:srgbClr val="183769"/>
                </a:solidFill>
                <a:latin typeface="Aptos"/>
              </a:rPr>
              <a:t>IMPLEMENTATION CHECKLIST</a:t>
            </a:r>
          </a:p>
        </p:txBody>
      </p:sp>
      <p:sp>
        <p:nvSpPr>
          <p:cNvPr id="10" name="TextBox 9"/>
          <p:cNvSpPr txBox="1"/>
          <p:nvPr/>
        </p:nvSpPr>
        <p:spPr>
          <a:xfrm>
            <a:off x="7434072" y="1709928"/>
            <a:ext cx="4160520" cy="3456432"/>
          </a:xfrm>
          <a:prstGeom prst="rect">
            <a:avLst/>
          </a:prstGeom>
          <a:noFill/>
        </p:spPr>
        <p:txBody>
          <a:bodyPr wrap="square" lIns="36576" tIns="36576" rIns="36576" bIns="36576" anchor="t">
            <a:spAutoFit/>
          </a:bodyPr>
          <a:lstStyle/>
          <a:p>
            <a:pPr algn="l"/>
            <a:r>
              <a:rPr sz="1400" b="0">
                <a:solidFill>
                  <a:srgbClr val="373737"/>
                </a:solidFill>
                <a:latin typeface="Aptos"/>
              </a:rPr>
              <a:t>✓ Text file processing</a:t>
            </a:r>
            <a:br/>
            <a:r>
              <a:t>✓ CSV file processing</a:t>
            </a:r>
            <a:br/>
            <a:r>
              <a:t>✓ JSON file processing</a:t>
            </a:r>
            <a:br/>
            <a:r>
              <a:t>✓ Excel file processing</a:t>
            </a:r>
            <a:br/>
            <a:r>
              <a:t>✓ Word count</a:t>
            </a:r>
            <a:br/>
            <a:r>
              <a:t>✓ Data filtering</a:t>
            </a:r>
            <a:br/>
            <a:r>
              <a:t>✓ Statistical analysis</a:t>
            </a:r>
            <a:br/>
            <a:r>
              <a:t>✓ Multiple files using glob</a:t>
            </a:r>
            <a:br/>
            <a:r>
              <a:t>✓ Data visualization</a:t>
            </a:r>
          </a:p>
        </p:txBody>
      </p:sp>
      <p:pic>
        <p:nvPicPr>
          <p:cNvPr id="12" name="Picture 11" descr="logo.png">
            <a:extLst>
              <a:ext uri="{FF2B5EF4-FFF2-40B4-BE49-F238E27FC236}">
                <a16:creationId xmlns:a16="http://schemas.microsoft.com/office/drawing/2014/main" id="{C9831CC8-31B0-CB37-BDB8-E37C1176D5B2}"/>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png"/>
          <p:cNvPicPr>
            <a:picLocks noChangeAspect="1"/>
          </p:cNvPicPr>
          <p:nvPr/>
        </p:nvPicPr>
        <p:blipFill>
          <a:blip r:embed="rId2"/>
          <a:stretch>
            <a:fillRect/>
          </a:stretch>
        </p:blipFill>
        <p:spPr>
          <a:xfrm>
            <a:off x="256032" y="118872"/>
            <a:ext cx="1417320" cy="191799"/>
          </a:xfrm>
          <a:prstGeom prst="rect">
            <a:avLst/>
          </a:prstGeom>
        </p:spPr>
      </p:pic>
      <p:sp>
        <p:nvSpPr>
          <p:cNvPr id="3" name="Rounded Rectangle 2"/>
          <p:cNvSpPr/>
          <p:nvPr/>
        </p:nvSpPr>
        <p:spPr>
          <a:xfrm>
            <a:off x="1508760" y="598707"/>
            <a:ext cx="9326880" cy="502920"/>
          </a:xfrm>
          <a:prstGeom prst="round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00200" y="658143"/>
            <a:ext cx="9144000" cy="384048"/>
          </a:xfrm>
          <a:prstGeom prst="rect">
            <a:avLst/>
          </a:prstGeom>
          <a:noFill/>
        </p:spPr>
        <p:txBody>
          <a:bodyPr wrap="square" lIns="36576" tIns="36576" rIns="36576" bIns="36576" anchor="ctr">
            <a:spAutoFit/>
          </a:bodyPr>
          <a:lstStyle/>
          <a:p>
            <a:pPr algn="ctr"/>
            <a:r>
              <a:rPr sz="2000" b="1">
                <a:solidFill>
                  <a:srgbClr val="FFFFFF"/>
                </a:solidFill>
                <a:latin typeface="Aptos"/>
              </a:rPr>
              <a:t>CONCLUSION</a:t>
            </a:r>
          </a:p>
        </p:txBody>
      </p:sp>
      <p:sp>
        <p:nvSpPr>
          <p:cNvPr id="5" name="TextBox 4"/>
          <p:cNvSpPr txBox="1"/>
          <p:nvPr/>
        </p:nvSpPr>
        <p:spPr>
          <a:xfrm>
            <a:off x="11567160" y="6473952"/>
            <a:ext cx="320040" cy="164592"/>
          </a:xfrm>
          <a:prstGeom prst="rect">
            <a:avLst/>
          </a:prstGeom>
          <a:noFill/>
        </p:spPr>
        <p:txBody>
          <a:bodyPr wrap="square" lIns="36576" tIns="36576" rIns="36576" bIns="36576" anchor="t">
            <a:spAutoFit/>
          </a:bodyPr>
          <a:lstStyle/>
          <a:p>
            <a:pPr algn="r"/>
            <a:r>
              <a:rPr sz="900" b="0">
                <a:solidFill>
                  <a:srgbClr val="6E7882"/>
                </a:solidFill>
                <a:latin typeface="Aptos"/>
              </a:rPr>
              <a:t>12</a:t>
            </a:r>
          </a:p>
        </p:txBody>
      </p:sp>
      <p:sp>
        <p:nvSpPr>
          <p:cNvPr id="6" name="TextBox 5"/>
          <p:cNvSpPr txBox="1"/>
          <p:nvPr/>
        </p:nvSpPr>
        <p:spPr>
          <a:xfrm>
            <a:off x="868680" y="1234440"/>
            <a:ext cx="10469880" cy="594360"/>
          </a:xfrm>
          <a:prstGeom prst="rect">
            <a:avLst/>
          </a:prstGeom>
          <a:noFill/>
        </p:spPr>
        <p:txBody>
          <a:bodyPr wrap="square" lIns="36576" tIns="36576" rIns="36576" bIns="36576" anchor="t">
            <a:spAutoFit/>
          </a:bodyPr>
          <a:lstStyle/>
          <a:p>
            <a:pPr algn="ctr"/>
            <a:r>
              <a:rPr sz="2100" b="1">
                <a:solidFill>
                  <a:srgbClr val="183769"/>
                </a:solidFill>
                <a:latin typeface="Aptos"/>
              </a:rPr>
              <a:t>The completed demonstration covers the full analysis workflow.</a:t>
            </a:r>
          </a:p>
        </p:txBody>
      </p:sp>
      <p:sp>
        <p:nvSpPr>
          <p:cNvPr id="7" name="Rounded Rectangle 6"/>
          <p:cNvSpPr/>
          <p:nvPr/>
        </p:nvSpPr>
        <p:spPr>
          <a:xfrm>
            <a:off x="914400" y="2057400"/>
            <a:ext cx="4892040" cy="292608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2057400"/>
            <a:ext cx="64008" cy="2926080"/>
          </a:xfrm>
          <a:prstGeom prst="rect">
            <a:avLst/>
          </a:prstGeom>
          <a:solidFill>
            <a:srgbClr val="FF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2167128"/>
            <a:ext cx="4617720" cy="292608"/>
          </a:xfrm>
          <a:prstGeom prst="rect">
            <a:avLst/>
          </a:prstGeom>
          <a:noFill/>
        </p:spPr>
        <p:txBody>
          <a:bodyPr wrap="square" lIns="36576" tIns="36576" rIns="36576" bIns="36576" anchor="t">
            <a:spAutoFit/>
          </a:bodyPr>
          <a:lstStyle/>
          <a:p>
            <a:pPr algn="l"/>
            <a:r>
              <a:rPr sz="1400" b="1">
                <a:solidFill>
                  <a:srgbClr val="183769"/>
                </a:solidFill>
                <a:latin typeface="Aptos"/>
              </a:rPr>
              <a:t>KEY OUTCOMES</a:t>
            </a:r>
          </a:p>
        </p:txBody>
      </p:sp>
      <p:sp>
        <p:nvSpPr>
          <p:cNvPr id="10" name="TextBox 9"/>
          <p:cNvSpPr txBox="1"/>
          <p:nvPr/>
        </p:nvSpPr>
        <p:spPr>
          <a:xfrm>
            <a:off x="1078992" y="2532888"/>
            <a:ext cx="4617720" cy="2359152"/>
          </a:xfrm>
          <a:prstGeom prst="rect">
            <a:avLst/>
          </a:prstGeom>
          <a:noFill/>
        </p:spPr>
        <p:txBody>
          <a:bodyPr wrap="square" lIns="36576" tIns="36576" rIns="36576" bIns="36576" anchor="t">
            <a:spAutoFit/>
          </a:bodyPr>
          <a:lstStyle/>
          <a:p>
            <a:pPr algn="l"/>
            <a:r>
              <a:rPr sz="1600" b="0">
                <a:solidFill>
                  <a:srgbClr val="373737"/>
                </a:solidFill>
                <a:latin typeface="Aptos"/>
              </a:rPr>
              <a:t>Upload and format detection</a:t>
            </a:r>
            <a:br/>
            <a:r>
              <a:t>Batch processing</a:t>
            </a:r>
            <a:br/>
            <a:r>
              <a:t>Word count and filtering</a:t>
            </a:r>
            <a:br/>
            <a:r>
              <a:t>Statistical analysis</a:t>
            </a:r>
            <a:br/>
            <a:r>
              <a:t>Visualization and reporting</a:t>
            </a:r>
          </a:p>
        </p:txBody>
      </p:sp>
      <p:sp>
        <p:nvSpPr>
          <p:cNvPr id="11" name="Rounded Rectangle 10"/>
          <p:cNvSpPr/>
          <p:nvPr/>
        </p:nvSpPr>
        <p:spPr>
          <a:xfrm>
            <a:off x="6355080" y="2057400"/>
            <a:ext cx="4892040" cy="2926080"/>
          </a:xfrm>
          <a:prstGeom prst="roundRect">
            <a:avLst/>
          </a:prstGeom>
          <a:solidFill>
            <a:srgbClr val="FAFBFC"/>
          </a:solidFill>
          <a:ln>
            <a:solidFill>
              <a:srgbClr val="DC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55080" y="2057400"/>
            <a:ext cx="64008" cy="2926080"/>
          </a:xfrm>
          <a:prstGeom prst="rect">
            <a:avLst/>
          </a:prstGeom>
          <a:solidFill>
            <a:srgbClr val="197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9672" y="2167128"/>
            <a:ext cx="4617720" cy="292608"/>
          </a:xfrm>
          <a:prstGeom prst="rect">
            <a:avLst/>
          </a:prstGeom>
          <a:noFill/>
        </p:spPr>
        <p:txBody>
          <a:bodyPr wrap="square" lIns="36576" tIns="36576" rIns="36576" bIns="36576" anchor="t">
            <a:spAutoFit/>
          </a:bodyPr>
          <a:lstStyle/>
          <a:p>
            <a:pPr algn="l"/>
            <a:r>
              <a:rPr sz="1400" b="1">
                <a:solidFill>
                  <a:srgbClr val="183769"/>
                </a:solidFill>
                <a:latin typeface="Aptos"/>
              </a:rPr>
              <a:t>DEMONSTRATION</a:t>
            </a:r>
          </a:p>
        </p:txBody>
      </p:sp>
      <p:sp>
        <p:nvSpPr>
          <p:cNvPr id="14" name="TextBox 13"/>
          <p:cNvSpPr txBox="1"/>
          <p:nvPr/>
        </p:nvSpPr>
        <p:spPr>
          <a:xfrm>
            <a:off x="6519672" y="2532888"/>
            <a:ext cx="4617720" cy="2359152"/>
          </a:xfrm>
          <a:prstGeom prst="rect">
            <a:avLst/>
          </a:prstGeom>
          <a:noFill/>
        </p:spPr>
        <p:txBody>
          <a:bodyPr wrap="square" lIns="36576" tIns="36576" rIns="36576" bIns="36576" anchor="t">
            <a:spAutoFit/>
          </a:bodyPr>
          <a:lstStyle/>
          <a:p>
            <a:pPr algn="l"/>
            <a:r>
              <a:rPr sz="1600" b="0">
                <a:solidFill>
                  <a:srgbClr val="373737"/>
                </a:solidFill>
                <a:latin typeface="Aptos"/>
              </a:rPr>
              <a:t>Superstore execution: 9,994 rows and 21 columns</a:t>
            </a:r>
            <a:br/>
            <a:br/>
            <a:r>
              <a:t>All nine required capabilities are implemented in the demonstrated system.</a:t>
            </a:r>
          </a:p>
        </p:txBody>
      </p:sp>
      <p:sp>
        <p:nvSpPr>
          <p:cNvPr id="15" name="TextBox 14"/>
          <p:cNvSpPr txBox="1"/>
          <p:nvPr/>
        </p:nvSpPr>
        <p:spPr>
          <a:xfrm>
            <a:off x="3840480" y="5715000"/>
            <a:ext cx="4526280" cy="411480"/>
          </a:xfrm>
          <a:prstGeom prst="rect">
            <a:avLst/>
          </a:prstGeom>
          <a:noFill/>
        </p:spPr>
        <p:txBody>
          <a:bodyPr wrap="square" lIns="36576" tIns="36576" rIns="36576" bIns="36576" anchor="t">
            <a:spAutoFit/>
          </a:bodyPr>
          <a:lstStyle/>
          <a:p>
            <a:pPr algn="ctr"/>
            <a:r>
              <a:rPr sz="2000" b="1">
                <a:solidFill>
                  <a:srgbClr val="FF6900"/>
                </a:solidFill>
                <a:latin typeface="Aptos"/>
              </a:rPr>
              <a:t>THANK YOU</a:t>
            </a:r>
          </a:p>
        </p:txBody>
      </p:sp>
      <p:pic>
        <p:nvPicPr>
          <p:cNvPr id="17" name="Picture 16" descr="logo.png">
            <a:extLst>
              <a:ext uri="{FF2B5EF4-FFF2-40B4-BE49-F238E27FC236}">
                <a16:creationId xmlns:a16="http://schemas.microsoft.com/office/drawing/2014/main" id="{8C989F9E-A41B-AB6A-DB70-04A97618A5FC}"/>
              </a:ext>
            </a:extLst>
          </p:cNvPr>
          <p:cNvPicPr>
            <a:picLocks noChangeAspect="1"/>
          </p:cNvPicPr>
          <p:nvPr/>
        </p:nvPicPr>
        <p:blipFill>
          <a:blip r:embed="rId2"/>
          <a:stretch>
            <a:fillRect/>
          </a:stretch>
        </p:blipFill>
        <p:spPr>
          <a:xfrm>
            <a:off x="256031" y="118872"/>
            <a:ext cx="3151019" cy="4264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853</Words>
  <Application>Microsoft Office PowerPoint</Application>
  <PresentationFormat>Widescreen</PresentationFormat>
  <Paragraphs>116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Jaswanth Katragadda</cp:lastModifiedBy>
  <cp:revision>4</cp:revision>
  <dcterms:created xsi:type="dcterms:W3CDTF">2013-01-27T09:14:16Z</dcterms:created>
  <dcterms:modified xsi:type="dcterms:W3CDTF">2026-10-01T05:42:26Z</dcterms:modified>
  <cp:category/>
</cp:coreProperties>
</file>