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6"/>
    <p:sldId id="257" r:id="rId7"/>
    <p:sldId id="258" r:id="rId8"/>
    <p:sldId id="259" r:id="rId9"/>
    <p:sldId id="260" r:id="rId10"/>
    <p:sldId id="261" r:id="rId11"/>
    <p:sldId id="262" r:id="rId5"/>
    <p:sldId id="263" r:id="rId4"/>
    <p:sldId id="264" r:id="rId3"/>
    <p:sldId id="265" r:id="rId2"/>
    <p:sldId id="266" r:id="rId16"/>
    <p:sldId id="267" r:id="rId17"/>
    <p:sldId id="268" r:id="rId18"/>
    <p:sldId id="269" r:id="rId19"/>
    <p:sldId id="270" r:id="rId20"/>
    <p:sldId id="271" r:id="rId21"/>
    <p:sldId id="272" r:id="rId22"/>
    <p:sldId id="273" r:id="rId23"/>
    <p:sldId id="274"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6" d="100"/>
          <a:sy n="76" d="100"/>
        </p:scale>
        <p:origin x="272"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0.xml"/><Relationship Id="rId3" Type="http://schemas.openxmlformats.org/officeDocument/2006/relationships/slide" Target="slides/slide9.xml"/><Relationship Id="rId4" Type="http://schemas.openxmlformats.org/officeDocument/2006/relationships/slide" Target="slides/slide8.xml"/><Relationship Id="rId5" Type="http://schemas.openxmlformats.org/officeDocument/2006/relationships/slide" Target="slides/slide7.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pic>
        <p:nvPicPr>
          <p:cNvPr id="2" name="Picture 1" descr="image.png"/>
          <p:cNvPicPr>
            <a:picLocks noChangeAspect="1"/>
          </p:cNvPicPr>
          <p:nvPr/>
        </p:nvPicPr>
        <p:blipFill>
          <a:blip r:embed="rId2"/>
          <a:srcRect/>
          <a:stretch>
            <a:fillRect/>
          </a:stretch>
        </p:blipFill>
        <p:spPr>
          <a:xfrm>
            <a:off x="320040" y="164592"/>
            <a:ext cx="1417320" cy="191799"/>
          </a:xfrm>
          <a:prstGeom prst="rect">
            <a:avLst/>
          </a:prstGeom>
        </p:spPr>
      </p:pic>
      <p:grpSpPr/>
      <p:sp>
        <p:nvSpPr>
          <p:cNvPr id="3" name="TextBox 2"/>
          <p:cNvSpPr txBox="1"/>
          <p:nvPr/>
        </p:nvSpPr>
        <p:spPr>
          <a:xfrm>
            <a:off x="2103120" y="1234440"/>
            <a:ext cx="7680960" cy="365760"/>
          </a:xfrm>
          <a:prstGeom prst="rect">
            <a:avLst/>
          </a:prstGeom>
          <a:noFill/>
        </p:spPr>
        <p:txBody>
          <a:bodyPr wrap="square">
            <a:spAutoFit/>
          </a:bodyPr>
          <a:lstStyle/>
          <a:p>
            <a:r>
              <a:t>Cornerstone Project Based Learning – Final Review</a:t>
            </a:r>
          </a:p>
        </p:txBody>
      </p:sp>
      <p:sp>
        <p:nvSpPr>
          <p:cNvPr id="4" name="TextBox 3"/>
          <p:cNvSpPr txBox="1"/>
          <p:nvPr/>
        </p:nvSpPr>
        <p:spPr>
          <a:xfrm>
            <a:off x="1143000" y="1783080"/>
            <a:ext cx="9326880" cy="640080"/>
          </a:xfrm>
          <a:prstGeom prst="rect">
            <a:avLst/>
          </a:prstGeom>
          <a:noFill/>
        </p:spPr>
        <p:txBody>
          <a:bodyPr wrap="square">
            <a:spAutoFit/>
          </a:bodyPr>
          <a:lstStyle/>
          <a:p>
            <a:pPr algn="ctr">
              <a:defRPr sz="2900" b="1">
                <a:solidFill>
                  <a:srgbClr val="9B3730"/>
                </a:solidFill>
                <a:latin typeface="Aptos"/>
              </a:defRPr>
            </a:pPr>
            <a:r>
              <a:t>FILE DATA ANALYZER SYSTEM</a:t>
            </a:r>
          </a:p>
        </p:txBody>
      </p:sp>
      <p:sp>
        <p:nvSpPr>
          <p:cNvPr id="5" name="TextBox 4"/>
          <p:cNvSpPr txBox="1"/>
          <p:nvPr/>
        </p:nvSpPr>
        <p:spPr>
          <a:xfrm>
            <a:off x="4114800" y="2514600"/>
            <a:ext cx="3657600" cy="411480"/>
          </a:xfrm>
          <a:prstGeom prst="rect">
            <a:avLst/>
          </a:prstGeom>
          <a:noFill/>
        </p:spPr>
        <p:txBody>
          <a:bodyPr wrap="square">
            <a:spAutoFit/>
          </a:bodyPr>
          <a:lstStyle/>
          <a:p>
            <a:pPr algn="ctr">
              <a:defRPr sz="2000" b="1">
                <a:solidFill>
                  <a:srgbClr val="143169"/>
                </a:solidFill>
                <a:latin typeface="Aptos"/>
              </a:defRPr>
            </a:pPr>
            <a:r>
              <a:t>Presented by</a:t>
            </a:r>
          </a:p>
        </p:txBody>
      </p:sp>
      <p:sp>
        <p:nvSpPr>
          <p:cNvPr id="6" name="TextBox 5"/>
          <p:cNvSpPr txBox="1"/>
          <p:nvPr/>
        </p:nvSpPr>
        <p:spPr>
          <a:xfrm>
            <a:off x="2834640" y="2971800"/>
            <a:ext cx="3929217" cy="1446550"/>
          </a:xfrm>
          <a:prstGeom prst="rect">
            <a:avLst/>
          </a:prstGeom>
          <a:noFill/>
        </p:spPr>
        <p:txBody>
          <a:bodyPr wrap="none">
            <a:spAutoFit/>
          </a:bodyPr>
          <a:lstStyle/>
          <a:p>
            <a:pPr>
              <a:spcAft>
                <a:spcPts val="800"/>
              </a:spcAft>
              <a:defRPr sz="1700">
                <a:solidFill>
                  <a:srgbClr val="1E5E6F"/>
                </a:solidFill>
                <a:latin typeface="Aptos"/>
              </a:defRPr>
            </a:pPr>
            <a:r>
              <a:rPr dirty="0"/>
              <a:t>1. </a:t>
            </a:r>
            <a:r>
              <a:rPr lang="en-IN" dirty="0"/>
              <a:t>Ram Charan </a:t>
            </a:r>
            <a:r>
              <a:rPr lang="en-IN" dirty="0" err="1"/>
              <a:t>Kancham</a:t>
            </a:r>
            <a:r>
              <a:rPr lang="en-IN" dirty="0"/>
              <a:t> – 25B11CS349</a:t>
            </a:r>
            <a:endParaRPr dirty="0"/>
          </a:p>
          <a:p>
            <a:pPr>
              <a:spcAft>
                <a:spcPts val="800"/>
              </a:spcAft>
              <a:defRPr sz="1700">
                <a:solidFill>
                  <a:srgbClr val="1E5E6F"/>
                </a:solidFill>
                <a:latin typeface="Aptos"/>
              </a:defRPr>
            </a:pPr>
            <a:r>
              <a:rPr dirty="0"/>
              <a:t>2. </a:t>
            </a:r>
            <a:r>
              <a:rPr lang="en-IN" dirty="0"/>
              <a:t>Nikhil </a:t>
            </a:r>
            <a:r>
              <a:rPr lang="en-IN" dirty="0" err="1"/>
              <a:t>Bantupalli</a:t>
            </a:r>
            <a:r>
              <a:rPr lang="en-IN" dirty="0"/>
              <a:t>  - 25B11CS676</a:t>
            </a:r>
            <a:endParaRPr dirty="0"/>
          </a:p>
          <a:p>
            <a:pPr>
              <a:spcAft>
                <a:spcPts val="800"/>
              </a:spcAft>
              <a:defRPr sz="1700">
                <a:solidFill>
                  <a:srgbClr val="1E5E6F"/>
                </a:solidFill>
                <a:latin typeface="Aptos"/>
              </a:defRPr>
            </a:pPr>
            <a:r>
              <a:rPr dirty="0"/>
              <a:t>3. </a:t>
            </a:r>
            <a:r>
              <a:rPr lang="en-IN" dirty="0"/>
              <a:t>Pranav Aditya V   - 25B11CSA00</a:t>
            </a:r>
            <a:endParaRPr dirty="0"/>
          </a:p>
          <a:p>
            <a:pPr>
              <a:spcAft>
                <a:spcPts val="800"/>
              </a:spcAft>
              <a:defRPr sz="1700">
                <a:solidFill>
                  <a:srgbClr val="1E5E6F"/>
                </a:solidFill>
                <a:latin typeface="Aptos"/>
              </a:defRPr>
            </a:pPr>
            <a:r>
              <a:rPr dirty="0"/>
              <a:t>4. </a:t>
            </a:r>
            <a:r>
              <a:rPr lang="en-IN" dirty="0"/>
              <a:t>Jaswanth Katragadda – 25B11CS349</a:t>
            </a:r>
            <a:endParaRPr dirty="0"/>
          </a:p>
        </p:txBody>
      </p:sp>
      <p:sp>
        <p:nvSpPr>
          <p:cNvPr id="7" name="TextBox 6"/>
          <p:cNvSpPr txBox="1"/>
          <p:nvPr/>
        </p:nvSpPr>
        <p:spPr>
          <a:xfrm>
            <a:off x="3657600" y="4892040"/>
            <a:ext cx="4846320" cy="292388"/>
          </a:xfrm>
          <a:prstGeom prst="rect">
            <a:avLst/>
          </a:prstGeom>
          <a:noFill/>
        </p:spPr>
        <p:txBody>
          <a:bodyPr wrap="square">
            <a:spAutoFit/>
          </a:bodyPr>
          <a:lstStyle/>
          <a:p>
            <a:pPr algn="ctr">
              <a:defRPr sz="1300" b="1">
                <a:solidFill>
                  <a:srgbClr val="5A5A5A"/>
                </a:solidFill>
                <a:latin typeface="Aptos"/>
              </a:defRPr>
            </a:pPr>
            <a:r>
              <a:rPr dirty="0"/>
              <a:t>II Year – 3rd Semester   |   Batch </a:t>
            </a:r>
            <a:r>
              <a:rPr lang="en-IN" dirty="0"/>
              <a:t>11</a:t>
            </a:r>
            <a:endParaRPr dirty="0"/>
          </a:p>
        </p:txBody>
      </p:sp>
      <p:sp>
        <p:nvSpPr>
          <p:cNvPr id="8" name="TextBox 7"/>
          <p:cNvSpPr txBox="1"/>
          <p:nvPr/>
        </p:nvSpPr>
        <p:spPr>
          <a:xfrm>
            <a:off x="3337560" y="5257800"/>
            <a:ext cx="5486400" cy="320040"/>
          </a:xfrm>
          <a:prstGeom prst="rect">
            <a:avLst/>
          </a:prstGeom>
          <a:noFill/>
        </p:spPr>
        <p:txBody>
          <a:bodyPr wrap="square">
            <a:spAutoFit/>
          </a:bodyPr>
          <a:lstStyle/>
          <a:p>
            <a:pPr algn="ctr">
              <a:defRPr sz="1300" b="1">
                <a:solidFill>
                  <a:srgbClr val="5A5A5A"/>
                </a:solidFill>
                <a:latin typeface="Aptos"/>
              </a:defRPr>
            </a:pPr>
            <a:r>
              <a:t>Department of Computer Science and Engineering</a:t>
            </a:r>
          </a:p>
        </p:txBody>
      </p:sp>
      <p:sp>
        <p:nvSpPr>
          <p:cNvPr id="9" name="TextBox 8"/>
          <p:cNvSpPr txBox="1"/>
          <p:nvPr/>
        </p:nvSpPr>
        <p:spPr>
          <a:xfrm>
            <a:off x="11064240" y="6172200"/>
            <a:ext cx="411480" cy="274320"/>
          </a:xfrm>
          <a:prstGeom prst="rect">
            <a:avLst/>
          </a:prstGeom>
          <a:noFill/>
        </p:spPr>
        <p:txBody>
          <a:bodyPr wrap="none">
            <a:spAutoFit/>
          </a:bodyPr>
          <a:lstStyle/>
          <a:p>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pic>
        <p:nvPicPr>
          <p:cNvPr id="2" name="Picture 1" descr="image.png"/>
          <p:cNvPicPr>
            <a:picLocks noChangeAspect="1"/>
          </p:cNvPicPr>
          <p:nvPr/>
        </p:nvPicPr>
        <p:blipFill>
          <a:blip r:embed="rId2"/>
          <a:srcRect/>
          <a:stretch>
            <a:fillRect/>
          </a:stretch>
        </p:blipFill>
        <p:spPr>
          <a:xfrm>
            <a:off x="320040" y="164592"/>
            <a:ext cx="1417320" cy="191799"/>
          </a:xfrm>
          <a:prstGeom prst="rect">
            <a:avLst/>
          </a:prstGeom>
        </p:spPr>
      </p:pic>
      <p:grpSpPr/>
      <p:sp>
        <p:nvSpPr>
          <p:cNvPr id="3" name="Rounded Rectangle 2"/>
          <p:cNvSpPr/>
          <p:nvPr/>
        </p:nvSpPr>
        <p:spPr>
          <a:xfrm>
            <a:off x="2423160" y="438912"/>
            <a:ext cx="6263640" cy="530352"/>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2487168" y="557784"/>
            <a:ext cx="6144768" cy="475488"/>
          </a:xfrm>
          <a:prstGeom prst="roundRect">
            <a:avLst/>
          </a:prstGeom>
          <a:solidFill>
            <a:srgbClr val="46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2423160" y="438912"/>
            <a:ext cx="6263640" cy="530352"/>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514600" y="530352"/>
            <a:ext cx="6080760" cy="347472"/>
          </a:xfrm>
          <a:prstGeom prst="rect">
            <a:avLst/>
          </a:prstGeom>
          <a:noFill/>
        </p:spPr>
        <p:txBody>
          <a:bodyPr wrap="none">
            <a:spAutoFit/>
          </a:bodyPr>
          <a:lstStyle/>
          <a:p>
            <a:pPr algn="ctr">
              <a:defRPr sz="2300" b="1">
                <a:solidFill>
                  <a:srgbClr val="FFFFFF"/>
                </a:solidFill>
                <a:latin typeface="Aptos Display"/>
              </a:defRPr>
            </a:pPr>
            <a:r>
              <a:t>INTRODUCTION</a:t>
            </a:r>
          </a:p>
        </p:txBody>
      </p:sp>
      <p:sp>
        <p:nvSpPr>
          <p:cNvPr id="7" name="TextBox 6"/>
          <p:cNvSpPr txBox="1"/>
          <p:nvPr/>
        </p:nvSpPr>
        <p:spPr>
          <a:xfrm>
            <a:off x="914400" y="1325880"/>
            <a:ext cx="10058400" cy="4389120"/>
          </a:xfrm>
          <a:prstGeom prst="rect">
            <a:avLst/>
          </a:prstGeom>
          <a:noFill/>
        </p:spPr>
        <p:txBody>
          <a:bodyPr wrap="square">
            <a:spAutoFit/>
          </a:bodyPr>
          <a:lstStyle/>
          <a:p>
            <a:pPr>
              <a:spcAft>
                <a:spcPts val="1000"/>
              </a:spcAft>
              <a:defRPr sz="1800">
                <a:solidFill>
                  <a:srgbClr val="232B32"/>
                </a:solidFill>
                <a:latin typeface="Aptos"/>
              </a:defRPr>
            </a:pPr>
            <a:r>
              <a:rPr dirty="0"/>
              <a:t>• </a:t>
            </a:r>
            <a:r>
              <a:rPr sz="2400" dirty="0"/>
              <a:t>A Python-based system designed to read, inspect, preprocess and analyze data files.</a:t>
            </a:r>
          </a:p>
          <a:p>
            <a:pPr>
              <a:spcAft>
                <a:spcPts val="1000"/>
              </a:spcAft>
              <a:defRPr sz="1800">
                <a:solidFill>
                  <a:srgbClr val="232B32"/>
                </a:solidFill>
                <a:latin typeface="Aptos"/>
              </a:defRPr>
            </a:pPr>
            <a:r>
              <a:rPr sz="2400" dirty="0"/>
              <a:t>• The current prototype is implemented in Google </a:t>
            </a:r>
            <a:r>
              <a:rPr sz="2400" dirty="0" err="1"/>
              <a:t>Colab</a:t>
            </a:r>
            <a:r>
              <a:rPr sz="2400" dirty="0"/>
              <a:t> using Pandas and NumPy.</a:t>
            </a:r>
          </a:p>
          <a:p>
            <a:pPr>
              <a:spcAft>
                <a:spcPts val="1000"/>
              </a:spcAft>
              <a:defRPr sz="1800">
                <a:solidFill>
                  <a:srgbClr val="232B32"/>
                </a:solidFill>
                <a:latin typeface="Aptos"/>
              </a:defRPr>
            </a:pPr>
            <a:r>
              <a:rPr sz="2400" dirty="0"/>
              <a:t>• The Superstore Sales dataset from Kaggle is used as the main demonstration dataset.</a:t>
            </a:r>
          </a:p>
          <a:p>
            <a:pPr>
              <a:spcAft>
                <a:spcPts val="1000"/>
              </a:spcAft>
              <a:defRPr sz="1800">
                <a:solidFill>
                  <a:srgbClr val="232B32"/>
                </a:solidFill>
                <a:latin typeface="Aptos"/>
              </a:defRPr>
            </a:pPr>
            <a:r>
              <a:rPr sz="2400" dirty="0"/>
              <a:t>• The system extracts file structure, data types, missing values, duplicates and statistical information.</a:t>
            </a:r>
          </a:p>
          <a:p>
            <a:pPr>
              <a:spcAft>
                <a:spcPts val="1000"/>
              </a:spcAft>
              <a:defRPr sz="1800">
                <a:solidFill>
                  <a:srgbClr val="232B32"/>
                </a:solidFill>
                <a:latin typeface="Aptos"/>
              </a:defRPr>
            </a:pPr>
            <a:r>
              <a:rPr sz="2400" dirty="0"/>
              <a:t>• The project is designed to grow into a reusable analyzer for multiple file formats</a:t>
            </a:r>
            <a:r>
              <a:rPr dirty="0"/>
              <a:t>.</a:t>
            </a:r>
          </a:p>
        </p:txBody>
      </p:sp>
      <p:sp>
        <p:nvSpPr>
          <p:cNvPr id="8" name="TextBox 7"/>
          <p:cNvSpPr txBox="1"/>
          <p:nvPr/>
        </p:nvSpPr>
        <p:spPr>
          <a:xfrm>
            <a:off x="11064240" y="6172200"/>
            <a:ext cx="411480" cy="274320"/>
          </a:xfrm>
          <a:prstGeom prst="rect">
            <a:avLst/>
          </a:prstGeom>
          <a:noFill/>
        </p:spPr>
        <p:txBody>
          <a:bodyPr wrap="none">
            <a:spAutoFit/>
          </a:bodyPr>
          <a:lstStyle/>
          <a:p>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pic>
        <p:nvPicPr>
          <p:cNvPr id="2" name="Picture 1" descr="image.png"/>
          <p:cNvPicPr>
            <a:picLocks noChangeAspect="1"/>
          </p:cNvPicPr>
          <p:nvPr/>
        </p:nvPicPr>
        <p:blipFill>
          <a:blip r:embed="rId2"/>
          <a:srcRect/>
          <a:stretch>
            <a:fillRect/>
          </a:stretch>
        </p:blipFill>
        <p:spPr>
          <a:xfrm>
            <a:off x="320040" y="164592"/>
            <a:ext cx="1417320" cy="191799"/>
          </a:xfrm>
          <a:prstGeom prst="rect">
            <a:avLst/>
          </a:prstGeom>
        </p:spPr>
      </p:pic>
      <p:grpSpPr/>
      <p:sp>
        <p:nvSpPr>
          <p:cNvPr id="3" name="Rounded Rectangle 2"/>
          <p:cNvSpPr/>
          <p:nvPr/>
        </p:nvSpPr>
        <p:spPr>
          <a:xfrm>
            <a:off x="2423160" y="438912"/>
            <a:ext cx="6263640" cy="530352"/>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2487168" y="557784"/>
            <a:ext cx="6144768" cy="475488"/>
          </a:xfrm>
          <a:prstGeom prst="roundRect">
            <a:avLst/>
          </a:prstGeom>
          <a:solidFill>
            <a:srgbClr val="46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2423160" y="438912"/>
            <a:ext cx="6263640" cy="530352"/>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514600" y="530352"/>
            <a:ext cx="6080760" cy="347472"/>
          </a:xfrm>
          <a:prstGeom prst="rect">
            <a:avLst/>
          </a:prstGeom>
          <a:noFill/>
        </p:spPr>
        <p:txBody>
          <a:bodyPr wrap="none">
            <a:spAutoFit/>
          </a:bodyPr>
          <a:lstStyle/>
          <a:p>
            <a:pPr algn="ctr">
              <a:defRPr sz="2300" b="1">
                <a:solidFill>
                  <a:srgbClr val="FFFFFF"/>
                </a:solidFill>
                <a:latin typeface="Aptos Display"/>
              </a:defRPr>
            </a:pPr>
            <a:r>
              <a:t>PROBLEM STATEMENT</a:t>
            </a:r>
          </a:p>
        </p:txBody>
      </p:sp>
      <p:sp>
        <p:nvSpPr>
          <p:cNvPr id="7" name="Rounded Rectangle 6"/>
          <p:cNvSpPr/>
          <p:nvPr/>
        </p:nvSpPr>
        <p:spPr>
          <a:xfrm>
            <a:off x="777240" y="1417320"/>
            <a:ext cx="3246120" cy="1874519"/>
          </a:xfrm>
          <a:prstGeom prst="roundRect">
            <a:avLst/>
          </a:prstGeom>
          <a:solidFill>
            <a:srgbClr val="F4F5F7"/>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77240" y="1417320"/>
            <a:ext cx="64008" cy="1874519"/>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41832" y="1554480"/>
            <a:ext cx="2971800" cy="347472"/>
          </a:xfrm>
          <a:prstGeom prst="rect">
            <a:avLst/>
          </a:prstGeom>
          <a:noFill/>
        </p:spPr>
        <p:txBody>
          <a:bodyPr wrap="square">
            <a:spAutoFit/>
          </a:bodyPr>
          <a:lstStyle/>
          <a:p>
            <a:pPr>
              <a:defRPr sz="1500" b="1">
                <a:solidFill>
                  <a:srgbClr val="143169"/>
                </a:solidFill>
                <a:latin typeface="Aptos"/>
              </a:defRPr>
            </a:pPr>
            <a:r>
              <a:t>Manual inspection</a:t>
            </a:r>
          </a:p>
        </p:txBody>
      </p:sp>
      <p:sp>
        <p:nvSpPr>
          <p:cNvPr id="10" name="TextBox 9"/>
          <p:cNvSpPr txBox="1"/>
          <p:nvPr/>
        </p:nvSpPr>
        <p:spPr>
          <a:xfrm>
            <a:off x="941832" y="1984248"/>
            <a:ext cx="2926079" cy="1216151"/>
          </a:xfrm>
          <a:prstGeom prst="rect">
            <a:avLst/>
          </a:prstGeom>
          <a:noFill/>
        </p:spPr>
        <p:txBody>
          <a:bodyPr wrap="square">
            <a:spAutoFit/>
          </a:bodyPr>
          <a:lstStyle/>
          <a:p>
            <a:pPr>
              <a:defRPr sz="1150" b="0">
                <a:solidFill>
                  <a:srgbClr val="232B32"/>
                </a:solidFill>
                <a:latin typeface="Aptos"/>
              </a:defRPr>
            </a:pPr>
            <a:r>
              <a:t>Large datasets contain thousands of records and many columns, making manual inspection slow and error-prone.</a:t>
            </a:r>
          </a:p>
        </p:txBody>
      </p:sp>
      <p:sp>
        <p:nvSpPr>
          <p:cNvPr id="11" name="Rounded Rectangle 10"/>
          <p:cNvSpPr/>
          <p:nvPr/>
        </p:nvSpPr>
        <p:spPr>
          <a:xfrm>
            <a:off x="4434840" y="1417320"/>
            <a:ext cx="3246120" cy="1874519"/>
          </a:xfrm>
          <a:prstGeom prst="roundRect">
            <a:avLst/>
          </a:prstGeom>
          <a:solidFill>
            <a:srgbClr val="F4F5F7"/>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434840" y="1417320"/>
            <a:ext cx="64008" cy="1874519"/>
          </a:xfrm>
          <a:prstGeom prst="rect">
            <a:avLst/>
          </a:prstGeom>
          <a:solidFill>
            <a:srgbClr val="9B37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99431" y="1554480"/>
            <a:ext cx="2971800" cy="347472"/>
          </a:xfrm>
          <a:prstGeom prst="rect">
            <a:avLst/>
          </a:prstGeom>
          <a:noFill/>
        </p:spPr>
        <p:txBody>
          <a:bodyPr wrap="square">
            <a:spAutoFit/>
          </a:bodyPr>
          <a:lstStyle/>
          <a:p>
            <a:pPr>
              <a:defRPr sz="1500" b="1">
                <a:solidFill>
                  <a:srgbClr val="143169"/>
                </a:solidFill>
                <a:latin typeface="Aptos"/>
              </a:defRPr>
            </a:pPr>
            <a:r>
              <a:t>Data quality</a:t>
            </a:r>
          </a:p>
        </p:txBody>
      </p:sp>
      <p:sp>
        <p:nvSpPr>
          <p:cNvPr id="14" name="TextBox 13"/>
          <p:cNvSpPr txBox="1"/>
          <p:nvPr/>
        </p:nvSpPr>
        <p:spPr>
          <a:xfrm>
            <a:off x="4599431" y="1984248"/>
            <a:ext cx="2926079" cy="1216151"/>
          </a:xfrm>
          <a:prstGeom prst="rect">
            <a:avLst/>
          </a:prstGeom>
          <a:noFill/>
        </p:spPr>
        <p:txBody>
          <a:bodyPr wrap="square">
            <a:spAutoFit/>
          </a:bodyPr>
          <a:lstStyle/>
          <a:p>
            <a:pPr>
              <a:defRPr sz="1150" b="0">
                <a:solidFill>
                  <a:srgbClr val="232B32"/>
                </a:solidFill>
                <a:latin typeface="Aptos"/>
              </a:defRPr>
            </a:pPr>
            <a:r>
              <a:t>Missing values, duplicates and incorrect data types can affect the reliability of later analysis.</a:t>
            </a:r>
          </a:p>
        </p:txBody>
      </p:sp>
      <p:sp>
        <p:nvSpPr>
          <p:cNvPr id="15" name="Rounded Rectangle 14"/>
          <p:cNvSpPr/>
          <p:nvPr/>
        </p:nvSpPr>
        <p:spPr>
          <a:xfrm>
            <a:off x="8092440" y="1417320"/>
            <a:ext cx="3246120" cy="1874519"/>
          </a:xfrm>
          <a:prstGeom prst="roundRect">
            <a:avLst/>
          </a:prstGeom>
          <a:solidFill>
            <a:srgbClr val="F4F5F7"/>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92440" y="1417320"/>
            <a:ext cx="64008" cy="1874519"/>
          </a:xfrm>
          <a:prstGeom prst="rect">
            <a:avLst/>
          </a:prstGeom>
          <a:solidFill>
            <a:srgbClr val="1E5E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57031" y="1554480"/>
            <a:ext cx="2971800" cy="347472"/>
          </a:xfrm>
          <a:prstGeom prst="rect">
            <a:avLst/>
          </a:prstGeom>
          <a:noFill/>
        </p:spPr>
        <p:txBody>
          <a:bodyPr wrap="square">
            <a:spAutoFit/>
          </a:bodyPr>
          <a:lstStyle/>
          <a:p>
            <a:pPr>
              <a:defRPr sz="1500" b="1">
                <a:solidFill>
                  <a:srgbClr val="143169"/>
                </a:solidFill>
                <a:latin typeface="Aptos"/>
              </a:defRPr>
            </a:pPr>
            <a:r>
              <a:t>Multiple formats</a:t>
            </a:r>
          </a:p>
        </p:txBody>
      </p:sp>
      <p:sp>
        <p:nvSpPr>
          <p:cNvPr id="18" name="TextBox 17"/>
          <p:cNvSpPr txBox="1"/>
          <p:nvPr/>
        </p:nvSpPr>
        <p:spPr>
          <a:xfrm>
            <a:off x="8257031" y="1984248"/>
            <a:ext cx="2926079" cy="1216151"/>
          </a:xfrm>
          <a:prstGeom prst="rect">
            <a:avLst/>
          </a:prstGeom>
          <a:noFill/>
        </p:spPr>
        <p:txBody>
          <a:bodyPr wrap="square">
            <a:spAutoFit/>
          </a:bodyPr>
          <a:lstStyle/>
          <a:p>
            <a:pPr>
              <a:defRPr sz="1150" b="0">
                <a:solidFill>
                  <a:srgbClr val="232B32"/>
                </a:solidFill>
                <a:latin typeface="Aptos"/>
              </a:defRPr>
            </a:pPr>
            <a:r>
              <a:t>A useful analyzer should not be restricted to one fixed dataset or one file format.</a:t>
            </a:r>
          </a:p>
        </p:txBody>
      </p:sp>
      <p:sp>
        <p:nvSpPr>
          <p:cNvPr id="19" name="TextBox 18"/>
          <p:cNvSpPr txBox="1"/>
          <p:nvPr/>
        </p:nvSpPr>
        <p:spPr>
          <a:xfrm>
            <a:off x="868680" y="3794760"/>
            <a:ext cx="2194560" cy="365760"/>
          </a:xfrm>
          <a:prstGeom prst="rect">
            <a:avLst/>
          </a:prstGeom>
          <a:noFill/>
        </p:spPr>
        <p:txBody>
          <a:bodyPr wrap="square">
            <a:spAutoFit/>
          </a:bodyPr>
          <a:lstStyle/>
          <a:p>
            <a:pPr>
              <a:defRPr sz="1700" b="1">
                <a:solidFill>
                  <a:srgbClr val="143169"/>
                </a:solidFill>
                <a:latin typeface="Aptos"/>
              </a:defRPr>
            </a:pPr>
            <a:r>
              <a:t>Problem to solve</a:t>
            </a:r>
          </a:p>
        </p:txBody>
      </p:sp>
      <p:sp>
        <p:nvSpPr>
          <p:cNvPr id="20" name="TextBox 19"/>
          <p:cNvSpPr txBox="1"/>
          <p:nvPr/>
        </p:nvSpPr>
        <p:spPr>
          <a:xfrm>
            <a:off x="868680" y="4251960"/>
            <a:ext cx="10058400" cy="1234440"/>
          </a:xfrm>
          <a:prstGeom prst="rect">
            <a:avLst/>
          </a:prstGeom>
          <a:noFill/>
        </p:spPr>
        <p:txBody>
          <a:bodyPr wrap="square">
            <a:spAutoFit/>
          </a:bodyPr>
          <a:lstStyle/>
          <a:p>
            <a:pPr algn="ctr">
              <a:defRPr sz="2000" b="0">
                <a:solidFill>
                  <a:srgbClr val="232B32"/>
                </a:solidFill>
                <a:latin typeface="Aptos"/>
              </a:defRPr>
            </a:pPr>
            <a:r>
              <a:t>Develop a simple automated system that accepts a data file, identifies its structure, performs basic preprocessing and produces useful analytical information with minimum manual effort.</a:t>
            </a:r>
          </a:p>
        </p:txBody>
      </p:sp>
      <p:sp>
        <p:nvSpPr>
          <p:cNvPr id="21" name="TextBox 20"/>
          <p:cNvSpPr txBox="1"/>
          <p:nvPr/>
        </p:nvSpPr>
        <p:spPr>
          <a:xfrm>
            <a:off x="11064240" y="6172200"/>
            <a:ext cx="411480" cy="274320"/>
          </a:xfrm>
          <a:prstGeom prst="rect">
            <a:avLst/>
          </a:prstGeom>
          <a:noFill/>
        </p:spPr>
        <p:txBody>
          <a:bodyPr wrap="none">
            <a:spAutoFit/>
          </a:bodyPr>
          <a:lstStyle/>
          <a:p>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pic>
        <p:nvPicPr>
          <p:cNvPr id="2" name="Picture 1" descr="image.png"/>
          <p:cNvPicPr>
            <a:picLocks noChangeAspect="1"/>
          </p:cNvPicPr>
          <p:nvPr/>
        </p:nvPicPr>
        <p:blipFill>
          <a:blip r:embed="rId2"/>
          <a:srcRect/>
          <a:stretch>
            <a:fillRect/>
          </a:stretch>
        </p:blipFill>
        <p:spPr>
          <a:xfrm>
            <a:off x="256032" y="118872"/>
            <a:ext cx="1417320" cy="191799"/>
          </a:xfrm>
          <a:prstGeom prst="rect">
            <a:avLst/>
          </a:prstGeom>
        </p:spPr>
      </p:pic>
      <p:grpSpPr/>
      <p:sp>
        <p:nvSpPr>
          <p:cNvPr id="3" name="Rounded Rectangle 2"/>
          <p:cNvSpPr/>
          <p:nvPr/>
        </p:nvSpPr>
        <p:spPr>
          <a:xfrm>
            <a:off x="1539240" y="509722"/>
            <a:ext cx="9326880" cy="502920"/>
          </a:xfrm>
          <a:prstGeom prst="roundRect">
            <a:avLst/>
          </a:prstGeom>
          <a:solidFill>
            <a:srgbClr val="FF6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508760" y="512245"/>
            <a:ext cx="9144000" cy="384048"/>
          </a:xfrm>
          <a:prstGeom prst="rect">
            <a:avLst/>
          </a:prstGeom>
          <a:noFill/>
        </p:spPr>
        <p:txBody>
          <a:bodyPr wrap="square" lIns="36576" tIns="36576" rIns="36576" bIns="36576" anchor="ctr">
            <a:spAutoFit/>
          </a:bodyPr>
          <a:lstStyle/>
          <a:p>
            <a:pPr algn="ctr"/>
            <a:r>
              <a:rPr sz="2000" b="1">
                <a:solidFill>
                  <a:srgbClr val="FFFFFF"/>
                </a:solidFill>
                <a:latin typeface="Aptos"/>
              </a:rPr>
              <a:t>OBJECTIVE</a:t>
            </a:r>
          </a:p>
        </p:txBody>
      </p:sp>
      <p:sp>
        <p:nvSpPr>
          <p:cNvPr id="5" name="TextBox 4"/>
          <p:cNvSpPr txBox="1"/>
          <p:nvPr/>
        </p:nvSpPr>
        <p:spPr>
          <a:xfrm>
            <a:off x="11567160" y="6473952"/>
            <a:ext cx="320040" cy="164592"/>
          </a:xfrm>
          <a:prstGeom prst="rect">
            <a:avLst/>
          </a:prstGeom>
          <a:noFill/>
        </p:spPr>
        <p:txBody>
          <a:bodyPr wrap="square" lIns="36576" tIns="36576" rIns="36576" bIns="36576" anchor="t">
            <a:spAutoFit/>
          </a:bodyPr>
          <a:lstStyle/>
          <a:p>
            <a:r>
              <a:t>4</a:t>
            </a:r>
          </a:p>
        </p:txBody>
      </p:sp>
      <p:sp>
        <p:nvSpPr>
          <p:cNvPr id="6" name="Rounded Rectangle 5"/>
          <p:cNvSpPr/>
          <p:nvPr/>
        </p:nvSpPr>
        <p:spPr>
          <a:xfrm>
            <a:off x="594360" y="1234440"/>
            <a:ext cx="5440680" cy="4389120"/>
          </a:xfrm>
          <a:prstGeom prst="roundRect">
            <a:avLst/>
          </a:prstGeom>
          <a:solidFill>
            <a:srgbClr val="FAFBFC"/>
          </a:solidFill>
          <a:ln>
            <a:solidFill>
              <a:srgbClr val="DC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94360" y="1234440"/>
            <a:ext cx="64008" cy="4389120"/>
          </a:xfrm>
          <a:prstGeom prst="rect">
            <a:avLst/>
          </a:prstGeom>
          <a:solidFill>
            <a:srgbClr val="FF6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41832" y="1339889"/>
            <a:ext cx="5166360" cy="292608"/>
          </a:xfrm>
          <a:prstGeom prst="rect">
            <a:avLst/>
          </a:prstGeom>
          <a:noFill/>
        </p:spPr>
        <p:txBody>
          <a:bodyPr wrap="square" lIns="36576" tIns="36576" rIns="36576" bIns="36576" anchor="t">
            <a:spAutoFit/>
          </a:bodyPr>
          <a:lstStyle/>
          <a:p>
            <a:pPr algn="l"/>
            <a:r>
              <a:rPr sz="1400" b="1" dirty="0">
                <a:solidFill>
                  <a:srgbClr val="183769"/>
                </a:solidFill>
                <a:latin typeface="Aptos"/>
              </a:rPr>
              <a:t>PRIMARY OBJECTIVE</a:t>
            </a:r>
          </a:p>
        </p:txBody>
      </p:sp>
      <p:sp>
        <p:nvSpPr>
          <p:cNvPr id="9" name="TextBox 8"/>
          <p:cNvSpPr txBox="1"/>
          <p:nvPr/>
        </p:nvSpPr>
        <p:spPr>
          <a:xfrm>
            <a:off x="731520" y="1737585"/>
            <a:ext cx="5166360" cy="3822191"/>
          </a:xfrm>
          <a:prstGeom prst="rect">
            <a:avLst/>
          </a:prstGeom>
          <a:noFill/>
        </p:spPr>
        <p:txBody>
          <a:bodyPr wrap="square" lIns="36576" tIns="36576" rIns="36576" bIns="36576" anchor="t">
            <a:spAutoFit/>
          </a:bodyPr>
          <a:lstStyle/>
          <a:p>
            <a:pPr algn="l"/>
            <a:r>
              <a:rPr sz="1600" b="0">
                <a:solidFill>
                  <a:srgbClr val="373737"/>
                </a:solidFill>
                <a:latin typeface="Aptos"/>
              </a:rPr>
              <a:t>Provide one reusable workflow for reading different file formats and extracting useful information. The system combines file handling, analysis and reporting so the same approach can be applied to many uploaded datasets.</a:t>
            </a:r>
          </a:p>
        </p:txBody>
      </p:sp>
      <p:sp>
        <p:nvSpPr>
          <p:cNvPr id="10" name="Rounded Rectangle 9"/>
          <p:cNvSpPr/>
          <p:nvPr/>
        </p:nvSpPr>
        <p:spPr>
          <a:xfrm>
            <a:off x="6217920" y="1234440"/>
            <a:ext cx="5349240" cy="4389120"/>
          </a:xfrm>
          <a:prstGeom prst="roundRect">
            <a:avLst/>
          </a:prstGeom>
          <a:solidFill>
            <a:srgbClr val="FAFBFC"/>
          </a:solidFill>
          <a:ln>
            <a:solidFill>
              <a:srgbClr val="DC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17920" y="1234440"/>
            <a:ext cx="64008" cy="4389120"/>
          </a:xfrm>
          <a:prstGeom prst="rect">
            <a:avLst/>
          </a:prstGeom>
          <a:solidFill>
            <a:srgbClr val="197D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42532" y="1347775"/>
            <a:ext cx="5074920" cy="292608"/>
          </a:xfrm>
          <a:prstGeom prst="rect">
            <a:avLst/>
          </a:prstGeom>
          <a:noFill/>
        </p:spPr>
        <p:txBody>
          <a:bodyPr wrap="square" lIns="36576" tIns="36576" rIns="36576" bIns="36576" anchor="t">
            <a:spAutoFit/>
          </a:bodyPr>
          <a:lstStyle/>
          <a:p>
            <a:pPr algn="l"/>
            <a:r>
              <a:rPr sz="1400" b="1" dirty="0">
                <a:solidFill>
                  <a:srgbClr val="183769"/>
                </a:solidFill>
                <a:latin typeface="Aptos"/>
              </a:rPr>
              <a:t>KEY OPERATIONS</a:t>
            </a:r>
          </a:p>
        </p:txBody>
      </p:sp>
      <p:pic>
        <p:nvPicPr>
          <p:cNvPr id="14" name="Picture 13" descr="image.png"/>
          <p:cNvPicPr>
            <a:picLocks noChangeAspect="1"/>
          </p:cNvPicPr>
          <p:nvPr/>
        </p:nvPicPr>
        <p:blipFill>
          <a:blip r:embed="rId2"/>
          <a:srcRect/>
          <a:stretch>
            <a:fillRect/>
          </a:stretch>
        </p:blipFill>
        <p:spPr>
          <a:xfrm>
            <a:off x="97842" y="44944"/>
            <a:ext cx="3151019" cy="426412"/>
          </a:xfrm>
          <a:prstGeom prst="rect">
            <a:avLst/>
          </a:prstGeom>
        </p:spPr>
      </p:pic>
      <p:sp>
        <p:nvSpPr>
          <p:cNvPr id="13" name="TextBox 12"/>
          <p:cNvSpPr txBox="1"/>
          <p:nvPr/>
        </p:nvSpPr>
        <p:spPr>
          <a:xfrm>
            <a:off x="6382512" y="1709928"/>
            <a:ext cx="5074920" cy="3822191"/>
          </a:xfrm>
          <a:prstGeom prst="rect">
            <a:avLst/>
          </a:prstGeom>
          <a:noFill/>
        </p:spPr>
        <p:txBody>
          <a:bodyPr wrap="square" lIns="36576" tIns="36576" rIns="36576" bIns="36576" anchor="t">
            <a:spAutoFit/>
          </a:bodyPr>
          <a:lstStyle/>
          <a:p>
            <a:pPr algn="l"/>
            <a:r>
              <a:rPr sz="1600" b="0">
                <a:solidFill>
                  <a:srgbClr val="373737"/>
                </a:solidFill>
                <a:latin typeface="Aptos"/>
              </a:rPr>
              <a:t>• Word counting</a:t>
            </a:r>
            <a:br/>
            <a:r>
              <a:t>• Data filtering</a:t>
            </a:r>
            <a:br/>
            <a:r>
              <a:t>• Descriptive statistics</a:t>
            </a:r>
            <a:br/>
            <a:r>
              <a:t>• Missing-value and duplicate checks</a:t>
            </a:r>
            <a:br/>
            <a:r>
              <a:t>• Data visualization</a:t>
            </a:r>
            <a:br/>
            <a:r>
              <a:t>• Multiple-file processing using glob</a:t>
            </a:r>
            <a:br/>
            <a:r>
              <a:t>• Automatic summary generation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pic>
        <p:nvPicPr>
          <p:cNvPr id="2" name="Picture 1" descr="image.png"/>
          <p:cNvPicPr>
            <a:picLocks noChangeAspect="1"/>
          </p:cNvPicPr>
          <p:nvPr/>
        </p:nvPicPr>
        <p:blipFill>
          <a:blip r:embed="rId2"/>
          <a:srcRect/>
          <a:stretch>
            <a:fillRect/>
          </a:stretch>
        </p:blipFill>
        <p:spPr>
          <a:xfrm>
            <a:off x="256032" y="118872"/>
            <a:ext cx="1417320" cy="191799"/>
          </a:xfrm>
          <a:prstGeom prst="rect">
            <a:avLst/>
          </a:prstGeom>
        </p:spPr>
      </p:pic>
      <p:grpSpPr/>
      <p:sp>
        <p:nvSpPr>
          <p:cNvPr id="3" name="Rounded Rectangle 2"/>
          <p:cNvSpPr/>
          <p:nvPr/>
        </p:nvSpPr>
        <p:spPr>
          <a:xfrm>
            <a:off x="1432560" y="581808"/>
            <a:ext cx="9326880" cy="502920"/>
          </a:xfrm>
          <a:prstGeom prst="roundRect">
            <a:avLst/>
          </a:prstGeom>
          <a:solidFill>
            <a:srgbClr val="FF6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524000" y="630712"/>
            <a:ext cx="9144000" cy="384048"/>
          </a:xfrm>
          <a:prstGeom prst="rect">
            <a:avLst/>
          </a:prstGeom>
          <a:noFill/>
        </p:spPr>
        <p:txBody>
          <a:bodyPr wrap="square" lIns="36576" tIns="36576" rIns="36576" bIns="36576" anchor="ctr">
            <a:spAutoFit/>
          </a:bodyPr>
          <a:lstStyle/>
          <a:p>
            <a:pPr algn="ctr"/>
            <a:r>
              <a:rPr sz="2000" b="1">
                <a:solidFill>
                  <a:srgbClr val="FFFFFF"/>
                </a:solidFill>
                <a:latin typeface="Aptos"/>
              </a:rPr>
              <a:t>SUPPORTED FILE FORMATS</a:t>
            </a:r>
          </a:p>
        </p:txBody>
      </p:sp>
      <p:sp>
        <p:nvSpPr>
          <p:cNvPr id="5" name="TextBox 4"/>
          <p:cNvSpPr txBox="1"/>
          <p:nvPr/>
        </p:nvSpPr>
        <p:spPr>
          <a:xfrm>
            <a:off x="11567160" y="6473952"/>
            <a:ext cx="320040" cy="164592"/>
          </a:xfrm>
          <a:prstGeom prst="rect">
            <a:avLst/>
          </a:prstGeom>
          <a:noFill/>
        </p:spPr>
        <p:txBody>
          <a:bodyPr wrap="square" lIns="36576" tIns="36576" rIns="36576" bIns="36576" anchor="t">
            <a:spAutoFit/>
          </a:bodyPr>
          <a:lstStyle/>
          <a:p>
            <a:r>
              <a:t>5</a:t>
            </a:r>
          </a:p>
        </p:txBody>
      </p:sp>
      <p:sp>
        <p:nvSpPr>
          <p:cNvPr id="6" name="Rounded Rectangle 5"/>
          <p:cNvSpPr/>
          <p:nvPr/>
        </p:nvSpPr>
        <p:spPr>
          <a:xfrm>
            <a:off x="594360" y="1234440"/>
            <a:ext cx="2651760" cy="1874519"/>
          </a:xfrm>
          <a:prstGeom prst="roundRect">
            <a:avLst/>
          </a:prstGeom>
          <a:solidFill>
            <a:srgbClr val="FAFBFC"/>
          </a:solidFill>
          <a:ln>
            <a:solidFill>
              <a:srgbClr val="DC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94360" y="1234440"/>
            <a:ext cx="64008" cy="1874519"/>
          </a:xfrm>
          <a:prstGeom prst="rect">
            <a:avLst/>
          </a:prstGeom>
          <a:solidFill>
            <a:srgbClr val="FF6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58952" y="1344168"/>
            <a:ext cx="2377440" cy="292608"/>
          </a:xfrm>
          <a:prstGeom prst="rect">
            <a:avLst/>
          </a:prstGeom>
          <a:noFill/>
        </p:spPr>
        <p:txBody>
          <a:bodyPr wrap="square" lIns="36576" tIns="36576" rIns="36576" bIns="36576" anchor="t">
            <a:spAutoFit/>
          </a:bodyPr>
          <a:lstStyle/>
          <a:p>
            <a:pPr algn="l"/>
            <a:r>
              <a:rPr sz="1400" b="1">
                <a:solidFill>
                  <a:srgbClr val="183769"/>
                </a:solidFill>
                <a:latin typeface="Aptos"/>
              </a:rPr>
              <a:t>TXT</a:t>
            </a:r>
          </a:p>
        </p:txBody>
      </p:sp>
      <p:sp>
        <p:nvSpPr>
          <p:cNvPr id="9" name="TextBox 8"/>
          <p:cNvSpPr txBox="1"/>
          <p:nvPr/>
        </p:nvSpPr>
        <p:spPr>
          <a:xfrm>
            <a:off x="758952" y="1709928"/>
            <a:ext cx="2377440" cy="1307591"/>
          </a:xfrm>
          <a:prstGeom prst="rect">
            <a:avLst/>
          </a:prstGeom>
          <a:noFill/>
        </p:spPr>
        <p:txBody>
          <a:bodyPr wrap="square" lIns="36576" tIns="36576" rIns="36576" bIns="36576" anchor="t">
            <a:spAutoFit/>
          </a:bodyPr>
          <a:lstStyle/>
          <a:p>
            <a:pPr algn="l"/>
            <a:r>
              <a:rPr sz="1300" b="0">
                <a:solidFill>
                  <a:srgbClr val="373737"/>
                </a:solidFill>
                <a:latin typeface="Aptos"/>
              </a:rPr>
              <a:t>Plain text files are read as text and used for direct word-count analysis.</a:t>
            </a:r>
          </a:p>
        </p:txBody>
      </p:sp>
      <p:sp>
        <p:nvSpPr>
          <p:cNvPr id="10" name="Rounded Rectangle 9"/>
          <p:cNvSpPr/>
          <p:nvPr/>
        </p:nvSpPr>
        <p:spPr>
          <a:xfrm>
            <a:off x="3429000" y="1234440"/>
            <a:ext cx="2651760" cy="1874519"/>
          </a:xfrm>
          <a:prstGeom prst="roundRect">
            <a:avLst/>
          </a:prstGeom>
          <a:solidFill>
            <a:srgbClr val="FAFBFC"/>
          </a:solidFill>
          <a:ln>
            <a:solidFill>
              <a:srgbClr val="DC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429000" y="1234440"/>
            <a:ext cx="64008" cy="1874519"/>
          </a:xfrm>
          <a:prstGeom prst="rect">
            <a:avLst/>
          </a:prstGeom>
          <a:solidFill>
            <a:srgbClr val="197D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593592" y="1344168"/>
            <a:ext cx="2377440" cy="292608"/>
          </a:xfrm>
          <a:prstGeom prst="rect">
            <a:avLst/>
          </a:prstGeom>
          <a:noFill/>
        </p:spPr>
        <p:txBody>
          <a:bodyPr wrap="square" lIns="36576" tIns="36576" rIns="36576" bIns="36576" anchor="t">
            <a:spAutoFit/>
          </a:bodyPr>
          <a:lstStyle/>
          <a:p>
            <a:pPr algn="l"/>
            <a:r>
              <a:rPr sz="1400" b="1">
                <a:solidFill>
                  <a:srgbClr val="183769"/>
                </a:solidFill>
                <a:latin typeface="Aptos"/>
              </a:rPr>
              <a:t>CSV</a:t>
            </a:r>
          </a:p>
        </p:txBody>
      </p:sp>
      <p:sp>
        <p:nvSpPr>
          <p:cNvPr id="13" name="TextBox 12"/>
          <p:cNvSpPr txBox="1"/>
          <p:nvPr/>
        </p:nvSpPr>
        <p:spPr>
          <a:xfrm>
            <a:off x="3593592" y="1709928"/>
            <a:ext cx="2377440" cy="1307591"/>
          </a:xfrm>
          <a:prstGeom prst="rect">
            <a:avLst/>
          </a:prstGeom>
          <a:noFill/>
        </p:spPr>
        <p:txBody>
          <a:bodyPr wrap="square" lIns="36576" tIns="36576" rIns="36576" bIns="36576" anchor="t">
            <a:spAutoFit/>
          </a:bodyPr>
          <a:lstStyle/>
          <a:p>
            <a:pPr algn="l"/>
            <a:r>
              <a:rPr sz="1300" b="0">
                <a:solidFill>
                  <a:srgbClr val="373737"/>
                </a:solidFill>
                <a:latin typeface="Aptos"/>
              </a:rPr>
              <a:t>Tabular files are processed with Pandas, including structure, filtering and statistics.</a:t>
            </a:r>
          </a:p>
        </p:txBody>
      </p:sp>
      <p:sp>
        <p:nvSpPr>
          <p:cNvPr id="14" name="Rounded Rectangle 13"/>
          <p:cNvSpPr/>
          <p:nvPr/>
        </p:nvSpPr>
        <p:spPr>
          <a:xfrm>
            <a:off x="6263640" y="1234440"/>
            <a:ext cx="2651760" cy="1874519"/>
          </a:xfrm>
          <a:prstGeom prst="roundRect">
            <a:avLst/>
          </a:prstGeom>
          <a:solidFill>
            <a:srgbClr val="FAFBFC"/>
          </a:solidFill>
          <a:ln>
            <a:solidFill>
              <a:srgbClr val="DC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63640" y="1234440"/>
            <a:ext cx="64008" cy="1874519"/>
          </a:xfrm>
          <a:prstGeom prst="rect">
            <a:avLst/>
          </a:prstGeom>
          <a:solidFill>
            <a:srgbClr val="6E4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28231" y="1344168"/>
            <a:ext cx="2377440" cy="292608"/>
          </a:xfrm>
          <a:prstGeom prst="rect">
            <a:avLst/>
          </a:prstGeom>
          <a:noFill/>
        </p:spPr>
        <p:txBody>
          <a:bodyPr wrap="square" lIns="36576" tIns="36576" rIns="36576" bIns="36576" anchor="t">
            <a:spAutoFit/>
          </a:bodyPr>
          <a:lstStyle/>
          <a:p>
            <a:pPr algn="l"/>
            <a:r>
              <a:rPr sz="1400" b="1">
                <a:solidFill>
                  <a:srgbClr val="183769"/>
                </a:solidFill>
                <a:latin typeface="Aptos"/>
              </a:rPr>
              <a:t>JSON</a:t>
            </a:r>
          </a:p>
        </p:txBody>
      </p:sp>
      <p:sp>
        <p:nvSpPr>
          <p:cNvPr id="17" name="TextBox 16"/>
          <p:cNvSpPr txBox="1"/>
          <p:nvPr/>
        </p:nvSpPr>
        <p:spPr>
          <a:xfrm>
            <a:off x="6428231" y="1709928"/>
            <a:ext cx="2377440" cy="1307591"/>
          </a:xfrm>
          <a:prstGeom prst="rect">
            <a:avLst/>
          </a:prstGeom>
          <a:noFill/>
        </p:spPr>
        <p:txBody>
          <a:bodyPr wrap="square" lIns="36576" tIns="36576" rIns="36576" bIns="36576" anchor="t">
            <a:spAutoFit/>
          </a:bodyPr>
          <a:lstStyle/>
          <a:p>
            <a:pPr algn="l"/>
            <a:r>
              <a:rPr sz="1300" b="0">
                <a:solidFill>
                  <a:srgbClr val="373737"/>
                </a:solidFill>
                <a:latin typeface="Aptos"/>
              </a:rPr>
              <a:t>Structured data is read and recursively inspected for text and values.</a:t>
            </a:r>
          </a:p>
        </p:txBody>
      </p:sp>
      <p:sp>
        <p:nvSpPr>
          <p:cNvPr id="18" name="Rounded Rectangle 17"/>
          <p:cNvSpPr/>
          <p:nvPr/>
        </p:nvSpPr>
        <p:spPr>
          <a:xfrm>
            <a:off x="9098280" y="1234440"/>
            <a:ext cx="2651760" cy="1874519"/>
          </a:xfrm>
          <a:prstGeom prst="roundRect">
            <a:avLst/>
          </a:prstGeom>
          <a:solidFill>
            <a:srgbClr val="FAFBFC"/>
          </a:solidFill>
          <a:ln>
            <a:solidFill>
              <a:srgbClr val="DC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098280" y="1234440"/>
            <a:ext cx="64008" cy="1874519"/>
          </a:xfrm>
          <a:prstGeom prst="rect">
            <a:avLst/>
          </a:prstGeom>
          <a:solidFill>
            <a:srgbClr val="B45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262872" y="1344168"/>
            <a:ext cx="2377440" cy="292608"/>
          </a:xfrm>
          <a:prstGeom prst="rect">
            <a:avLst/>
          </a:prstGeom>
          <a:noFill/>
        </p:spPr>
        <p:txBody>
          <a:bodyPr wrap="square" lIns="36576" tIns="36576" rIns="36576" bIns="36576" anchor="t">
            <a:spAutoFit/>
          </a:bodyPr>
          <a:lstStyle/>
          <a:p>
            <a:pPr algn="l"/>
            <a:r>
              <a:rPr sz="1400" b="1">
                <a:solidFill>
                  <a:srgbClr val="183769"/>
                </a:solidFill>
                <a:latin typeface="Aptos"/>
              </a:rPr>
              <a:t>EXCEL</a:t>
            </a:r>
          </a:p>
        </p:txBody>
      </p:sp>
      <p:sp>
        <p:nvSpPr>
          <p:cNvPr id="21" name="TextBox 20"/>
          <p:cNvSpPr txBox="1"/>
          <p:nvPr/>
        </p:nvSpPr>
        <p:spPr>
          <a:xfrm>
            <a:off x="9262872" y="1709928"/>
            <a:ext cx="2377440" cy="1307591"/>
          </a:xfrm>
          <a:prstGeom prst="rect">
            <a:avLst/>
          </a:prstGeom>
          <a:noFill/>
        </p:spPr>
        <p:txBody>
          <a:bodyPr wrap="square" lIns="36576" tIns="36576" rIns="36576" bIns="36576" anchor="t">
            <a:spAutoFit/>
          </a:bodyPr>
          <a:lstStyle/>
          <a:p>
            <a:pPr algn="l"/>
            <a:r>
              <a:rPr sz="1300" b="0">
                <a:solidFill>
                  <a:srgbClr val="373737"/>
                </a:solidFill>
                <a:latin typeface="Aptos"/>
              </a:rPr>
              <a:t>XLSX and XLS spreadsheets are supported through the same analysis workflow.</a:t>
            </a:r>
          </a:p>
        </p:txBody>
      </p:sp>
      <p:sp>
        <p:nvSpPr>
          <p:cNvPr id="22" name="Rounded Rectangle 21"/>
          <p:cNvSpPr/>
          <p:nvPr/>
        </p:nvSpPr>
        <p:spPr>
          <a:xfrm>
            <a:off x="594360" y="3429000"/>
            <a:ext cx="11155680" cy="1920240"/>
          </a:xfrm>
          <a:prstGeom prst="roundRect">
            <a:avLst/>
          </a:prstGeom>
          <a:solidFill>
            <a:srgbClr val="FAFBFC"/>
          </a:solidFill>
          <a:ln>
            <a:solidFill>
              <a:srgbClr val="DC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94360" y="3429000"/>
            <a:ext cx="64008" cy="1920240"/>
          </a:xfrm>
          <a:prstGeom prst="rect">
            <a:avLst/>
          </a:prstGeom>
          <a:solidFill>
            <a:srgbClr val="18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58952" y="3538728"/>
            <a:ext cx="10881359" cy="292608"/>
          </a:xfrm>
          <a:prstGeom prst="rect">
            <a:avLst/>
          </a:prstGeom>
          <a:noFill/>
        </p:spPr>
        <p:txBody>
          <a:bodyPr wrap="square" lIns="36576" tIns="36576" rIns="36576" bIns="36576" anchor="t">
            <a:spAutoFit/>
          </a:bodyPr>
          <a:lstStyle/>
          <a:p>
            <a:pPr algn="l"/>
            <a:r>
              <a:rPr sz="1400" b="1">
                <a:solidFill>
                  <a:srgbClr val="183769"/>
                </a:solidFill>
                <a:latin typeface="Aptos"/>
              </a:rPr>
              <a:t>FORMAT DETECTION</a:t>
            </a:r>
          </a:p>
        </p:txBody>
      </p:sp>
      <p:pic>
        <p:nvPicPr>
          <p:cNvPr id="26" name="Picture 25" descr="image.png"/>
          <p:cNvPicPr>
            <a:picLocks noChangeAspect="1"/>
          </p:cNvPicPr>
          <p:nvPr/>
        </p:nvPicPr>
        <p:blipFill>
          <a:blip r:embed="rId2"/>
          <a:srcRect/>
          <a:stretch>
            <a:fillRect/>
          </a:stretch>
        </p:blipFill>
        <p:spPr>
          <a:xfrm>
            <a:off x="256031" y="118872"/>
            <a:ext cx="2880361" cy="389785"/>
          </a:xfrm>
          <a:prstGeom prst="rect">
            <a:avLst/>
          </a:prstGeom>
        </p:spPr>
      </p:pic>
      <p:sp>
        <p:nvSpPr>
          <p:cNvPr id="25" name="TextBox 24"/>
          <p:cNvSpPr txBox="1"/>
          <p:nvPr/>
        </p:nvSpPr>
        <p:spPr>
          <a:xfrm>
            <a:off x="758952" y="3904487"/>
            <a:ext cx="10881359" cy="1353312"/>
          </a:xfrm>
          <a:prstGeom prst="rect">
            <a:avLst/>
          </a:prstGeom>
          <a:noFill/>
        </p:spPr>
        <p:txBody>
          <a:bodyPr wrap="square" lIns="36576" tIns="36576" rIns="36576" bIns="36576" anchor="t">
            <a:spAutoFit/>
          </a:bodyPr>
          <a:lstStyle/>
          <a:p>
            <a:pPr algn="l"/>
            <a:r>
              <a:rPr sz="1500" b="0">
                <a:solidFill>
                  <a:srgbClr val="373737"/>
                </a:solidFill>
                <a:latin typeface="Aptos"/>
              </a:rPr>
              <a:t>The system checks the file extension and routes each file to the corresponding reader. This keeps the processing flow reusable while allowing different input types to be analyzed through one menu-driven system.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pic>
        <p:nvPicPr>
          <p:cNvPr id="2" name="Picture 1" descr="image.png"/>
          <p:cNvPicPr>
            <a:picLocks noChangeAspect="1"/>
          </p:cNvPicPr>
          <p:nvPr/>
        </p:nvPicPr>
        <p:blipFill>
          <a:blip r:embed="rId2"/>
          <a:srcRect/>
          <a:stretch>
            <a:fillRect/>
          </a:stretch>
        </p:blipFill>
        <p:spPr>
          <a:xfrm>
            <a:off x="320040" y="164592"/>
            <a:ext cx="1417320" cy="191799"/>
          </a:xfrm>
          <a:prstGeom prst="rect">
            <a:avLst/>
          </a:prstGeom>
        </p:spPr>
      </p:pic>
      <p:grpSpPr/>
      <p:sp>
        <p:nvSpPr>
          <p:cNvPr id="3" name="Rounded Rectangle 2"/>
          <p:cNvSpPr/>
          <p:nvPr/>
        </p:nvSpPr>
        <p:spPr>
          <a:xfrm>
            <a:off x="2423160" y="438912"/>
            <a:ext cx="6263640" cy="530352"/>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2487168" y="557784"/>
            <a:ext cx="6144768" cy="475488"/>
          </a:xfrm>
          <a:prstGeom prst="roundRect">
            <a:avLst/>
          </a:prstGeom>
          <a:solidFill>
            <a:srgbClr val="46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2423160" y="438912"/>
            <a:ext cx="6263640" cy="530352"/>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514600" y="530352"/>
            <a:ext cx="6080760" cy="347472"/>
          </a:xfrm>
          <a:prstGeom prst="rect">
            <a:avLst/>
          </a:prstGeom>
          <a:noFill/>
        </p:spPr>
        <p:txBody>
          <a:bodyPr wrap="none">
            <a:spAutoFit/>
          </a:bodyPr>
          <a:lstStyle/>
          <a:p>
            <a:pPr algn="ctr">
              <a:defRPr sz="2300" b="1">
                <a:solidFill>
                  <a:srgbClr val="FFFFFF"/>
                </a:solidFill>
                <a:latin typeface="Aptos Display"/>
              </a:defRPr>
            </a:pPr>
            <a:r>
              <a:t>DATASET &amp; REASON FOR SELECTION</a:t>
            </a:r>
          </a:p>
        </p:txBody>
      </p:sp>
      <p:sp>
        <p:nvSpPr>
          <p:cNvPr id="7" name="Rounded Rectangle 6"/>
          <p:cNvSpPr/>
          <p:nvPr/>
        </p:nvSpPr>
        <p:spPr>
          <a:xfrm>
            <a:off x="731520" y="1325880"/>
            <a:ext cx="3246120" cy="4251960"/>
          </a:xfrm>
          <a:prstGeom prst="roundRect">
            <a:avLst/>
          </a:prstGeom>
          <a:solidFill>
            <a:srgbClr val="F4F5F7"/>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325880"/>
            <a:ext cx="64008" cy="425196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96112" y="1463039"/>
            <a:ext cx="2971800" cy="347472"/>
          </a:xfrm>
          <a:prstGeom prst="rect">
            <a:avLst/>
          </a:prstGeom>
          <a:noFill/>
        </p:spPr>
        <p:txBody>
          <a:bodyPr wrap="square">
            <a:spAutoFit/>
          </a:bodyPr>
          <a:lstStyle/>
          <a:p>
            <a:pPr>
              <a:defRPr sz="1500" b="1">
                <a:solidFill>
                  <a:srgbClr val="143169"/>
                </a:solidFill>
                <a:latin typeface="Aptos"/>
              </a:defRPr>
            </a:pPr>
            <a:r>
              <a:t>Superstore dataset</a:t>
            </a:r>
          </a:p>
        </p:txBody>
      </p:sp>
      <p:sp>
        <p:nvSpPr>
          <p:cNvPr id="10" name="TextBox 9"/>
          <p:cNvSpPr txBox="1"/>
          <p:nvPr/>
        </p:nvSpPr>
        <p:spPr>
          <a:xfrm>
            <a:off x="896112" y="1828800"/>
            <a:ext cx="2926079" cy="2423160"/>
          </a:xfrm>
          <a:prstGeom prst="rect">
            <a:avLst/>
          </a:prstGeom>
          <a:noFill/>
        </p:spPr>
        <p:txBody>
          <a:bodyPr wrap="square">
            <a:spAutoFit/>
          </a:bodyPr>
          <a:lstStyle/>
          <a:p>
            <a:pPr>
              <a:defRPr sz="1150" b="0">
                <a:solidFill>
                  <a:srgbClr val="232B32"/>
                </a:solidFill>
                <a:latin typeface="Aptos"/>
              </a:defRPr>
            </a:pPr>
            <a:r>
              <a:rPr sz="1300" b="0">
                <a:solidFill>
                  <a:srgbClr val="2D2D2D"/>
                </a:solidFill>
                <a:latin typeface="Aptos"/>
              </a:rPr>
              <a:t>Source: Kaggle
9,994 rows
21 columns
0 missing values
0 duplicate rows
Important fields:
Sales • Quantity • Discount • Profit
Order Date • Ship Date
Category • Region • Segment</a:t>
            </a:r>
          </a:p>
        </p:txBody>
      </p:sp>
      <p:sp>
        <p:nvSpPr>
          <p:cNvPr id="11" name="Rounded Rectangle 10"/>
          <p:cNvSpPr/>
          <p:nvPr/>
        </p:nvSpPr>
        <p:spPr>
          <a:xfrm>
            <a:off x="4389120" y="1325880"/>
            <a:ext cx="3246120" cy="4251960"/>
          </a:xfrm>
          <a:prstGeom prst="roundRect">
            <a:avLst/>
          </a:prstGeom>
          <a:solidFill>
            <a:srgbClr val="F4F5F7"/>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89120" y="1325880"/>
            <a:ext cx="64008" cy="4251960"/>
          </a:xfrm>
          <a:prstGeom prst="rect">
            <a:avLst/>
          </a:prstGeom>
          <a:solidFill>
            <a:srgbClr val="1E5E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53712" y="1463039"/>
            <a:ext cx="2971800" cy="347472"/>
          </a:xfrm>
          <a:prstGeom prst="rect">
            <a:avLst/>
          </a:prstGeom>
          <a:noFill/>
        </p:spPr>
        <p:txBody>
          <a:bodyPr wrap="square">
            <a:spAutoFit/>
          </a:bodyPr>
          <a:lstStyle/>
          <a:p>
            <a:pPr>
              <a:defRPr sz="1500" b="1">
                <a:solidFill>
                  <a:srgbClr val="143169"/>
                </a:solidFill>
                <a:latin typeface="Aptos"/>
              </a:defRPr>
            </a:pPr>
            <a:r>
              <a:t>Why selected?</a:t>
            </a:r>
          </a:p>
        </p:txBody>
      </p:sp>
      <p:sp>
        <p:nvSpPr>
          <p:cNvPr id="14" name="TextBox 13"/>
          <p:cNvSpPr txBox="1"/>
          <p:nvPr/>
        </p:nvSpPr>
        <p:spPr>
          <a:xfrm>
            <a:off x="4553712" y="1828800"/>
            <a:ext cx="2926079" cy="2423160"/>
          </a:xfrm>
          <a:prstGeom prst="rect">
            <a:avLst/>
          </a:prstGeom>
          <a:noFill/>
        </p:spPr>
        <p:txBody>
          <a:bodyPr wrap="square">
            <a:spAutoFit/>
          </a:bodyPr>
          <a:lstStyle/>
          <a:p>
            <a:pPr>
              <a:defRPr sz="1150" b="0">
                <a:solidFill>
                  <a:srgbClr val="232B32"/>
                </a:solidFill>
                <a:latin typeface="Aptos"/>
              </a:defRPr>
            </a:pPr>
            <a:r>
              <a:rPr sz="1300" b="0">
                <a:solidFill>
                  <a:srgbClr val="2D2D2D"/>
                </a:solidFill>
                <a:latin typeface="Aptos"/>
              </a:rPr>
              <a:t>• Realistic business dataset
• Numerical + categorical data
• Date fields
• Suitable for filtering and statistics
• Large enough for file analysis
• Positive and negative profit values</a:t>
            </a:r>
          </a:p>
        </p:txBody>
      </p:sp>
      <p:sp>
        <p:nvSpPr>
          <p:cNvPr id="15" name="Rounded Rectangle 14"/>
          <p:cNvSpPr/>
          <p:nvPr/>
        </p:nvSpPr>
        <p:spPr>
          <a:xfrm>
            <a:off x="8046720" y="1325880"/>
            <a:ext cx="3246120" cy="4251960"/>
          </a:xfrm>
          <a:prstGeom prst="roundRect">
            <a:avLst/>
          </a:prstGeom>
          <a:solidFill>
            <a:srgbClr val="F4F5F7"/>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46720" y="1325880"/>
            <a:ext cx="64008" cy="4251960"/>
          </a:xfrm>
          <a:prstGeom prst="rect">
            <a:avLst/>
          </a:prstGeom>
          <a:solidFill>
            <a:srgbClr val="9B37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11312" y="1463039"/>
            <a:ext cx="2971800" cy="347472"/>
          </a:xfrm>
          <a:prstGeom prst="rect">
            <a:avLst/>
          </a:prstGeom>
          <a:noFill/>
        </p:spPr>
        <p:txBody>
          <a:bodyPr wrap="square">
            <a:spAutoFit/>
          </a:bodyPr>
          <a:lstStyle/>
          <a:p>
            <a:pPr>
              <a:defRPr sz="1500" b="1">
                <a:solidFill>
                  <a:srgbClr val="143169"/>
                </a:solidFill>
                <a:latin typeface="Aptos"/>
              </a:defRPr>
            </a:pPr>
            <a:r>
              <a:t>Role in our project</a:t>
            </a:r>
          </a:p>
        </p:txBody>
      </p:sp>
      <p:sp>
        <p:nvSpPr>
          <p:cNvPr id="18" name="TextBox 17"/>
          <p:cNvSpPr txBox="1"/>
          <p:nvPr/>
        </p:nvSpPr>
        <p:spPr>
          <a:xfrm>
            <a:off x="8211312" y="1828800"/>
            <a:ext cx="2926079" cy="2423160"/>
          </a:xfrm>
          <a:prstGeom prst="rect">
            <a:avLst/>
          </a:prstGeom>
          <a:noFill/>
        </p:spPr>
        <p:txBody>
          <a:bodyPr wrap="square">
            <a:spAutoFit/>
          </a:bodyPr>
          <a:lstStyle/>
          <a:p>
            <a:pPr>
              <a:defRPr sz="1150" b="0">
                <a:solidFill>
                  <a:srgbClr val="232B32"/>
                </a:solidFill>
                <a:latin typeface="Aptos"/>
              </a:defRPr>
            </a:pPr>
            <a:r>
              <a:rPr sz="1300" b="0">
                <a:solidFill>
                  <a:srgbClr val="2D2D2D"/>
                </a:solidFill>
                <a:latin typeface="Aptos"/>
              </a:rPr>
              <a:t>Superstore is the primary CSV used to demonstrate the analyzer.
Current format:
CSV
Planned formats:
Excel • JSON • TXT
Workflow uses Pandas and NumPy.</a:t>
            </a:r>
          </a:p>
        </p:txBody>
      </p:sp>
      <p:sp>
        <p:nvSpPr>
          <p:cNvPr id="19" name="TextBox 18"/>
          <p:cNvSpPr txBox="1"/>
          <p:nvPr/>
        </p:nvSpPr>
        <p:spPr>
          <a:xfrm>
            <a:off x="11064240" y="6172200"/>
            <a:ext cx="411480" cy="274320"/>
          </a:xfrm>
          <a:prstGeom prst="rect">
            <a:avLst/>
          </a:prstGeom>
          <a:noFill/>
        </p:spPr>
        <p:txBody>
          <a:bodyPr wrap="none">
            <a:spAutoFit/>
          </a:bodyPr>
          <a:lstStyle/>
          <a:p>
            <a:r>
              <a:t>6</a:t>
            </a:r>
          </a:p>
        </p:txBody>
      </p:sp>
      <p:sp>
        <p:nvSpPr>
          <p:cNvPr id="20" name="TextBox 19"/>
          <p:cNvSpPr txBox="1"/>
          <p:nvPr/>
        </p:nvSpPr>
        <p:spPr>
          <a:xfrm>
            <a:off x="896112" y="4407408"/>
            <a:ext cx="2743200" cy="274320"/>
          </a:xfrm>
          <a:prstGeom prst="rect">
            <a:avLst/>
          </a:prstGeom>
          <a:noFill/>
        </p:spPr>
        <p:txBody>
          <a:bodyPr wrap="none">
            <a:spAutoFit/>
          </a:bodyPr>
          <a:lstStyle/>
          <a:p>
            <a:r>
              <a:rPr sz="1500" b="1">
                <a:solidFill>
                  <a:srgbClr val="E67E22"/>
                </a:solidFill>
                <a:latin typeface="Aptos"/>
              </a:rPr>
              <a:t>DATASET CONSTRAINTS</a:t>
            </a:r>
          </a:p>
        </p:txBody>
      </p:sp>
      <p:graphicFrame>
        <p:nvGraphicFramePr>
          <p:cNvPr id="21" name="Table 20"/>
          <p:cNvGraphicFramePr>
            <a:graphicFrameLocks noGrp="1"/>
          </p:cNvGraphicFramePr>
          <p:nvPr/>
        </p:nvGraphicFramePr>
        <p:xfrm>
          <a:off x="896112" y="4709160"/>
          <a:ext cx="10058400" cy="1234440"/>
        </p:xfrm>
        <a:graphic>
          <a:graphicData uri="http://schemas.openxmlformats.org/drawingml/2006/table">
            <a:tbl>
              <a:tblPr firstRow="1" bandRow="1">
                <a:tableStyleId>{5C22544A-7EE6-4342-B048-85BDC9FD1C3A}</a:tableStyleId>
              </a:tblPr>
              <a:tblGrid>
                <a:gridCol w="2743200"/>
                <a:gridCol w="7315200"/>
              </a:tblGrid>
              <a:tr h="205740">
                <a:tc>
                  <a:txBody>
                    <a:bodyPr/>
                    <a:lstStyle/>
                    <a:p>
                      <a:r>
                        <a:rPr b="1" sz="1100">
                          <a:solidFill>
                            <a:srgbClr val="FFFFFF"/>
                          </a:solidFill>
                          <a:latin typeface="Aptos"/>
                        </a:rPr>
                        <a:t>Constraint</a:t>
                      </a:r>
                    </a:p>
                  </a:txBody>
                  <a:tcPr>
                    <a:solidFill>
                      <a:srgbClr val="E67E22"/>
                    </a:solidFill>
                  </a:tcPr>
                </a:tc>
                <a:tc>
                  <a:txBody>
                    <a:bodyPr/>
                    <a:lstStyle/>
                    <a:p>
                      <a:r>
                        <a:rPr b="1" sz="1100">
                          <a:solidFill>
                            <a:srgbClr val="FFFFFF"/>
                          </a:solidFill>
                          <a:latin typeface="Aptos"/>
                        </a:rPr>
                        <a:t>Impact / Handling</a:t>
                      </a:r>
                    </a:p>
                  </a:txBody>
                  <a:tcPr>
                    <a:solidFill>
                      <a:srgbClr val="E67E22"/>
                    </a:solidFill>
                  </a:tcPr>
                </a:tc>
              </a:tr>
              <a:tr h="205740">
                <a:tc>
                  <a:txBody>
                    <a:bodyPr/>
                    <a:lstStyle/>
                    <a:p>
                      <a:r>
                        <a:rPr sz="850">
                          <a:solidFill>
                            <a:srgbClr val="2D2D2D"/>
                          </a:solidFill>
                          <a:latin typeface="Aptos"/>
                        </a:rPr>
                        <a:t>Current file format</a:t>
                      </a:r>
                    </a:p>
                  </a:txBody>
                  <a:tcPr marL="45720" marR="45720" marT="18288" marB="18288">
                    <a:solidFill>
                      <a:srgbClr val="FFFFFF"/>
                    </a:solidFill>
                  </a:tcPr>
                </a:tc>
                <a:tc>
                  <a:txBody>
                    <a:bodyPr/>
                    <a:lstStyle/>
                    <a:p>
                      <a:r>
                        <a:rPr sz="850">
                          <a:solidFill>
                            <a:srgbClr val="2D2D2D"/>
                          </a:solidFill>
                          <a:latin typeface="Aptos"/>
                        </a:rPr>
                        <a:t>Superstore is currently used as CSV; other formats are planned.</a:t>
                      </a:r>
                    </a:p>
                  </a:txBody>
                  <a:tcPr marL="45720" marR="45720" marT="18288" marB="18288">
                    <a:solidFill>
                      <a:srgbClr val="FFFFFF"/>
                    </a:solidFill>
                  </a:tcPr>
                </a:tc>
              </a:tr>
              <a:tr h="205740">
                <a:tc>
                  <a:txBody>
                    <a:bodyPr/>
                    <a:lstStyle/>
                    <a:p>
                      <a:r>
                        <a:rPr sz="850">
                          <a:solidFill>
                            <a:srgbClr val="2D2D2D"/>
                          </a:solidFill>
                          <a:latin typeface="Aptos"/>
                        </a:rPr>
                        <a:t>Fixed schema</a:t>
                      </a:r>
                    </a:p>
                  </a:txBody>
                  <a:tcPr marL="45720" marR="45720" marT="18288" marB="18288">
                    <a:solidFill>
                      <a:srgbClr val="F5F5F5"/>
                    </a:solidFill>
                  </a:tcPr>
                </a:tc>
                <a:tc>
                  <a:txBody>
                    <a:bodyPr/>
                    <a:lstStyle/>
                    <a:p>
                      <a:r>
                        <a:rPr sz="850">
                          <a:solidFill>
                            <a:srgbClr val="2D2D2D"/>
                          </a:solidFill>
                          <a:latin typeface="Aptos"/>
                        </a:rPr>
                        <a:t>The demonstration dataset has 21 predefined columns.</a:t>
                      </a:r>
                    </a:p>
                  </a:txBody>
                  <a:tcPr marL="45720" marR="45720" marT="18288" marB="18288">
                    <a:solidFill>
                      <a:srgbClr val="F5F5F5"/>
                    </a:solidFill>
                  </a:tcPr>
                </a:tc>
              </a:tr>
              <a:tr h="205740">
                <a:tc>
                  <a:txBody>
                    <a:bodyPr/>
                    <a:lstStyle/>
                    <a:p>
                      <a:r>
                        <a:rPr sz="850">
                          <a:solidFill>
                            <a:srgbClr val="2D2D2D"/>
                          </a:solidFill>
                          <a:latin typeface="Aptos"/>
                        </a:rPr>
                        <a:t>Data scope</a:t>
                      </a:r>
                    </a:p>
                  </a:txBody>
                  <a:tcPr marL="45720" marR="45720" marT="18288" marB="18288">
                    <a:solidFill>
                      <a:srgbClr val="FFFFFF"/>
                    </a:solidFill>
                  </a:tcPr>
                </a:tc>
                <a:tc>
                  <a:txBody>
                    <a:bodyPr/>
                    <a:lstStyle/>
                    <a:p>
                      <a:r>
                        <a:rPr sz="850">
                          <a:solidFill>
                            <a:srgbClr val="2D2D2D"/>
                          </a:solidFill>
                          <a:latin typeface="Aptos"/>
                        </a:rPr>
                        <a:t>The dataset represents U.S. business sales, so findings are limited to this scope.</a:t>
                      </a:r>
                    </a:p>
                  </a:txBody>
                  <a:tcPr marL="45720" marR="45720" marT="18288" marB="18288">
                    <a:solidFill>
                      <a:srgbClr val="FFFFFF"/>
                    </a:solidFill>
                  </a:tcPr>
                </a:tc>
              </a:tr>
              <a:tr h="205740">
                <a:tc>
                  <a:txBody>
                    <a:bodyPr/>
                    <a:lstStyle/>
                    <a:p>
                      <a:r>
                        <a:rPr sz="850">
                          <a:solidFill>
                            <a:srgbClr val="2D2D2D"/>
                          </a:solidFill>
                          <a:latin typeface="Aptos"/>
                        </a:rPr>
                        <a:t>No missing / duplicate rows</a:t>
                      </a:r>
                    </a:p>
                  </a:txBody>
                  <a:tcPr marL="45720" marR="45720" marT="18288" marB="18288">
                    <a:solidFill>
                      <a:srgbClr val="F5F5F5"/>
                    </a:solidFill>
                  </a:tcPr>
                </a:tc>
                <a:tc>
                  <a:txBody>
                    <a:bodyPr/>
                    <a:lstStyle/>
                    <a:p>
                      <a:r>
                        <a:rPr sz="850">
                          <a:solidFill>
                            <a:srgbClr val="2D2D2D"/>
                          </a:solidFill>
                          <a:latin typeface="Aptos"/>
                        </a:rPr>
                        <a:t>The dataset has 0 missing values and 0 duplicate rows; data-cleaning issues are not strongly demonstrated.</a:t>
                      </a:r>
                    </a:p>
                  </a:txBody>
                  <a:tcPr marL="45720" marR="45720" marT="18288" marB="18288">
                    <a:solidFill>
                      <a:srgbClr val="F5F5F5"/>
                    </a:solidFill>
                  </a:tcPr>
                </a:tc>
              </a:tr>
              <a:tr h="205740">
                <a:tc>
                  <a:txBody>
                    <a:bodyPr/>
                    <a:lstStyle/>
                    <a:p>
                      <a:r>
                        <a:rPr sz="850">
                          <a:solidFill>
                            <a:srgbClr val="2D2D2D"/>
                          </a:solidFill>
                          <a:latin typeface="Aptos"/>
                        </a:rPr>
                        <a:t>Encoding dependency</a:t>
                      </a:r>
                    </a:p>
                  </a:txBody>
                  <a:tcPr marL="45720" marR="45720" marT="18288" marB="18288">
                    <a:solidFill>
                      <a:srgbClr val="FFFFFF"/>
                    </a:solidFill>
                  </a:tcPr>
                </a:tc>
                <a:tc>
                  <a:txBody>
                    <a:bodyPr/>
                    <a:lstStyle/>
                    <a:p>
                      <a:r>
                        <a:rPr sz="850">
                          <a:solidFill>
                            <a:srgbClr val="2D2D2D"/>
                          </a:solidFill>
                          <a:latin typeface="Aptos"/>
                        </a:rPr>
                        <a:t>The original UTF-8 read produced an encoding error; latin1 was used for loading.</a:t>
                      </a:r>
                    </a:p>
                  </a:txBody>
                  <a:tcPr marL="45720" marR="45720" marT="18288" marB="18288">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pic>
        <p:nvPicPr>
          <p:cNvPr id="2" name="Picture 1" descr="image.png"/>
          <p:cNvPicPr>
            <a:picLocks noChangeAspect="1"/>
          </p:cNvPicPr>
          <p:nvPr/>
        </p:nvPicPr>
        <p:blipFill>
          <a:blip r:embed="rId2"/>
          <a:srcRect/>
          <a:stretch>
            <a:fillRect/>
          </a:stretch>
        </p:blipFill>
        <p:spPr>
          <a:xfrm>
            <a:off x="320040" y="164592"/>
            <a:ext cx="1417320" cy="191799"/>
          </a:xfrm>
          <a:prstGeom prst="rect">
            <a:avLst/>
          </a:prstGeom>
        </p:spPr>
      </p:pic>
      <p:grpSpPr/>
      <p:sp>
        <p:nvSpPr>
          <p:cNvPr id="3" name="Rounded Rectangle 2"/>
          <p:cNvSpPr/>
          <p:nvPr/>
        </p:nvSpPr>
        <p:spPr>
          <a:xfrm>
            <a:off x="2423160" y="438912"/>
            <a:ext cx="6263640" cy="530352"/>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2487168" y="557784"/>
            <a:ext cx="6144768" cy="475488"/>
          </a:xfrm>
          <a:prstGeom prst="roundRect">
            <a:avLst/>
          </a:prstGeom>
          <a:solidFill>
            <a:srgbClr val="46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2423160" y="438912"/>
            <a:ext cx="6263640" cy="530352"/>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png"/>
          <p:cNvPicPr>
            <a:picLocks noChangeAspect="1"/>
          </p:cNvPicPr>
          <p:nvPr/>
        </p:nvPicPr>
        <p:blipFill>
          <a:blip r:embed="rId3"/>
          <a:srcRect/>
          <a:stretch>
            <a:fillRect/>
          </a:stretch>
        </p:blipFill>
        <p:spPr>
          <a:xfrm>
            <a:off x="594360" y="1325880"/>
            <a:ext cx="6629400" cy="3740713"/>
          </a:xfrm>
          <a:prstGeom prst="rect">
            <a:avLst/>
          </a:prstGeom>
        </p:spPr>
      </p:pic>
      <p:sp>
        <p:nvSpPr>
          <p:cNvPr id="6" name="TextBox 5"/>
          <p:cNvSpPr txBox="1"/>
          <p:nvPr/>
        </p:nvSpPr>
        <p:spPr>
          <a:xfrm>
            <a:off x="2514600" y="530352"/>
            <a:ext cx="6080760" cy="347472"/>
          </a:xfrm>
          <a:prstGeom prst="rect">
            <a:avLst/>
          </a:prstGeom>
          <a:noFill/>
        </p:spPr>
        <p:txBody>
          <a:bodyPr wrap="none">
            <a:spAutoFit/>
          </a:bodyPr>
          <a:lstStyle/>
          <a:p>
            <a:pPr algn="ctr">
              <a:defRPr sz="2300" b="1">
                <a:solidFill>
                  <a:srgbClr val="FFFFFF"/>
                </a:solidFill>
                <a:latin typeface="Aptos Display"/>
              </a:defRPr>
            </a:pPr>
            <a:r>
              <a:t>DATA PREPROCESSING</a:t>
            </a:r>
          </a:p>
        </p:txBody>
      </p:sp>
      <p:sp>
        <p:nvSpPr>
          <p:cNvPr id="8" name="TextBox 7"/>
          <p:cNvSpPr txBox="1"/>
          <p:nvPr/>
        </p:nvSpPr>
        <p:spPr>
          <a:xfrm>
            <a:off x="7543800" y="1417320"/>
            <a:ext cx="3383280" cy="320040"/>
          </a:xfrm>
          <a:prstGeom prst="rect">
            <a:avLst/>
          </a:prstGeom>
          <a:noFill/>
        </p:spPr>
        <p:txBody>
          <a:bodyPr wrap="none">
            <a:spAutoFit/>
          </a:bodyPr>
          <a:lstStyle/>
          <a:p>
            <a:pPr>
              <a:defRPr sz="1600" b="1">
                <a:solidFill>
                  <a:srgbClr val="232B32"/>
                </a:solidFill>
                <a:latin typeface="Aptos Display"/>
              </a:defRPr>
            </a:pPr>
            <a:r>
              <a:t>STEPS PERFORMED</a:t>
            </a:r>
          </a:p>
        </p:txBody>
      </p:sp>
      <p:sp>
        <p:nvSpPr>
          <p:cNvPr id="9" name="TextBox 8"/>
          <p:cNvSpPr txBox="1"/>
          <p:nvPr/>
        </p:nvSpPr>
        <p:spPr>
          <a:xfrm>
            <a:off x="7543800" y="1828800"/>
            <a:ext cx="3566160" cy="3566160"/>
          </a:xfrm>
          <a:prstGeom prst="rect">
            <a:avLst/>
          </a:prstGeom>
          <a:noFill/>
        </p:spPr>
        <p:txBody>
          <a:bodyPr wrap="square">
            <a:spAutoFit/>
          </a:bodyPr>
          <a:lstStyle/>
          <a:p>
            <a:pPr>
              <a:spcAft>
                <a:spcPts val="1000"/>
              </a:spcAft>
              <a:defRPr sz="1400">
                <a:solidFill>
                  <a:srgbClr val="232B32"/>
                </a:solidFill>
                <a:latin typeface="Aptos"/>
              </a:defRPr>
            </a:pPr>
            <a:r>
              <a:t>• Load the Kaggle CSV using Pandas.</a:t>
            </a:r>
          </a:p>
          <a:p>
            <a:pPr>
              <a:spcAft>
                <a:spcPts val="1000"/>
              </a:spcAft>
              <a:defRPr sz="1400">
                <a:solidFill>
                  <a:srgbClr val="232B32"/>
                </a:solidFill>
                <a:latin typeface="Aptos"/>
              </a:defRPr>
            </a:pPr>
            <a:r>
              <a:t>• Use latin1 encoding because the original UTF-8 read produced an encoding error.</a:t>
            </a:r>
          </a:p>
          <a:p>
            <a:pPr>
              <a:spcAft>
                <a:spcPts val="1000"/>
              </a:spcAft>
              <a:defRPr sz="1400">
                <a:solidFill>
                  <a:srgbClr val="232B32"/>
                </a:solidFill>
                <a:latin typeface="Aptos"/>
              </a:defRPr>
            </a:pPr>
            <a:r>
              <a:t>• Inspect the first records and dataset structure.</a:t>
            </a:r>
          </a:p>
          <a:p>
            <a:pPr>
              <a:spcAft>
                <a:spcPts val="1000"/>
              </a:spcAft>
              <a:defRPr sz="1400">
                <a:solidFill>
                  <a:srgbClr val="232B32"/>
                </a:solidFill>
                <a:latin typeface="Aptos"/>
              </a:defRPr>
            </a:pPr>
            <a:r>
              <a:t>• Check rows, columns and data types.</a:t>
            </a:r>
          </a:p>
          <a:p>
            <a:pPr>
              <a:spcAft>
                <a:spcPts val="1000"/>
              </a:spcAft>
              <a:defRPr sz="1400">
                <a:solidFill>
                  <a:srgbClr val="232B32"/>
                </a:solidFill>
                <a:latin typeface="Aptos"/>
              </a:defRPr>
            </a:pPr>
            <a:r>
              <a:t>• Convert Order Date and Ship Date to datetime.</a:t>
            </a:r>
          </a:p>
        </p:txBody>
      </p:sp>
      <p:sp>
        <p:nvSpPr>
          <p:cNvPr id="10" name="TextBox 9"/>
          <p:cNvSpPr txBox="1"/>
          <p:nvPr/>
        </p:nvSpPr>
        <p:spPr>
          <a:xfrm>
            <a:off x="594360" y="5577840"/>
            <a:ext cx="6629400" cy="274320"/>
          </a:xfrm>
          <a:prstGeom prst="rect">
            <a:avLst/>
          </a:prstGeom>
          <a:noFill/>
        </p:spPr>
        <p:txBody>
          <a:bodyPr wrap="square">
            <a:spAutoFit/>
          </a:bodyPr>
          <a:lstStyle/>
          <a:p>
            <a:pPr algn="ctr">
              <a:defRPr sz="950" b="0">
                <a:solidFill>
                  <a:srgbClr val="5A5A5A"/>
                </a:solidFill>
                <a:latin typeface="Aptos"/>
              </a:defRPr>
            </a:pPr>
            <a:r>
              <a:t>Actual Google Colab screenshot — dataset loaded with Pandas</a:t>
            </a:r>
          </a:p>
        </p:txBody>
      </p:sp>
      <p:sp>
        <p:nvSpPr>
          <p:cNvPr id="11" name="TextBox 10"/>
          <p:cNvSpPr txBox="1"/>
          <p:nvPr/>
        </p:nvSpPr>
        <p:spPr>
          <a:xfrm>
            <a:off x="11064240" y="6172200"/>
            <a:ext cx="411480" cy="274320"/>
          </a:xfrm>
          <a:prstGeom prst="rect">
            <a:avLst/>
          </a:prstGeom>
          <a:noFill/>
        </p:spPr>
        <p:txBody>
          <a:bodyPr wrap="none">
            <a:spAutoFit/>
          </a:bodyPr>
          <a:lstStyle/>
          <a:p>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pic>
        <p:nvPicPr>
          <p:cNvPr id="2" name="Picture 1" descr="image.png"/>
          <p:cNvPicPr>
            <a:picLocks noChangeAspect="1"/>
          </p:cNvPicPr>
          <p:nvPr/>
        </p:nvPicPr>
        <p:blipFill>
          <a:blip r:embed="rId2"/>
          <a:srcRect/>
          <a:stretch>
            <a:fillRect/>
          </a:stretch>
        </p:blipFill>
        <p:spPr>
          <a:xfrm>
            <a:off x="320040" y="164592"/>
            <a:ext cx="1417320" cy="191799"/>
          </a:xfrm>
          <a:prstGeom prst="rect">
            <a:avLst/>
          </a:prstGeom>
        </p:spPr>
      </p:pic>
      <p:grpSpPr/>
      <p:sp>
        <p:nvSpPr>
          <p:cNvPr id="3" name="Rounded Rectangle 2"/>
          <p:cNvSpPr/>
          <p:nvPr/>
        </p:nvSpPr>
        <p:spPr>
          <a:xfrm>
            <a:off x="2423160" y="438912"/>
            <a:ext cx="6263640" cy="530352"/>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2487168" y="557784"/>
            <a:ext cx="6144768" cy="475488"/>
          </a:xfrm>
          <a:prstGeom prst="roundRect">
            <a:avLst/>
          </a:prstGeom>
          <a:solidFill>
            <a:srgbClr val="46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2423160" y="438912"/>
            <a:ext cx="6263640" cy="530352"/>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png"/>
          <p:cNvPicPr>
            <a:picLocks noChangeAspect="1"/>
          </p:cNvPicPr>
          <p:nvPr/>
        </p:nvPicPr>
        <p:blipFill>
          <a:blip r:embed="rId3"/>
          <a:srcRect/>
          <a:stretch>
            <a:fillRect/>
          </a:stretch>
        </p:blipFill>
        <p:spPr>
          <a:xfrm>
            <a:off x="502920" y="1280160"/>
            <a:ext cx="6812280" cy="4182808"/>
          </a:xfrm>
          <a:prstGeom prst="rect">
            <a:avLst/>
          </a:prstGeom>
        </p:spPr>
      </p:pic>
      <p:sp>
        <p:nvSpPr>
          <p:cNvPr id="6" name="TextBox 5"/>
          <p:cNvSpPr txBox="1"/>
          <p:nvPr/>
        </p:nvSpPr>
        <p:spPr>
          <a:xfrm>
            <a:off x="2514600" y="530352"/>
            <a:ext cx="6080760" cy="347472"/>
          </a:xfrm>
          <a:prstGeom prst="rect">
            <a:avLst/>
          </a:prstGeom>
          <a:noFill/>
        </p:spPr>
        <p:txBody>
          <a:bodyPr wrap="none">
            <a:spAutoFit/>
          </a:bodyPr>
          <a:lstStyle/>
          <a:p>
            <a:pPr algn="ctr">
              <a:defRPr sz="2300" b="1">
                <a:solidFill>
                  <a:srgbClr val="FFFFFF"/>
                </a:solidFill>
                <a:latin typeface="Aptos Display"/>
              </a:defRPr>
            </a:pPr>
            <a:r>
              <a:t>DATA PREPROCESSING RESULTS</a:t>
            </a:r>
          </a:p>
        </p:txBody>
      </p:sp>
      <p:sp>
        <p:nvSpPr>
          <p:cNvPr id="8" name="TextBox 7"/>
          <p:cNvSpPr txBox="1"/>
          <p:nvPr/>
        </p:nvSpPr>
        <p:spPr>
          <a:xfrm>
            <a:off x="7543800" y="1371600"/>
            <a:ext cx="3291840" cy="320040"/>
          </a:xfrm>
          <a:prstGeom prst="rect">
            <a:avLst/>
          </a:prstGeom>
          <a:noFill/>
        </p:spPr>
        <p:txBody>
          <a:bodyPr wrap="none">
            <a:spAutoFit/>
          </a:bodyPr>
          <a:lstStyle/>
          <a:p>
            <a:pPr>
              <a:defRPr sz="1600" b="1">
                <a:solidFill>
                  <a:srgbClr val="232B32"/>
                </a:solidFill>
                <a:latin typeface="Aptos Display"/>
              </a:defRPr>
            </a:pPr>
            <a:r>
              <a:t>VALIDATION RESULTS</a:t>
            </a:r>
          </a:p>
        </p:txBody>
      </p:sp>
      <p:sp>
        <p:nvSpPr>
          <p:cNvPr id="9" name="Rounded Rectangle 8"/>
          <p:cNvSpPr/>
          <p:nvPr/>
        </p:nvSpPr>
        <p:spPr>
          <a:xfrm>
            <a:off x="7452360" y="1783080"/>
            <a:ext cx="3657600" cy="914400"/>
          </a:xfrm>
          <a:prstGeom prst="roundRect">
            <a:avLst/>
          </a:prstGeom>
          <a:solidFill>
            <a:srgbClr val="F4F5F7"/>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452360" y="1783080"/>
            <a:ext cx="64008" cy="91440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616952" y="1920240"/>
            <a:ext cx="3383280" cy="347472"/>
          </a:xfrm>
          <a:prstGeom prst="rect">
            <a:avLst/>
          </a:prstGeom>
          <a:noFill/>
        </p:spPr>
        <p:txBody>
          <a:bodyPr wrap="square">
            <a:spAutoFit/>
          </a:bodyPr>
          <a:lstStyle/>
          <a:p>
            <a:pPr>
              <a:defRPr sz="1500" b="1">
                <a:solidFill>
                  <a:srgbClr val="143169"/>
                </a:solidFill>
                <a:latin typeface="Aptos"/>
              </a:defRPr>
            </a:pPr>
            <a:r>
              <a:t>Dataset size</a:t>
            </a:r>
          </a:p>
        </p:txBody>
      </p:sp>
      <p:sp>
        <p:nvSpPr>
          <p:cNvPr id="12" name="TextBox 11"/>
          <p:cNvSpPr txBox="1"/>
          <p:nvPr/>
        </p:nvSpPr>
        <p:spPr>
          <a:xfrm>
            <a:off x="7616952" y="2350008"/>
            <a:ext cx="3337560" cy="256032"/>
          </a:xfrm>
          <a:prstGeom prst="rect">
            <a:avLst/>
          </a:prstGeom>
          <a:noFill/>
        </p:spPr>
        <p:txBody>
          <a:bodyPr wrap="square">
            <a:spAutoFit/>
          </a:bodyPr>
          <a:lstStyle/>
          <a:p>
            <a:pPr>
              <a:defRPr sz="1150" b="0">
                <a:solidFill>
                  <a:srgbClr val="232B32"/>
                </a:solidFill>
                <a:latin typeface="Aptos"/>
              </a:defRPr>
            </a:pPr>
            <a:r>
              <a:t>9,994 records × 21 columns</a:t>
            </a:r>
          </a:p>
        </p:txBody>
      </p:sp>
      <p:sp>
        <p:nvSpPr>
          <p:cNvPr id="13" name="Rounded Rectangle 12"/>
          <p:cNvSpPr/>
          <p:nvPr/>
        </p:nvSpPr>
        <p:spPr>
          <a:xfrm>
            <a:off x="7452360" y="2880360"/>
            <a:ext cx="3657600" cy="914400"/>
          </a:xfrm>
          <a:prstGeom prst="roundRect">
            <a:avLst/>
          </a:prstGeom>
          <a:solidFill>
            <a:srgbClr val="F4F5F7"/>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452360" y="2880360"/>
            <a:ext cx="64008" cy="914400"/>
          </a:xfrm>
          <a:prstGeom prst="rect">
            <a:avLst/>
          </a:prstGeom>
          <a:solidFill>
            <a:srgbClr val="1E5E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616952" y="3017520"/>
            <a:ext cx="3383280" cy="347472"/>
          </a:xfrm>
          <a:prstGeom prst="rect">
            <a:avLst/>
          </a:prstGeom>
          <a:noFill/>
        </p:spPr>
        <p:txBody>
          <a:bodyPr wrap="square">
            <a:spAutoFit/>
          </a:bodyPr>
          <a:lstStyle/>
          <a:p>
            <a:pPr>
              <a:defRPr sz="1500" b="1">
                <a:solidFill>
                  <a:srgbClr val="143169"/>
                </a:solidFill>
                <a:latin typeface="Aptos"/>
              </a:defRPr>
            </a:pPr>
            <a:r>
              <a:t>Missing values</a:t>
            </a:r>
          </a:p>
        </p:txBody>
      </p:sp>
      <p:sp>
        <p:nvSpPr>
          <p:cNvPr id="16" name="TextBox 15"/>
          <p:cNvSpPr txBox="1"/>
          <p:nvPr/>
        </p:nvSpPr>
        <p:spPr>
          <a:xfrm>
            <a:off x="7616952" y="3447288"/>
            <a:ext cx="3337560" cy="256032"/>
          </a:xfrm>
          <a:prstGeom prst="rect">
            <a:avLst/>
          </a:prstGeom>
          <a:noFill/>
        </p:spPr>
        <p:txBody>
          <a:bodyPr wrap="square">
            <a:spAutoFit/>
          </a:bodyPr>
          <a:lstStyle/>
          <a:p>
            <a:pPr>
              <a:defRPr sz="1150" b="0">
                <a:solidFill>
                  <a:srgbClr val="232B32"/>
                </a:solidFill>
                <a:latin typeface="Aptos"/>
              </a:defRPr>
            </a:pPr>
            <a:r>
              <a:t>0 across all 21 columns</a:t>
            </a:r>
          </a:p>
        </p:txBody>
      </p:sp>
      <p:sp>
        <p:nvSpPr>
          <p:cNvPr id="17" name="Rounded Rectangle 16"/>
          <p:cNvSpPr/>
          <p:nvPr/>
        </p:nvSpPr>
        <p:spPr>
          <a:xfrm>
            <a:off x="7452360" y="3977639"/>
            <a:ext cx="3657600" cy="914400"/>
          </a:xfrm>
          <a:prstGeom prst="roundRect">
            <a:avLst/>
          </a:prstGeom>
          <a:solidFill>
            <a:srgbClr val="F4F5F7"/>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452360" y="3977639"/>
            <a:ext cx="64008" cy="914400"/>
          </a:xfrm>
          <a:prstGeom prst="rect">
            <a:avLst/>
          </a:prstGeom>
          <a:solidFill>
            <a:srgbClr val="9B37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616952" y="4114800"/>
            <a:ext cx="3383280" cy="347472"/>
          </a:xfrm>
          <a:prstGeom prst="rect">
            <a:avLst/>
          </a:prstGeom>
          <a:noFill/>
        </p:spPr>
        <p:txBody>
          <a:bodyPr wrap="square">
            <a:spAutoFit/>
          </a:bodyPr>
          <a:lstStyle/>
          <a:p>
            <a:pPr>
              <a:defRPr sz="1500" b="1">
                <a:solidFill>
                  <a:srgbClr val="143169"/>
                </a:solidFill>
                <a:latin typeface="Aptos"/>
              </a:defRPr>
            </a:pPr>
            <a:r>
              <a:t>Duplicate rows</a:t>
            </a:r>
          </a:p>
        </p:txBody>
      </p:sp>
      <p:sp>
        <p:nvSpPr>
          <p:cNvPr id="20" name="TextBox 19"/>
          <p:cNvSpPr txBox="1"/>
          <p:nvPr/>
        </p:nvSpPr>
        <p:spPr>
          <a:xfrm>
            <a:off x="7616952" y="4544568"/>
            <a:ext cx="3337560" cy="256032"/>
          </a:xfrm>
          <a:prstGeom prst="rect">
            <a:avLst/>
          </a:prstGeom>
          <a:noFill/>
        </p:spPr>
        <p:txBody>
          <a:bodyPr wrap="square">
            <a:spAutoFit/>
          </a:bodyPr>
          <a:lstStyle/>
          <a:p>
            <a:pPr>
              <a:defRPr sz="1150" b="0">
                <a:solidFill>
                  <a:srgbClr val="232B32"/>
                </a:solidFill>
                <a:latin typeface="Aptos"/>
              </a:defRPr>
            </a:pPr>
            <a:r>
              <a:t>0 duplicate rows</a:t>
            </a:r>
          </a:p>
        </p:txBody>
      </p:sp>
      <p:sp>
        <p:nvSpPr>
          <p:cNvPr id="21" name="Rounded Rectangle 20"/>
          <p:cNvSpPr/>
          <p:nvPr/>
        </p:nvSpPr>
        <p:spPr>
          <a:xfrm>
            <a:off x="7452360" y="5074920"/>
            <a:ext cx="3657600" cy="777240"/>
          </a:xfrm>
          <a:prstGeom prst="roundRect">
            <a:avLst/>
          </a:prstGeom>
          <a:solidFill>
            <a:srgbClr val="F4F5F7"/>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452360" y="5074920"/>
            <a:ext cx="64008" cy="77724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616952" y="5212080"/>
            <a:ext cx="3383280" cy="347472"/>
          </a:xfrm>
          <a:prstGeom prst="rect">
            <a:avLst/>
          </a:prstGeom>
          <a:noFill/>
        </p:spPr>
        <p:txBody>
          <a:bodyPr wrap="square">
            <a:spAutoFit/>
          </a:bodyPr>
          <a:lstStyle/>
          <a:p>
            <a:pPr>
              <a:defRPr sz="1500" b="1">
                <a:solidFill>
                  <a:srgbClr val="143169"/>
                </a:solidFill>
                <a:latin typeface="Aptos"/>
              </a:defRPr>
            </a:pPr>
            <a:r>
              <a:t>Date conversion</a:t>
            </a:r>
          </a:p>
        </p:txBody>
      </p:sp>
      <p:sp>
        <p:nvSpPr>
          <p:cNvPr id="24" name="TextBox 23"/>
          <p:cNvSpPr txBox="1"/>
          <p:nvPr/>
        </p:nvSpPr>
        <p:spPr>
          <a:xfrm>
            <a:off x="7616952" y="5641848"/>
            <a:ext cx="3337560" cy="118872"/>
          </a:xfrm>
          <a:prstGeom prst="rect">
            <a:avLst/>
          </a:prstGeom>
          <a:noFill/>
        </p:spPr>
        <p:txBody>
          <a:bodyPr wrap="square">
            <a:spAutoFit/>
          </a:bodyPr>
          <a:lstStyle/>
          <a:p>
            <a:pPr>
              <a:defRPr sz="1150" b="0">
                <a:solidFill>
                  <a:srgbClr val="232B32"/>
                </a:solidFill>
                <a:latin typeface="Aptos"/>
              </a:defRPr>
            </a:pPr>
            <a:r>
              <a:t>2 date columns converted to datetime</a:t>
            </a:r>
          </a:p>
        </p:txBody>
      </p:sp>
      <p:sp>
        <p:nvSpPr>
          <p:cNvPr id="25" name="TextBox 24"/>
          <p:cNvSpPr txBox="1"/>
          <p:nvPr/>
        </p:nvSpPr>
        <p:spPr>
          <a:xfrm>
            <a:off x="502920" y="5715000"/>
            <a:ext cx="6812280" cy="274320"/>
          </a:xfrm>
          <a:prstGeom prst="rect">
            <a:avLst/>
          </a:prstGeom>
          <a:noFill/>
        </p:spPr>
        <p:txBody>
          <a:bodyPr wrap="square">
            <a:spAutoFit/>
          </a:bodyPr>
          <a:lstStyle/>
          <a:p>
            <a:pPr algn="ctr">
              <a:defRPr sz="950" b="0">
                <a:solidFill>
                  <a:srgbClr val="5A5A5A"/>
                </a:solidFill>
                <a:latin typeface="Aptos"/>
              </a:defRPr>
            </a:pPr>
            <a:r>
              <a:t>Actual Google Colab output from df.info()</a:t>
            </a:r>
          </a:p>
        </p:txBody>
      </p:sp>
      <p:sp>
        <p:nvSpPr>
          <p:cNvPr id="26" name="TextBox 25"/>
          <p:cNvSpPr txBox="1"/>
          <p:nvPr/>
        </p:nvSpPr>
        <p:spPr>
          <a:xfrm>
            <a:off x="11064240" y="6172200"/>
            <a:ext cx="411480" cy="274320"/>
          </a:xfrm>
          <a:prstGeom prst="rect">
            <a:avLst/>
          </a:prstGeom>
          <a:noFill/>
        </p:spPr>
        <p:txBody>
          <a:bodyPr wrap="none">
            <a:spAutoFit/>
          </a:bodyPr>
          <a:lstStyle/>
          <a:p>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pic>
        <p:nvPicPr>
          <p:cNvPr id="2" name="Picture 1" descr="image.png"/>
          <p:cNvPicPr>
            <a:picLocks noChangeAspect="1"/>
          </p:cNvPicPr>
          <p:nvPr/>
        </p:nvPicPr>
        <p:blipFill>
          <a:blip r:embed="rId2"/>
          <a:srcRect/>
          <a:stretch>
            <a:fillRect/>
          </a:stretch>
        </p:blipFill>
        <p:spPr>
          <a:xfrm>
            <a:off x="320040" y="164592"/>
            <a:ext cx="1417320" cy="191799"/>
          </a:xfrm>
          <a:prstGeom prst="rect">
            <a:avLst/>
          </a:prstGeom>
        </p:spPr>
      </p:pic>
      <p:grpSpPr/>
      <p:sp>
        <p:nvSpPr>
          <p:cNvPr id="3" name="Rounded Rectangle 2"/>
          <p:cNvSpPr/>
          <p:nvPr/>
        </p:nvSpPr>
        <p:spPr>
          <a:xfrm>
            <a:off x="2423160" y="438912"/>
            <a:ext cx="6263640" cy="530352"/>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2487168" y="557784"/>
            <a:ext cx="6144768" cy="475488"/>
          </a:xfrm>
          <a:prstGeom prst="roundRect">
            <a:avLst/>
          </a:prstGeom>
          <a:solidFill>
            <a:srgbClr val="46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2423160" y="438912"/>
            <a:ext cx="6263640" cy="530352"/>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514600" y="530352"/>
            <a:ext cx="6080760" cy="347472"/>
          </a:xfrm>
          <a:prstGeom prst="rect">
            <a:avLst/>
          </a:prstGeom>
          <a:noFill/>
        </p:spPr>
        <p:txBody>
          <a:bodyPr wrap="none">
            <a:spAutoFit/>
          </a:bodyPr>
          <a:lstStyle/>
          <a:p>
            <a:pPr algn="ctr">
              <a:defRPr sz="2300" b="1">
                <a:solidFill>
                  <a:srgbClr val="FFFFFF"/>
                </a:solidFill>
                <a:latin typeface="Aptos Display"/>
              </a:defRPr>
            </a:pPr>
            <a:r>
              <a:t>METHODOLOGY</a:t>
            </a:r>
          </a:p>
        </p:txBody>
      </p:sp>
      <p:sp>
        <p:nvSpPr>
          <p:cNvPr id="7" name="Oval 6"/>
          <p:cNvSpPr/>
          <p:nvPr/>
        </p:nvSpPr>
        <p:spPr>
          <a:xfrm>
            <a:off x="1097280" y="1508760"/>
            <a:ext cx="502920" cy="5029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1609344"/>
            <a:ext cx="502920" cy="228600"/>
          </a:xfrm>
          <a:prstGeom prst="rect">
            <a:avLst/>
          </a:prstGeom>
          <a:noFill/>
        </p:spPr>
        <p:txBody>
          <a:bodyPr wrap="square">
            <a:spAutoFit/>
          </a:bodyPr>
          <a:lstStyle/>
          <a:p>
            <a:pPr algn="ctr">
              <a:defRPr sz="1200" b="1">
                <a:solidFill>
                  <a:srgbClr val="FFFFFF"/>
                </a:solidFill>
                <a:latin typeface="Aptos"/>
              </a:defRPr>
            </a:pPr>
            <a:r>
              <a:t>1</a:t>
            </a:r>
          </a:p>
        </p:txBody>
      </p:sp>
      <p:sp>
        <p:nvSpPr>
          <p:cNvPr id="9" name="TextBox 8"/>
          <p:cNvSpPr txBox="1"/>
          <p:nvPr/>
        </p:nvSpPr>
        <p:spPr>
          <a:xfrm>
            <a:off x="502920" y="2148840"/>
            <a:ext cx="1691640" cy="320040"/>
          </a:xfrm>
          <a:prstGeom prst="rect">
            <a:avLst/>
          </a:prstGeom>
          <a:noFill/>
        </p:spPr>
        <p:txBody>
          <a:bodyPr wrap="square">
            <a:spAutoFit/>
          </a:bodyPr>
          <a:lstStyle/>
          <a:p>
            <a:pPr algn="ctr">
              <a:defRPr sz="1400" b="1">
                <a:solidFill>
                  <a:srgbClr val="143169"/>
                </a:solidFill>
                <a:latin typeface="Aptos"/>
              </a:defRPr>
            </a:pPr>
            <a:r>
              <a:t>Select File</a:t>
            </a:r>
          </a:p>
        </p:txBody>
      </p:sp>
      <p:sp>
        <p:nvSpPr>
          <p:cNvPr id="10" name="TextBox 9"/>
          <p:cNvSpPr txBox="1"/>
          <p:nvPr/>
        </p:nvSpPr>
        <p:spPr>
          <a:xfrm>
            <a:off x="502920" y="2560320"/>
            <a:ext cx="1691640" cy="594360"/>
          </a:xfrm>
          <a:prstGeom prst="rect">
            <a:avLst/>
          </a:prstGeom>
          <a:noFill/>
        </p:spPr>
        <p:txBody>
          <a:bodyPr wrap="square">
            <a:spAutoFit/>
          </a:bodyPr>
          <a:lstStyle/>
          <a:p>
            <a:pPr algn="ctr">
              <a:defRPr sz="1050" b="0">
                <a:solidFill>
                  <a:srgbClr val="232B32"/>
                </a:solidFill>
                <a:latin typeface="Aptos"/>
              </a:defRPr>
            </a:pPr>
            <a:r>
              <a:t>Kaggle CSV / user file</a:t>
            </a:r>
          </a:p>
        </p:txBody>
      </p:sp>
      <p:sp>
        <p:nvSpPr>
          <p:cNvPr id="11" name="Chevron 10"/>
          <p:cNvSpPr/>
          <p:nvPr/>
        </p:nvSpPr>
        <p:spPr>
          <a:xfrm>
            <a:off x="2194560" y="1828800"/>
            <a:ext cx="228600" cy="320040"/>
          </a:xfrm>
          <a:prstGeom prst="chevron">
            <a:avLst/>
          </a:prstGeom>
          <a:solidFill>
            <a:srgbClr val="B4B4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2971799" y="1508760"/>
            <a:ext cx="502920" cy="5029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971799" y="1609344"/>
            <a:ext cx="502920" cy="228600"/>
          </a:xfrm>
          <a:prstGeom prst="rect">
            <a:avLst/>
          </a:prstGeom>
          <a:noFill/>
        </p:spPr>
        <p:txBody>
          <a:bodyPr wrap="square">
            <a:spAutoFit/>
          </a:bodyPr>
          <a:lstStyle/>
          <a:p>
            <a:pPr algn="ctr">
              <a:defRPr sz="1200" b="1">
                <a:solidFill>
                  <a:srgbClr val="FFFFFF"/>
                </a:solidFill>
                <a:latin typeface="Aptos"/>
              </a:defRPr>
            </a:pPr>
            <a:r>
              <a:t>2</a:t>
            </a:r>
          </a:p>
        </p:txBody>
      </p:sp>
      <p:sp>
        <p:nvSpPr>
          <p:cNvPr id="14" name="TextBox 13"/>
          <p:cNvSpPr txBox="1"/>
          <p:nvPr/>
        </p:nvSpPr>
        <p:spPr>
          <a:xfrm>
            <a:off x="2377439" y="2148840"/>
            <a:ext cx="1691640" cy="320040"/>
          </a:xfrm>
          <a:prstGeom prst="rect">
            <a:avLst/>
          </a:prstGeom>
          <a:noFill/>
        </p:spPr>
        <p:txBody>
          <a:bodyPr wrap="square">
            <a:spAutoFit/>
          </a:bodyPr>
          <a:lstStyle/>
          <a:p>
            <a:pPr algn="ctr">
              <a:defRPr sz="1400" b="1">
                <a:solidFill>
                  <a:srgbClr val="143169"/>
                </a:solidFill>
                <a:latin typeface="Aptos"/>
              </a:defRPr>
            </a:pPr>
            <a:r>
              <a:t>Read File</a:t>
            </a:r>
          </a:p>
        </p:txBody>
      </p:sp>
      <p:sp>
        <p:nvSpPr>
          <p:cNvPr id="15" name="TextBox 14"/>
          <p:cNvSpPr txBox="1"/>
          <p:nvPr/>
        </p:nvSpPr>
        <p:spPr>
          <a:xfrm>
            <a:off x="2377439" y="2560320"/>
            <a:ext cx="1691640" cy="594360"/>
          </a:xfrm>
          <a:prstGeom prst="rect">
            <a:avLst/>
          </a:prstGeom>
          <a:noFill/>
        </p:spPr>
        <p:txBody>
          <a:bodyPr wrap="square">
            <a:spAutoFit/>
          </a:bodyPr>
          <a:lstStyle/>
          <a:p>
            <a:pPr algn="ctr">
              <a:defRPr sz="1050" b="0">
                <a:solidFill>
                  <a:srgbClr val="232B32"/>
                </a:solidFill>
                <a:latin typeface="Aptos"/>
              </a:defRPr>
            </a:pPr>
            <a:r>
              <a:t>Pandas DataFrame</a:t>
            </a:r>
          </a:p>
        </p:txBody>
      </p:sp>
      <p:sp>
        <p:nvSpPr>
          <p:cNvPr id="16" name="Chevron 15"/>
          <p:cNvSpPr/>
          <p:nvPr/>
        </p:nvSpPr>
        <p:spPr>
          <a:xfrm>
            <a:off x="4069079" y="1828800"/>
            <a:ext cx="228600" cy="320040"/>
          </a:xfrm>
          <a:prstGeom prst="chevron">
            <a:avLst/>
          </a:prstGeom>
          <a:solidFill>
            <a:srgbClr val="B4B4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4846320" y="1508760"/>
            <a:ext cx="502920" cy="5029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846320" y="1609344"/>
            <a:ext cx="502920" cy="228600"/>
          </a:xfrm>
          <a:prstGeom prst="rect">
            <a:avLst/>
          </a:prstGeom>
          <a:noFill/>
        </p:spPr>
        <p:txBody>
          <a:bodyPr wrap="square">
            <a:spAutoFit/>
          </a:bodyPr>
          <a:lstStyle/>
          <a:p>
            <a:pPr algn="ctr">
              <a:defRPr sz="1200" b="1">
                <a:solidFill>
                  <a:srgbClr val="FFFFFF"/>
                </a:solidFill>
                <a:latin typeface="Aptos"/>
              </a:defRPr>
            </a:pPr>
            <a:r>
              <a:t>3</a:t>
            </a:r>
          </a:p>
        </p:txBody>
      </p:sp>
      <p:sp>
        <p:nvSpPr>
          <p:cNvPr id="19" name="TextBox 18"/>
          <p:cNvSpPr txBox="1"/>
          <p:nvPr/>
        </p:nvSpPr>
        <p:spPr>
          <a:xfrm>
            <a:off x="4251959" y="2148840"/>
            <a:ext cx="1691640" cy="320040"/>
          </a:xfrm>
          <a:prstGeom prst="rect">
            <a:avLst/>
          </a:prstGeom>
          <a:noFill/>
        </p:spPr>
        <p:txBody>
          <a:bodyPr wrap="square">
            <a:spAutoFit/>
          </a:bodyPr>
          <a:lstStyle/>
          <a:p>
            <a:pPr algn="ctr">
              <a:defRPr sz="1400" b="1">
                <a:solidFill>
                  <a:srgbClr val="143169"/>
                </a:solidFill>
                <a:latin typeface="Aptos"/>
              </a:defRPr>
            </a:pPr>
            <a:r>
              <a:t>Inspect</a:t>
            </a:r>
          </a:p>
        </p:txBody>
      </p:sp>
      <p:sp>
        <p:nvSpPr>
          <p:cNvPr id="20" name="TextBox 19"/>
          <p:cNvSpPr txBox="1"/>
          <p:nvPr/>
        </p:nvSpPr>
        <p:spPr>
          <a:xfrm>
            <a:off x="4251959" y="2560320"/>
            <a:ext cx="1691640" cy="594360"/>
          </a:xfrm>
          <a:prstGeom prst="rect">
            <a:avLst/>
          </a:prstGeom>
          <a:noFill/>
        </p:spPr>
        <p:txBody>
          <a:bodyPr wrap="square">
            <a:spAutoFit/>
          </a:bodyPr>
          <a:lstStyle/>
          <a:p>
            <a:pPr algn="ctr">
              <a:defRPr sz="1050" b="0">
                <a:solidFill>
                  <a:srgbClr val="232B32"/>
                </a:solidFill>
                <a:latin typeface="Aptos"/>
              </a:defRPr>
            </a:pPr>
            <a:r>
              <a:t>Shape • columns • types</a:t>
            </a:r>
          </a:p>
        </p:txBody>
      </p:sp>
      <p:sp>
        <p:nvSpPr>
          <p:cNvPr id="21" name="Chevron 20"/>
          <p:cNvSpPr/>
          <p:nvPr/>
        </p:nvSpPr>
        <p:spPr>
          <a:xfrm>
            <a:off x="5943600" y="1828800"/>
            <a:ext cx="228600" cy="320040"/>
          </a:xfrm>
          <a:prstGeom prst="chevron">
            <a:avLst/>
          </a:prstGeom>
          <a:solidFill>
            <a:srgbClr val="B4B4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6720840" y="1508760"/>
            <a:ext cx="502920" cy="5029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720840" y="1609344"/>
            <a:ext cx="502920" cy="228600"/>
          </a:xfrm>
          <a:prstGeom prst="rect">
            <a:avLst/>
          </a:prstGeom>
          <a:noFill/>
        </p:spPr>
        <p:txBody>
          <a:bodyPr wrap="square">
            <a:spAutoFit/>
          </a:bodyPr>
          <a:lstStyle/>
          <a:p>
            <a:pPr algn="ctr">
              <a:defRPr sz="1200" b="1">
                <a:solidFill>
                  <a:srgbClr val="FFFFFF"/>
                </a:solidFill>
                <a:latin typeface="Aptos"/>
              </a:defRPr>
            </a:pPr>
            <a:r>
              <a:t>4</a:t>
            </a:r>
          </a:p>
        </p:txBody>
      </p:sp>
      <p:sp>
        <p:nvSpPr>
          <p:cNvPr id="24" name="TextBox 23"/>
          <p:cNvSpPr txBox="1"/>
          <p:nvPr/>
        </p:nvSpPr>
        <p:spPr>
          <a:xfrm>
            <a:off x="6126479" y="2148840"/>
            <a:ext cx="1691640" cy="320040"/>
          </a:xfrm>
          <a:prstGeom prst="rect">
            <a:avLst/>
          </a:prstGeom>
          <a:noFill/>
        </p:spPr>
        <p:txBody>
          <a:bodyPr wrap="square">
            <a:spAutoFit/>
          </a:bodyPr>
          <a:lstStyle/>
          <a:p>
            <a:pPr algn="ctr">
              <a:defRPr sz="1400" b="1">
                <a:solidFill>
                  <a:srgbClr val="143169"/>
                </a:solidFill>
                <a:latin typeface="Aptos"/>
              </a:defRPr>
            </a:pPr>
            <a:r>
              <a:t>Preprocess</a:t>
            </a:r>
          </a:p>
        </p:txBody>
      </p:sp>
      <p:sp>
        <p:nvSpPr>
          <p:cNvPr id="25" name="TextBox 24"/>
          <p:cNvSpPr txBox="1"/>
          <p:nvPr/>
        </p:nvSpPr>
        <p:spPr>
          <a:xfrm>
            <a:off x="6126479" y="2560320"/>
            <a:ext cx="1691640" cy="594360"/>
          </a:xfrm>
          <a:prstGeom prst="rect">
            <a:avLst/>
          </a:prstGeom>
          <a:noFill/>
        </p:spPr>
        <p:txBody>
          <a:bodyPr wrap="square">
            <a:spAutoFit/>
          </a:bodyPr>
          <a:lstStyle/>
          <a:p>
            <a:pPr algn="ctr">
              <a:defRPr sz="1050" b="0">
                <a:solidFill>
                  <a:srgbClr val="232B32"/>
                </a:solidFill>
                <a:latin typeface="Aptos"/>
              </a:defRPr>
            </a:pPr>
            <a:r>
              <a:t>Missing • duplicates • dates</a:t>
            </a:r>
          </a:p>
        </p:txBody>
      </p:sp>
      <p:sp>
        <p:nvSpPr>
          <p:cNvPr id="26" name="Chevron 25"/>
          <p:cNvSpPr/>
          <p:nvPr/>
        </p:nvSpPr>
        <p:spPr>
          <a:xfrm>
            <a:off x="7818119" y="1828800"/>
            <a:ext cx="228600" cy="320040"/>
          </a:xfrm>
          <a:prstGeom prst="chevron">
            <a:avLst/>
          </a:prstGeom>
          <a:solidFill>
            <a:srgbClr val="B4B4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8595360" y="1508760"/>
            <a:ext cx="502920" cy="5029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595360" y="1609344"/>
            <a:ext cx="502920" cy="228600"/>
          </a:xfrm>
          <a:prstGeom prst="rect">
            <a:avLst/>
          </a:prstGeom>
          <a:noFill/>
        </p:spPr>
        <p:txBody>
          <a:bodyPr wrap="square">
            <a:spAutoFit/>
          </a:bodyPr>
          <a:lstStyle/>
          <a:p>
            <a:pPr algn="ctr">
              <a:defRPr sz="1200" b="1">
                <a:solidFill>
                  <a:srgbClr val="FFFFFF"/>
                </a:solidFill>
                <a:latin typeface="Aptos"/>
              </a:defRPr>
            </a:pPr>
            <a:r>
              <a:t>5</a:t>
            </a:r>
          </a:p>
        </p:txBody>
      </p:sp>
      <p:sp>
        <p:nvSpPr>
          <p:cNvPr id="29" name="TextBox 28"/>
          <p:cNvSpPr txBox="1"/>
          <p:nvPr/>
        </p:nvSpPr>
        <p:spPr>
          <a:xfrm>
            <a:off x="8001000" y="2148840"/>
            <a:ext cx="1691640" cy="320040"/>
          </a:xfrm>
          <a:prstGeom prst="rect">
            <a:avLst/>
          </a:prstGeom>
          <a:noFill/>
        </p:spPr>
        <p:txBody>
          <a:bodyPr wrap="square">
            <a:spAutoFit/>
          </a:bodyPr>
          <a:lstStyle/>
          <a:p>
            <a:pPr algn="ctr">
              <a:defRPr sz="1400" b="1">
                <a:solidFill>
                  <a:srgbClr val="143169"/>
                </a:solidFill>
                <a:latin typeface="Aptos"/>
              </a:defRPr>
            </a:pPr>
            <a:r>
              <a:t>Analyze</a:t>
            </a:r>
          </a:p>
        </p:txBody>
      </p:sp>
      <p:sp>
        <p:nvSpPr>
          <p:cNvPr id="30" name="TextBox 29"/>
          <p:cNvSpPr txBox="1"/>
          <p:nvPr/>
        </p:nvSpPr>
        <p:spPr>
          <a:xfrm>
            <a:off x="8001000" y="2560320"/>
            <a:ext cx="1691640" cy="594360"/>
          </a:xfrm>
          <a:prstGeom prst="rect">
            <a:avLst/>
          </a:prstGeom>
          <a:noFill/>
        </p:spPr>
        <p:txBody>
          <a:bodyPr wrap="square">
            <a:spAutoFit/>
          </a:bodyPr>
          <a:lstStyle/>
          <a:p>
            <a:pPr algn="ctr">
              <a:defRPr sz="1050" b="0">
                <a:solidFill>
                  <a:srgbClr val="232B32"/>
                </a:solidFill>
                <a:latin typeface="Aptos"/>
              </a:defRPr>
            </a:pPr>
            <a:r>
              <a:t>NumPy + Pandas</a:t>
            </a:r>
          </a:p>
        </p:txBody>
      </p:sp>
      <p:sp>
        <p:nvSpPr>
          <p:cNvPr id="31" name="Chevron 30"/>
          <p:cNvSpPr/>
          <p:nvPr/>
        </p:nvSpPr>
        <p:spPr>
          <a:xfrm>
            <a:off x="9692640" y="1828800"/>
            <a:ext cx="228600" cy="320040"/>
          </a:xfrm>
          <a:prstGeom prst="chevron">
            <a:avLst/>
          </a:prstGeom>
          <a:solidFill>
            <a:srgbClr val="B4B4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0469880" y="1508760"/>
            <a:ext cx="502920" cy="50292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469880" y="1609344"/>
            <a:ext cx="502920" cy="228600"/>
          </a:xfrm>
          <a:prstGeom prst="rect">
            <a:avLst/>
          </a:prstGeom>
          <a:noFill/>
        </p:spPr>
        <p:txBody>
          <a:bodyPr wrap="square">
            <a:spAutoFit/>
          </a:bodyPr>
          <a:lstStyle/>
          <a:p>
            <a:pPr algn="ctr">
              <a:defRPr sz="1200" b="1">
                <a:solidFill>
                  <a:srgbClr val="FFFFFF"/>
                </a:solidFill>
                <a:latin typeface="Aptos"/>
              </a:defRPr>
            </a:pPr>
            <a:r>
              <a:t>6</a:t>
            </a:r>
          </a:p>
        </p:txBody>
      </p:sp>
      <p:sp>
        <p:nvSpPr>
          <p:cNvPr id="34" name="TextBox 33"/>
          <p:cNvSpPr txBox="1"/>
          <p:nvPr/>
        </p:nvSpPr>
        <p:spPr>
          <a:xfrm>
            <a:off x="9875520" y="2148840"/>
            <a:ext cx="1691640" cy="320040"/>
          </a:xfrm>
          <a:prstGeom prst="rect">
            <a:avLst/>
          </a:prstGeom>
          <a:noFill/>
        </p:spPr>
        <p:txBody>
          <a:bodyPr wrap="square">
            <a:spAutoFit/>
          </a:bodyPr>
          <a:lstStyle/>
          <a:p>
            <a:pPr algn="ctr">
              <a:defRPr sz="1400" b="1">
                <a:solidFill>
                  <a:srgbClr val="143169"/>
                </a:solidFill>
                <a:latin typeface="Aptos"/>
              </a:defRPr>
            </a:pPr>
            <a:r>
              <a:t>Report</a:t>
            </a:r>
          </a:p>
        </p:txBody>
      </p:sp>
      <p:sp>
        <p:nvSpPr>
          <p:cNvPr id="35" name="TextBox 34"/>
          <p:cNvSpPr txBox="1"/>
          <p:nvPr/>
        </p:nvSpPr>
        <p:spPr>
          <a:xfrm>
            <a:off x="9875520" y="2560320"/>
            <a:ext cx="1691640" cy="594360"/>
          </a:xfrm>
          <a:prstGeom prst="rect">
            <a:avLst/>
          </a:prstGeom>
          <a:noFill/>
        </p:spPr>
        <p:txBody>
          <a:bodyPr wrap="square">
            <a:spAutoFit/>
          </a:bodyPr>
          <a:lstStyle/>
          <a:p>
            <a:pPr algn="ctr">
              <a:defRPr sz="1050" b="0">
                <a:solidFill>
                  <a:srgbClr val="232B32"/>
                </a:solidFill>
                <a:latin typeface="Aptos"/>
              </a:defRPr>
            </a:pPr>
            <a:r>
              <a:t>Results &amp; insights</a:t>
            </a:r>
          </a:p>
        </p:txBody>
      </p:sp>
      <p:sp>
        <p:nvSpPr>
          <p:cNvPr id="36" name="TextBox 35"/>
          <p:cNvSpPr txBox="1"/>
          <p:nvPr/>
        </p:nvSpPr>
        <p:spPr>
          <a:xfrm>
            <a:off x="1371600" y="3840480"/>
            <a:ext cx="9144000" cy="411480"/>
          </a:xfrm>
          <a:prstGeom prst="rect">
            <a:avLst/>
          </a:prstGeom>
          <a:noFill/>
        </p:spPr>
        <p:txBody>
          <a:bodyPr wrap="square">
            <a:spAutoFit/>
          </a:bodyPr>
          <a:lstStyle/>
          <a:p>
            <a:pPr algn="ctr">
              <a:defRPr sz="1800" b="1">
                <a:solidFill>
                  <a:srgbClr val="9B3730"/>
                </a:solidFill>
                <a:latin typeface="Aptos"/>
              </a:defRPr>
            </a:pPr>
            <a:r>
              <a:t>Current implementation uses only Pandas and NumPy for the analysis layer.</a:t>
            </a:r>
          </a:p>
        </p:txBody>
      </p:sp>
      <p:sp>
        <p:nvSpPr>
          <p:cNvPr id="37" name="TextBox 36"/>
          <p:cNvSpPr txBox="1"/>
          <p:nvPr/>
        </p:nvSpPr>
        <p:spPr>
          <a:xfrm>
            <a:off x="914400" y="4480560"/>
            <a:ext cx="10058400" cy="1463040"/>
          </a:xfrm>
          <a:prstGeom prst="rect">
            <a:avLst/>
          </a:prstGeom>
          <a:noFill/>
        </p:spPr>
        <p:txBody>
          <a:bodyPr wrap="square">
            <a:spAutoFit/>
          </a:bodyPr>
          <a:lstStyle/>
          <a:p>
            <a:pPr>
              <a:spcAft>
                <a:spcPts val="1000"/>
              </a:spcAft>
              <a:defRPr sz="1450">
                <a:solidFill>
                  <a:srgbClr val="232B32"/>
                </a:solidFill>
                <a:latin typeface="Aptos"/>
              </a:defRPr>
            </a:pPr>
            <a:r>
              <a:t>• File handling is separated conceptually from data analysis so the system can be extended to other formats.</a:t>
            </a:r>
          </a:p>
          <a:p>
            <a:pPr>
              <a:spcAft>
                <a:spcPts val="1000"/>
              </a:spcAft>
              <a:defRPr sz="1450">
                <a:solidFill>
                  <a:srgbClr val="232B32"/>
                </a:solidFill>
                <a:latin typeface="Aptos"/>
              </a:defRPr>
            </a:pPr>
            <a:r>
              <a:t>• The current prototype focuses on CSV + Superstore before adding the remaining file types.</a:t>
            </a:r>
          </a:p>
          <a:p>
            <a:pPr>
              <a:spcAft>
                <a:spcPts val="1000"/>
              </a:spcAft>
              <a:defRPr sz="1450">
                <a:solidFill>
                  <a:srgbClr val="232B32"/>
                </a:solidFill>
                <a:latin typeface="Aptos"/>
              </a:defRPr>
            </a:pPr>
            <a:r>
              <a:t>• Outputs are designed to be clear enough for both technical review and project documentation.</a:t>
            </a:r>
          </a:p>
        </p:txBody>
      </p:sp>
      <p:sp>
        <p:nvSpPr>
          <p:cNvPr id="38" name="TextBox 37"/>
          <p:cNvSpPr txBox="1"/>
          <p:nvPr/>
        </p:nvSpPr>
        <p:spPr>
          <a:xfrm>
            <a:off x="11064240" y="6172200"/>
            <a:ext cx="411480" cy="274320"/>
          </a:xfrm>
          <a:prstGeom prst="rect">
            <a:avLst/>
          </a:prstGeom>
          <a:noFill/>
        </p:spPr>
        <p:txBody>
          <a:bodyPr wrap="none">
            <a:spAutoFit/>
          </a:bodyPr>
          <a:lstStyle/>
          <a:p>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pic>
        <p:nvPicPr>
          <p:cNvPr id="2" name="Picture 1" descr="image.png"/>
          <p:cNvPicPr>
            <a:picLocks noChangeAspect="1"/>
          </p:cNvPicPr>
          <p:nvPr/>
        </p:nvPicPr>
        <p:blipFill>
          <a:blip r:embed="rId2"/>
          <a:srcRect/>
          <a:stretch>
            <a:fillRect/>
          </a:stretch>
        </p:blipFill>
        <p:spPr>
          <a:xfrm>
            <a:off x="256032" y="118872"/>
            <a:ext cx="1417320" cy="191799"/>
          </a:xfrm>
          <a:prstGeom prst="rect">
            <a:avLst/>
          </a:prstGeom>
        </p:spPr>
      </p:pic>
      <p:grpSpPr/>
      <p:sp>
        <p:nvSpPr>
          <p:cNvPr id="3" name="Rounded Rectangle 2"/>
          <p:cNvSpPr/>
          <p:nvPr/>
        </p:nvSpPr>
        <p:spPr>
          <a:xfrm>
            <a:off x="1554480" y="662715"/>
            <a:ext cx="9326880" cy="502920"/>
          </a:xfrm>
          <a:prstGeom prst="roundRect">
            <a:avLst/>
          </a:prstGeom>
          <a:solidFill>
            <a:srgbClr val="FF6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673352" y="722151"/>
            <a:ext cx="9144000" cy="384048"/>
          </a:xfrm>
          <a:prstGeom prst="rect">
            <a:avLst/>
          </a:prstGeom>
          <a:noFill/>
        </p:spPr>
        <p:txBody>
          <a:bodyPr wrap="square" lIns="36576" tIns="36576" rIns="36576" bIns="36576" anchor="ctr">
            <a:spAutoFit/>
          </a:bodyPr>
          <a:lstStyle/>
          <a:p>
            <a:pPr algn="ctr"/>
            <a:r>
              <a:rPr sz="2000" b="1">
                <a:solidFill>
                  <a:srgbClr val="FFFFFF"/>
                </a:solidFill>
                <a:latin typeface="Aptos"/>
              </a:rPr>
              <a:t>SYSTEM WORKFLOW</a:t>
            </a:r>
          </a:p>
        </p:txBody>
      </p:sp>
      <p:sp>
        <p:nvSpPr>
          <p:cNvPr id="5" name="TextBox 4"/>
          <p:cNvSpPr txBox="1"/>
          <p:nvPr/>
        </p:nvSpPr>
        <p:spPr>
          <a:xfrm>
            <a:off x="11567160" y="6473952"/>
            <a:ext cx="320040" cy="164592"/>
          </a:xfrm>
          <a:prstGeom prst="rect">
            <a:avLst/>
          </a:prstGeom>
          <a:noFill/>
        </p:spPr>
        <p:txBody>
          <a:bodyPr wrap="square" lIns="36576" tIns="36576" rIns="36576" bIns="36576" anchor="t">
            <a:spAutoFit/>
          </a:bodyPr>
          <a:lstStyle/>
          <a:p>
            <a:r>
              <a:t>10</a:t>
            </a:r>
          </a:p>
        </p:txBody>
      </p:sp>
      <p:sp>
        <p:nvSpPr>
          <p:cNvPr id="6" name="Oval 5"/>
          <p:cNvSpPr/>
          <p:nvPr/>
        </p:nvSpPr>
        <p:spPr>
          <a:xfrm>
            <a:off x="594360" y="1417320"/>
            <a:ext cx="457200" cy="457200"/>
          </a:xfrm>
          <a:prstGeom prst="ellipse">
            <a:avLst/>
          </a:prstGeom>
          <a:solidFill>
            <a:srgbClr val="FF6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499616"/>
            <a:ext cx="457200" cy="228600"/>
          </a:xfrm>
          <a:prstGeom prst="rect">
            <a:avLst/>
          </a:prstGeom>
          <a:noFill/>
        </p:spPr>
        <p:txBody>
          <a:bodyPr wrap="square" lIns="36576" tIns="36576" rIns="36576" bIns="36576" anchor="t">
            <a:spAutoFit/>
          </a:bodyPr>
          <a:lstStyle/>
          <a:p>
            <a:pPr algn="ctr"/>
            <a:r>
              <a:rPr sz="1100" b="1">
                <a:solidFill>
                  <a:srgbClr val="FFFFFF"/>
                </a:solidFill>
                <a:latin typeface="Aptos"/>
              </a:rPr>
              <a:t>1</a:t>
            </a:r>
          </a:p>
        </p:txBody>
      </p:sp>
      <p:sp>
        <p:nvSpPr>
          <p:cNvPr id="8" name="TextBox 7"/>
          <p:cNvSpPr txBox="1"/>
          <p:nvPr/>
        </p:nvSpPr>
        <p:spPr>
          <a:xfrm>
            <a:off x="1143000" y="1417320"/>
            <a:ext cx="1234440" cy="274320"/>
          </a:xfrm>
          <a:prstGeom prst="rect">
            <a:avLst/>
          </a:prstGeom>
          <a:noFill/>
        </p:spPr>
        <p:txBody>
          <a:bodyPr wrap="square" lIns="36576" tIns="36576" rIns="36576" bIns="36576" anchor="t">
            <a:spAutoFit/>
          </a:bodyPr>
          <a:lstStyle/>
          <a:p>
            <a:pPr algn="l"/>
            <a:r>
              <a:rPr sz="1200" b="1">
                <a:solidFill>
                  <a:srgbClr val="183769"/>
                </a:solidFill>
                <a:latin typeface="Aptos"/>
              </a:rPr>
              <a:t>SELECT</a:t>
            </a:r>
          </a:p>
        </p:txBody>
      </p:sp>
      <p:sp>
        <p:nvSpPr>
          <p:cNvPr id="9" name="TextBox 8"/>
          <p:cNvSpPr txBox="1"/>
          <p:nvPr/>
        </p:nvSpPr>
        <p:spPr>
          <a:xfrm>
            <a:off x="1143000" y="1737360"/>
            <a:ext cx="1234440" cy="640080"/>
          </a:xfrm>
          <a:prstGeom prst="rect">
            <a:avLst/>
          </a:prstGeom>
          <a:noFill/>
        </p:spPr>
        <p:txBody>
          <a:bodyPr wrap="square" lIns="36576" tIns="36576" rIns="36576" bIns="36576" anchor="t">
            <a:spAutoFit/>
          </a:bodyPr>
          <a:lstStyle/>
          <a:p>
            <a:pPr algn="l"/>
            <a:r>
              <a:rPr sz="1100" b="0">
                <a:solidFill>
                  <a:srgbClr val="373737"/>
                </a:solidFill>
                <a:latin typeface="Aptos"/>
              </a:rPr>
              <a:t>Upload one or more files</a:t>
            </a:r>
          </a:p>
        </p:txBody>
      </p:sp>
      <p:sp>
        <p:nvSpPr>
          <p:cNvPr id="10" name="TextBox 9"/>
          <p:cNvSpPr txBox="1"/>
          <p:nvPr/>
        </p:nvSpPr>
        <p:spPr>
          <a:xfrm>
            <a:off x="2167128" y="1499616"/>
            <a:ext cx="228600" cy="228600"/>
          </a:xfrm>
          <a:prstGeom prst="rect">
            <a:avLst/>
          </a:prstGeom>
          <a:noFill/>
        </p:spPr>
        <p:txBody>
          <a:bodyPr wrap="square" lIns="36576" tIns="36576" rIns="36576" bIns="36576" anchor="t">
            <a:spAutoFit/>
          </a:bodyPr>
          <a:lstStyle/>
          <a:p>
            <a:pPr algn="ctr"/>
            <a:r>
              <a:rPr sz="1800" b="1">
                <a:solidFill>
                  <a:srgbClr val="6E7882"/>
                </a:solidFill>
                <a:latin typeface="Aptos"/>
              </a:rPr>
              <a:t>→</a:t>
            </a:r>
          </a:p>
        </p:txBody>
      </p:sp>
      <p:sp>
        <p:nvSpPr>
          <p:cNvPr id="11" name="Oval 10"/>
          <p:cNvSpPr/>
          <p:nvPr/>
        </p:nvSpPr>
        <p:spPr>
          <a:xfrm>
            <a:off x="2468879" y="1417320"/>
            <a:ext cx="457200" cy="457200"/>
          </a:xfrm>
          <a:prstGeom prst="ellipse">
            <a:avLst/>
          </a:prstGeom>
          <a:solidFill>
            <a:srgbClr val="FF6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468879" y="1499616"/>
            <a:ext cx="457200" cy="228600"/>
          </a:xfrm>
          <a:prstGeom prst="rect">
            <a:avLst/>
          </a:prstGeom>
          <a:noFill/>
        </p:spPr>
        <p:txBody>
          <a:bodyPr wrap="square" lIns="36576" tIns="36576" rIns="36576" bIns="36576" anchor="t">
            <a:spAutoFit/>
          </a:bodyPr>
          <a:lstStyle/>
          <a:p>
            <a:pPr algn="ctr"/>
            <a:r>
              <a:rPr sz="1100" b="1">
                <a:solidFill>
                  <a:srgbClr val="FFFFFF"/>
                </a:solidFill>
                <a:latin typeface="Aptos"/>
              </a:rPr>
              <a:t>2</a:t>
            </a:r>
          </a:p>
        </p:txBody>
      </p:sp>
      <p:sp>
        <p:nvSpPr>
          <p:cNvPr id="13" name="TextBox 12"/>
          <p:cNvSpPr txBox="1"/>
          <p:nvPr/>
        </p:nvSpPr>
        <p:spPr>
          <a:xfrm>
            <a:off x="3017520" y="1417320"/>
            <a:ext cx="1234440" cy="274320"/>
          </a:xfrm>
          <a:prstGeom prst="rect">
            <a:avLst/>
          </a:prstGeom>
          <a:noFill/>
        </p:spPr>
        <p:txBody>
          <a:bodyPr wrap="square" lIns="36576" tIns="36576" rIns="36576" bIns="36576" anchor="t">
            <a:spAutoFit/>
          </a:bodyPr>
          <a:lstStyle/>
          <a:p>
            <a:pPr algn="l"/>
            <a:r>
              <a:rPr sz="1200" b="1">
                <a:solidFill>
                  <a:srgbClr val="183769"/>
                </a:solidFill>
                <a:latin typeface="Aptos"/>
              </a:rPr>
              <a:t>DETECT</a:t>
            </a:r>
          </a:p>
        </p:txBody>
      </p:sp>
      <p:sp>
        <p:nvSpPr>
          <p:cNvPr id="14" name="TextBox 13"/>
          <p:cNvSpPr txBox="1"/>
          <p:nvPr/>
        </p:nvSpPr>
        <p:spPr>
          <a:xfrm>
            <a:off x="3017520" y="1737360"/>
            <a:ext cx="1234440" cy="640080"/>
          </a:xfrm>
          <a:prstGeom prst="rect">
            <a:avLst/>
          </a:prstGeom>
          <a:noFill/>
        </p:spPr>
        <p:txBody>
          <a:bodyPr wrap="square" lIns="36576" tIns="36576" rIns="36576" bIns="36576" anchor="t">
            <a:spAutoFit/>
          </a:bodyPr>
          <a:lstStyle/>
          <a:p>
            <a:pPr algn="l"/>
            <a:r>
              <a:rPr sz="1100" b="0">
                <a:solidFill>
                  <a:srgbClr val="373737"/>
                </a:solidFill>
                <a:latin typeface="Aptos"/>
              </a:rPr>
              <a:t>Identify file type</a:t>
            </a:r>
          </a:p>
        </p:txBody>
      </p:sp>
      <p:sp>
        <p:nvSpPr>
          <p:cNvPr id="15" name="TextBox 14"/>
          <p:cNvSpPr txBox="1"/>
          <p:nvPr/>
        </p:nvSpPr>
        <p:spPr>
          <a:xfrm>
            <a:off x="4041648" y="1499616"/>
            <a:ext cx="228600" cy="228600"/>
          </a:xfrm>
          <a:prstGeom prst="rect">
            <a:avLst/>
          </a:prstGeom>
          <a:noFill/>
        </p:spPr>
        <p:txBody>
          <a:bodyPr wrap="square" lIns="36576" tIns="36576" rIns="36576" bIns="36576" anchor="t">
            <a:spAutoFit/>
          </a:bodyPr>
          <a:lstStyle/>
          <a:p>
            <a:pPr algn="ctr"/>
            <a:r>
              <a:rPr sz="1800" b="1">
                <a:solidFill>
                  <a:srgbClr val="6E7882"/>
                </a:solidFill>
                <a:latin typeface="Aptos"/>
              </a:rPr>
              <a:t>→</a:t>
            </a:r>
          </a:p>
        </p:txBody>
      </p:sp>
      <p:sp>
        <p:nvSpPr>
          <p:cNvPr id="16" name="Oval 15"/>
          <p:cNvSpPr/>
          <p:nvPr/>
        </p:nvSpPr>
        <p:spPr>
          <a:xfrm>
            <a:off x="4343400" y="1417320"/>
            <a:ext cx="457200" cy="457200"/>
          </a:xfrm>
          <a:prstGeom prst="ellipse">
            <a:avLst/>
          </a:prstGeom>
          <a:solidFill>
            <a:srgbClr val="FF6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343400" y="1499616"/>
            <a:ext cx="457200" cy="228600"/>
          </a:xfrm>
          <a:prstGeom prst="rect">
            <a:avLst/>
          </a:prstGeom>
          <a:noFill/>
        </p:spPr>
        <p:txBody>
          <a:bodyPr wrap="square" lIns="36576" tIns="36576" rIns="36576" bIns="36576" anchor="t">
            <a:spAutoFit/>
          </a:bodyPr>
          <a:lstStyle/>
          <a:p>
            <a:pPr algn="ctr"/>
            <a:r>
              <a:rPr sz="1100" b="1">
                <a:solidFill>
                  <a:srgbClr val="FFFFFF"/>
                </a:solidFill>
                <a:latin typeface="Aptos"/>
              </a:rPr>
              <a:t>3</a:t>
            </a:r>
          </a:p>
        </p:txBody>
      </p:sp>
      <p:sp>
        <p:nvSpPr>
          <p:cNvPr id="18" name="TextBox 17"/>
          <p:cNvSpPr txBox="1"/>
          <p:nvPr/>
        </p:nvSpPr>
        <p:spPr>
          <a:xfrm>
            <a:off x="4892040" y="1417320"/>
            <a:ext cx="1234440" cy="274320"/>
          </a:xfrm>
          <a:prstGeom prst="rect">
            <a:avLst/>
          </a:prstGeom>
          <a:noFill/>
        </p:spPr>
        <p:txBody>
          <a:bodyPr wrap="square" lIns="36576" tIns="36576" rIns="36576" bIns="36576" anchor="t">
            <a:spAutoFit/>
          </a:bodyPr>
          <a:lstStyle/>
          <a:p>
            <a:pPr algn="l"/>
            <a:r>
              <a:rPr sz="1200" b="1">
                <a:solidFill>
                  <a:srgbClr val="183769"/>
                </a:solidFill>
                <a:latin typeface="Aptos"/>
              </a:rPr>
              <a:t>READ</a:t>
            </a:r>
          </a:p>
        </p:txBody>
      </p:sp>
      <p:sp>
        <p:nvSpPr>
          <p:cNvPr id="19" name="TextBox 18"/>
          <p:cNvSpPr txBox="1"/>
          <p:nvPr/>
        </p:nvSpPr>
        <p:spPr>
          <a:xfrm>
            <a:off x="4892040" y="1737360"/>
            <a:ext cx="1234440" cy="640080"/>
          </a:xfrm>
          <a:prstGeom prst="rect">
            <a:avLst/>
          </a:prstGeom>
          <a:noFill/>
        </p:spPr>
        <p:txBody>
          <a:bodyPr wrap="square" lIns="36576" tIns="36576" rIns="36576" bIns="36576" anchor="t">
            <a:spAutoFit/>
          </a:bodyPr>
          <a:lstStyle/>
          <a:p>
            <a:pPr algn="l"/>
            <a:r>
              <a:rPr sz="1100" b="0">
                <a:solidFill>
                  <a:srgbClr val="373737"/>
                </a:solidFill>
                <a:latin typeface="Aptos"/>
              </a:rPr>
              <a:t>Use Pandas / JSON reader</a:t>
            </a:r>
          </a:p>
        </p:txBody>
      </p:sp>
      <p:sp>
        <p:nvSpPr>
          <p:cNvPr id="20" name="TextBox 19"/>
          <p:cNvSpPr txBox="1"/>
          <p:nvPr/>
        </p:nvSpPr>
        <p:spPr>
          <a:xfrm>
            <a:off x="5916168" y="1499616"/>
            <a:ext cx="228600" cy="228600"/>
          </a:xfrm>
          <a:prstGeom prst="rect">
            <a:avLst/>
          </a:prstGeom>
          <a:noFill/>
        </p:spPr>
        <p:txBody>
          <a:bodyPr wrap="square" lIns="36576" tIns="36576" rIns="36576" bIns="36576" anchor="t">
            <a:spAutoFit/>
          </a:bodyPr>
          <a:lstStyle/>
          <a:p>
            <a:pPr algn="ctr"/>
            <a:r>
              <a:rPr sz="1800" b="1">
                <a:solidFill>
                  <a:srgbClr val="6E7882"/>
                </a:solidFill>
                <a:latin typeface="Aptos"/>
              </a:rPr>
              <a:t>→</a:t>
            </a:r>
          </a:p>
        </p:txBody>
      </p:sp>
      <p:sp>
        <p:nvSpPr>
          <p:cNvPr id="21" name="Oval 20"/>
          <p:cNvSpPr/>
          <p:nvPr/>
        </p:nvSpPr>
        <p:spPr>
          <a:xfrm>
            <a:off x="6217920" y="1417320"/>
            <a:ext cx="457200" cy="457200"/>
          </a:xfrm>
          <a:prstGeom prst="ellipse">
            <a:avLst/>
          </a:prstGeom>
          <a:solidFill>
            <a:srgbClr val="FF6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17920" y="1499616"/>
            <a:ext cx="457200" cy="228600"/>
          </a:xfrm>
          <a:prstGeom prst="rect">
            <a:avLst/>
          </a:prstGeom>
          <a:noFill/>
        </p:spPr>
        <p:txBody>
          <a:bodyPr wrap="square" lIns="36576" tIns="36576" rIns="36576" bIns="36576" anchor="t">
            <a:spAutoFit/>
          </a:bodyPr>
          <a:lstStyle/>
          <a:p>
            <a:pPr algn="ctr"/>
            <a:r>
              <a:rPr sz="1100" b="1">
                <a:solidFill>
                  <a:srgbClr val="FFFFFF"/>
                </a:solidFill>
                <a:latin typeface="Aptos"/>
              </a:rPr>
              <a:t>4</a:t>
            </a:r>
          </a:p>
        </p:txBody>
      </p:sp>
      <p:sp>
        <p:nvSpPr>
          <p:cNvPr id="23" name="TextBox 22"/>
          <p:cNvSpPr txBox="1"/>
          <p:nvPr/>
        </p:nvSpPr>
        <p:spPr>
          <a:xfrm>
            <a:off x="6766559" y="1417320"/>
            <a:ext cx="1234440" cy="274320"/>
          </a:xfrm>
          <a:prstGeom prst="rect">
            <a:avLst/>
          </a:prstGeom>
          <a:noFill/>
        </p:spPr>
        <p:txBody>
          <a:bodyPr wrap="square" lIns="36576" tIns="36576" rIns="36576" bIns="36576" anchor="t">
            <a:spAutoFit/>
          </a:bodyPr>
          <a:lstStyle/>
          <a:p>
            <a:pPr algn="l"/>
            <a:r>
              <a:rPr sz="1200" b="1">
                <a:solidFill>
                  <a:srgbClr val="183769"/>
                </a:solidFill>
                <a:latin typeface="Aptos"/>
              </a:rPr>
              <a:t>CHECK</a:t>
            </a:r>
          </a:p>
        </p:txBody>
      </p:sp>
      <p:sp>
        <p:nvSpPr>
          <p:cNvPr id="24" name="TextBox 23"/>
          <p:cNvSpPr txBox="1"/>
          <p:nvPr/>
        </p:nvSpPr>
        <p:spPr>
          <a:xfrm>
            <a:off x="6766559" y="1737360"/>
            <a:ext cx="1234440" cy="640080"/>
          </a:xfrm>
          <a:prstGeom prst="rect">
            <a:avLst/>
          </a:prstGeom>
          <a:noFill/>
        </p:spPr>
        <p:txBody>
          <a:bodyPr wrap="square" lIns="36576" tIns="36576" rIns="36576" bIns="36576" anchor="t">
            <a:spAutoFit/>
          </a:bodyPr>
          <a:lstStyle/>
          <a:p>
            <a:pPr algn="l"/>
            <a:r>
              <a:rPr sz="1100" b="0">
                <a:solidFill>
                  <a:srgbClr val="373737"/>
                </a:solidFill>
                <a:latin typeface="Aptos"/>
              </a:rPr>
              <a:t>Rows, columns, missing values</a:t>
            </a:r>
          </a:p>
        </p:txBody>
      </p:sp>
      <p:sp>
        <p:nvSpPr>
          <p:cNvPr id="25" name="TextBox 24"/>
          <p:cNvSpPr txBox="1"/>
          <p:nvPr/>
        </p:nvSpPr>
        <p:spPr>
          <a:xfrm>
            <a:off x="7790688" y="1499616"/>
            <a:ext cx="228600" cy="228600"/>
          </a:xfrm>
          <a:prstGeom prst="rect">
            <a:avLst/>
          </a:prstGeom>
          <a:noFill/>
        </p:spPr>
        <p:txBody>
          <a:bodyPr wrap="square" lIns="36576" tIns="36576" rIns="36576" bIns="36576" anchor="t">
            <a:spAutoFit/>
          </a:bodyPr>
          <a:lstStyle/>
          <a:p>
            <a:pPr algn="ctr"/>
            <a:r>
              <a:rPr sz="1800" b="1">
                <a:solidFill>
                  <a:srgbClr val="6E7882"/>
                </a:solidFill>
                <a:latin typeface="Aptos"/>
              </a:rPr>
              <a:t>→</a:t>
            </a:r>
          </a:p>
        </p:txBody>
      </p:sp>
      <p:sp>
        <p:nvSpPr>
          <p:cNvPr id="26" name="Oval 25"/>
          <p:cNvSpPr/>
          <p:nvPr/>
        </p:nvSpPr>
        <p:spPr>
          <a:xfrm>
            <a:off x="8092440" y="1417320"/>
            <a:ext cx="457200" cy="457200"/>
          </a:xfrm>
          <a:prstGeom prst="ellipse">
            <a:avLst/>
          </a:prstGeom>
          <a:solidFill>
            <a:srgbClr val="FF6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092440" y="1499616"/>
            <a:ext cx="457200" cy="228600"/>
          </a:xfrm>
          <a:prstGeom prst="rect">
            <a:avLst/>
          </a:prstGeom>
          <a:noFill/>
        </p:spPr>
        <p:txBody>
          <a:bodyPr wrap="square" lIns="36576" tIns="36576" rIns="36576" bIns="36576" anchor="t">
            <a:spAutoFit/>
          </a:bodyPr>
          <a:lstStyle/>
          <a:p>
            <a:pPr algn="ctr"/>
            <a:r>
              <a:rPr sz="1100" b="1">
                <a:solidFill>
                  <a:srgbClr val="FFFFFF"/>
                </a:solidFill>
                <a:latin typeface="Aptos"/>
              </a:rPr>
              <a:t>5</a:t>
            </a:r>
          </a:p>
        </p:txBody>
      </p:sp>
      <p:sp>
        <p:nvSpPr>
          <p:cNvPr id="28" name="TextBox 27"/>
          <p:cNvSpPr txBox="1"/>
          <p:nvPr/>
        </p:nvSpPr>
        <p:spPr>
          <a:xfrm>
            <a:off x="8641080" y="1417320"/>
            <a:ext cx="1234440" cy="274320"/>
          </a:xfrm>
          <a:prstGeom prst="rect">
            <a:avLst/>
          </a:prstGeom>
          <a:noFill/>
        </p:spPr>
        <p:txBody>
          <a:bodyPr wrap="square" lIns="36576" tIns="36576" rIns="36576" bIns="36576" anchor="t">
            <a:spAutoFit/>
          </a:bodyPr>
          <a:lstStyle/>
          <a:p>
            <a:pPr algn="l"/>
            <a:r>
              <a:rPr sz="1200" b="1">
                <a:solidFill>
                  <a:srgbClr val="183769"/>
                </a:solidFill>
                <a:latin typeface="Aptos"/>
              </a:rPr>
              <a:t>ANALYZE</a:t>
            </a:r>
          </a:p>
        </p:txBody>
      </p:sp>
      <p:sp>
        <p:nvSpPr>
          <p:cNvPr id="29" name="TextBox 28"/>
          <p:cNvSpPr txBox="1"/>
          <p:nvPr/>
        </p:nvSpPr>
        <p:spPr>
          <a:xfrm>
            <a:off x="8641080" y="1737360"/>
            <a:ext cx="1234440" cy="640080"/>
          </a:xfrm>
          <a:prstGeom prst="rect">
            <a:avLst/>
          </a:prstGeom>
          <a:noFill/>
        </p:spPr>
        <p:txBody>
          <a:bodyPr wrap="square" lIns="36576" tIns="36576" rIns="36576" bIns="36576" anchor="t">
            <a:spAutoFit/>
          </a:bodyPr>
          <a:lstStyle/>
          <a:p>
            <a:pPr algn="l"/>
            <a:r>
              <a:rPr sz="1100" b="0">
                <a:solidFill>
                  <a:srgbClr val="373737"/>
                </a:solidFill>
                <a:latin typeface="Aptos"/>
              </a:rPr>
              <a:t>Words, statistics, filtering</a:t>
            </a:r>
          </a:p>
        </p:txBody>
      </p:sp>
      <p:sp>
        <p:nvSpPr>
          <p:cNvPr id="30" name="TextBox 29"/>
          <p:cNvSpPr txBox="1"/>
          <p:nvPr/>
        </p:nvSpPr>
        <p:spPr>
          <a:xfrm>
            <a:off x="9665208" y="1499616"/>
            <a:ext cx="228600" cy="228600"/>
          </a:xfrm>
          <a:prstGeom prst="rect">
            <a:avLst/>
          </a:prstGeom>
          <a:noFill/>
        </p:spPr>
        <p:txBody>
          <a:bodyPr wrap="square" lIns="36576" tIns="36576" rIns="36576" bIns="36576" anchor="t">
            <a:spAutoFit/>
          </a:bodyPr>
          <a:lstStyle/>
          <a:p>
            <a:pPr algn="ctr"/>
            <a:r>
              <a:rPr sz="1800" b="1">
                <a:solidFill>
                  <a:srgbClr val="6E7882"/>
                </a:solidFill>
                <a:latin typeface="Aptos"/>
              </a:rPr>
              <a:t>→</a:t>
            </a:r>
          </a:p>
        </p:txBody>
      </p:sp>
      <p:sp>
        <p:nvSpPr>
          <p:cNvPr id="31" name="Oval 30"/>
          <p:cNvSpPr/>
          <p:nvPr/>
        </p:nvSpPr>
        <p:spPr>
          <a:xfrm>
            <a:off x="9966960" y="1417320"/>
            <a:ext cx="457200" cy="457200"/>
          </a:xfrm>
          <a:prstGeom prst="ellipse">
            <a:avLst/>
          </a:prstGeom>
          <a:solidFill>
            <a:srgbClr val="FF6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966960" y="1499616"/>
            <a:ext cx="457200" cy="228600"/>
          </a:xfrm>
          <a:prstGeom prst="rect">
            <a:avLst/>
          </a:prstGeom>
          <a:noFill/>
        </p:spPr>
        <p:txBody>
          <a:bodyPr wrap="square" lIns="36576" tIns="36576" rIns="36576" bIns="36576" anchor="t">
            <a:spAutoFit/>
          </a:bodyPr>
          <a:lstStyle/>
          <a:p>
            <a:pPr algn="ctr"/>
            <a:r>
              <a:rPr sz="1100" b="1">
                <a:solidFill>
                  <a:srgbClr val="FFFFFF"/>
                </a:solidFill>
                <a:latin typeface="Aptos"/>
              </a:rPr>
              <a:t>6</a:t>
            </a:r>
          </a:p>
        </p:txBody>
      </p:sp>
      <p:sp>
        <p:nvSpPr>
          <p:cNvPr id="33" name="TextBox 32"/>
          <p:cNvSpPr txBox="1"/>
          <p:nvPr/>
        </p:nvSpPr>
        <p:spPr>
          <a:xfrm>
            <a:off x="10515600" y="1417320"/>
            <a:ext cx="1234440" cy="274320"/>
          </a:xfrm>
          <a:prstGeom prst="rect">
            <a:avLst/>
          </a:prstGeom>
          <a:noFill/>
        </p:spPr>
        <p:txBody>
          <a:bodyPr wrap="square" lIns="36576" tIns="36576" rIns="36576" bIns="36576" anchor="t">
            <a:spAutoFit/>
          </a:bodyPr>
          <a:lstStyle/>
          <a:p>
            <a:pPr algn="l"/>
            <a:r>
              <a:rPr sz="1200" b="1">
                <a:solidFill>
                  <a:srgbClr val="183769"/>
                </a:solidFill>
                <a:latin typeface="Aptos"/>
              </a:rPr>
              <a:t>REPORT</a:t>
            </a:r>
          </a:p>
        </p:txBody>
      </p:sp>
      <p:pic>
        <p:nvPicPr>
          <p:cNvPr id="35" name="Picture 34" descr="image.png"/>
          <p:cNvPicPr>
            <a:picLocks noChangeAspect="1"/>
          </p:cNvPicPr>
          <p:nvPr/>
        </p:nvPicPr>
        <p:blipFill>
          <a:blip r:embed="rId3"/>
          <a:srcRect/>
          <a:stretch>
            <a:fillRect/>
          </a:stretch>
        </p:blipFill>
        <p:spPr>
          <a:xfrm>
            <a:off x="685800" y="2788920"/>
            <a:ext cx="5212080" cy="2468880"/>
          </a:xfrm>
          <a:prstGeom prst="rect">
            <a:avLst/>
          </a:prstGeom>
        </p:spPr>
      </p:pic>
      <p:sp>
        <p:nvSpPr>
          <p:cNvPr id="34" name="TextBox 33"/>
          <p:cNvSpPr txBox="1"/>
          <p:nvPr/>
        </p:nvSpPr>
        <p:spPr>
          <a:xfrm>
            <a:off x="10515600" y="1737360"/>
            <a:ext cx="1234440" cy="640080"/>
          </a:xfrm>
          <a:prstGeom prst="rect">
            <a:avLst/>
          </a:prstGeom>
          <a:noFill/>
        </p:spPr>
        <p:txBody>
          <a:bodyPr wrap="square" lIns="36576" tIns="36576" rIns="36576" bIns="36576" anchor="t">
            <a:spAutoFit/>
          </a:bodyPr>
          <a:lstStyle/>
          <a:p>
            <a:pPr algn="l"/>
            <a:r>
              <a:rPr sz="1100" b="0">
                <a:solidFill>
                  <a:srgbClr val="373737"/>
                </a:solidFill>
                <a:latin typeface="Aptos"/>
              </a:rPr>
              <a:t>Charts + CSV summary</a:t>
            </a:r>
          </a:p>
        </p:txBody>
      </p:sp>
      <p:sp>
        <p:nvSpPr>
          <p:cNvPr id="36" name="Rounded Rectangle 35"/>
          <p:cNvSpPr/>
          <p:nvPr/>
        </p:nvSpPr>
        <p:spPr>
          <a:xfrm>
            <a:off x="6172200" y="2788920"/>
            <a:ext cx="5394960" cy="2468880"/>
          </a:xfrm>
          <a:prstGeom prst="roundRect">
            <a:avLst/>
          </a:prstGeom>
          <a:solidFill>
            <a:srgbClr val="FAFBFC"/>
          </a:solidFill>
          <a:ln>
            <a:solidFill>
              <a:srgbClr val="DC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6172200" y="2788920"/>
            <a:ext cx="64008" cy="2468880"/>
          </a:xfrm>
          <a:prstGeom prst="rect">
            <a:avLst/>
          </a:prstGeom>
          <a:solidFill>
            <a:srgbClr val="197D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336792" y="2898648"/>
            <a:ext cx="5120640" cy="292608"/>
          </a:xfrm>
          <a:prstGeom prst="rect">
            <a:avLst/>
          </a:prstGeom>
          <a:noFill/>
        </p:spPr>
        <p:txBody>
          <a:bodyPr wrap="square" lIns="36576" tIns="36576" rIns="36576" bIns="36576" anchor="t">
            <a:spAutoFit/>
          </a:bodyPr>
          <a:lstStyle/>
          <a:p>
            <a:pPr algn="l"/>
            <a:r>
              <a:rPr sz="1400" b="1">
                <a:solidFill>
                  <a:srgbClr val="183769"/>
                </a:solidFill>
                <a:latin typeface="Aptos"/>
              </a:rPr>
              <a:t>BATCH PROCESSING</a:t>
            </a:r>
          </a:p>
        </p:txBody>
      </p:sp>
      <p:pic>
        <p:nvPicPr>
          <p:cNvPr id="40" name="Picture 39" descr="image.png"/>
          <p:cNvPicPr>
            <a:picLocks noChangeAspect="1"/>
          </p:cNvPicPr>
          <p:nvPr/>
        </p:nvPicPr>
        <p:blipFill>
          <a:blip r:embed="rId2"/>
          <a:srcRect/>
          <a:stretch>
            <a:fillRect/>
          </a:stretch>
        </p:blipFill>
        <p:spPr>
          <a:xfrm>
            <a:off x="256031" y="118872"/>
            <a:ext cx="3151019" cy="426412"/>
          </a:xfrm>
          <a:prstGeom prst="rect">
            <a:avLst/>
          </a:prstGeom>
        </p:spPr>
      </p:pic>
      <p:sp>
        <p:nvSpPr>
          <p:cNvPr id="39" name="TextBox 38"/>
          <p:cNvSpPr txBox="1"/>
          <p:nvPr/>
        </p:nvSpPr>
        <p:spPr>
          <a:xfrm>
            <a:off x="6336792" y="3264408"/>
            <a:ext cx="5120640" cy="1901952"/>
          </a:xfrm>
          <a:prstGeom prst="rect">
            <a:avLst/>
          </a:prstGeom>
          <a:noFill/>
        </p:spPr>
        <p:txBody>
          <a:bodyPr wrap="square" lIns="36576" tIns="36576" rIns="36576" bIns="36576" anchor="t">
            <a:spAutoFit/>
          </a:bodyPr>
          <a:lstStyle/>
          <a:p>
            <a:pPr algn="l"/>
            <a:r>
              <a:rPr sz="1500" b="0">
                <a:solidFill>
                  <a:srgbClr val="373737"/>
                </a:solidFill>
                <a:latin typeface="Aptos"/>
              </a:rPr>
              <a:t>Files are collected with glob patterns, processed according to extension and summarized into a single report. The same workflow can therefore be repeated across multiple uploaded files.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pic>
        <p:nvPicPr>
          <p:cNvPr id="2" name="Picture 1" descr="image.png"/>
          <p:cNvPicPr>
            <a:picLocks noChangeAspect="1"/>
          </p:cNvPicPr>
          <p:nvPr/>
        </p:nvPicPr>
        <p:blipFill>
          <a:blip r:embed="rId2"/>
          <a:srcRect/>
          <a:stretch>
            <a:fillRect/>
          </a:stretch>
        </p:blipFill>
        <p:spPr>
          <a:xfrm>
            <a:off x="320040" y="164592"/>
            <a:ext cx="1417320" cy="191799"/>
          </a:xfrm>
          <a:prstGeom prst="rect">
            <a:avLst/>
          </a:prstGeom>
        </p:spPr>
      </p:pic>
      <p:grpSpPr/>
      <p:sp>
        <p:nvSpPr>
          <p:cNvPr id="3" name="Rounded Rectangle 2"/>
          <p:cNvSpPr/>
          <p:nvPr/>
        </p:nvSpPr>
        <p:spPr>
          <a:xfrm>
            <a:off x="2423160" y="438912"/>
            <a:ext cx="6263640" cy="530352"/>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2487168" y="557784"/>
            <a:ext cx="6144768" cy="475488"/>
          </a:xfrm>
          <a:prstGeom prst="roundRect">
            <a:avLst/>
          </a:prstGeom>
          <a:solidFill>
            <a:srgbClr val="46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2423160" y="438912"/>
            <a:ext cx="6263640" cy="530352"/>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514600" y="530352"/>
            <a:ext cx="6080760" cy="347472"/>
          </a:xfrm>
          <a:prstGeom prst="rect">
            <a:avLst/>
          </a:prstGeom>
          <a:noFill/>
        </p:spPr>
        <p:txBody>
          <a:bodyPr wrap="none">
            <a:spAutoFit/>
          </a:bodyPr>
          <a:lstStyle/>
          <a:p>
            <a:pPr algn="ctr">
              <a:defRPr sz="2300" b="1">
                <a:solidFill>
                  <a:srgbClr val="FFFFFF"/>
                </a:solidFill>
                <a:latin typeface="Aptos Display"/>
              </a:defRPr>
            </a:pPr>
            <a:r>
              <a:t>SYSTEM ARCHITECTURE</a:t>
            </a:r>
          </a:p>
        </p:txBody>
      </p:sp>
      <p:sp>
        <p:nvSpPr>
          <p:cNvPr id="7" name="Rounded Rectangle 6"/>
          <p:cNvSpPr/>
          <p:nvPr/>
        </p:nvSpPr>
        <p:spPr>
          <a:xfrm>
            <a:off x="914400" y="1234440"/>
            <a:ext cx="9966960" cy="594360"/>
          </a:xfrm>
          <a:prstGeom prst="roundRect">
            <a:avLst/>
          </a:prstGeom>
          <a:solidFill>
            <a:srgbClr val="F4F5F7"/>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3000" y="1362456"/>
            <a:ext cx="2057400" cy="274320"/>
          </a:xfrm>
          <a:prstGeom prst="rect">
            <a:avLst/>
          </a:prstGeom>
          <a:noFill/>
        </p:spPr>
        <p:txBody>
          <a:bodyPr wrap="square">
            <a:spAutoFit/>
          </a:bodyPr>
          <a:lstStyle/>
          <a:p>
            <a:pPr>
              <a:defRPr sz="1250" b="1">
                <a:solidFill>
                  <a:srgbClr val="143169"/>
                </a:solidFill>
                <a:latin typeface="Aptos"/>
              </a:defRPr>
            </a:pPr>
            <a:r>
              <a:t>INPUT LAYER</a:t>
            </a:r>
          </a:p>
        </p:txBody>
      </p:sp>
      <p:sp>
        <p:nvSpPr>
          <p:cNvPr id="9" name="TextBox 8"/>
          <p:cNvSpPr txBox="1"/>
          <p:nvPr/>
        </p:nvSpPr>
        <p:spPr>
          <a:xfrm>
            <a:off x="3337560" y="1344168"/>
            <a:ext cx="7178040" cy="320040"/>
          </a:xfrm>
          <a:prstGeom prst="rect">
            <a:avLst/>
          </a:prstGeom>
          <a:noFill/>
        </p:spPr>
        <p:txBody>
          <a:bodyPr wrap="square">
            <a:spAutoFit/>
          </a:bodyPr>
          <a:lstStyle/>
          <a:p>
            <a:pPr>
              <a:defRPr sz="1250" b="0">
                <a:solidFill>
                  <a:srgbClr val="232B32"/>
                </a:solidFill>
                <a:latin typeface="Aptos"/>
              </a:defRPr>
            </a:pPr>
            <a:r>
              <a:t>Kaggle dataset / user-uploaded file</a:t>
            </a:r>
          </a:p>
        </p:txBody>
      </p:sp>
      <p:sp>
        <p:nvSpPr>
          <p:cNvPr id="10" name="Down Arrow 9"/>
          <p:cNvSpPr/>
          <p:nvPr/>
        </p:nvSpPr>
        <p:spPr>
          <a:xfrm>
            <a:off x="5577840" y="1856232"/>
            <a:ext cx="320040" cy="201168"/>
          </a:xfrm>
          <a:prstGeom prst="downArrow">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914400" y="2075688"/>
            <a:ext cx="9966960" cy="594360"/>
          </a:xfrm>
          <a:prstGeom prst="roundRect">
            <a:avLst/>
          </a:prstGeom>
          <a:solidFill>
            <a:srgbClr val="F4F5F7"/>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43000" y="2203704"/>
            <a:ext cx="2057400" cy="274320"/>
          </a:xfrm>
          <a:prstGeom prst="rect">
            <a:avLst/>
          </a:prstGeom>
          <a:noFill/>
        </p:spPr>
        <p:txBody>
          <a:bodyPr wrap="square">
            <a:spAutoFit/>
          </a:bodyPr>
          <a:lstStyle/>
          <a:p>
            <a:pPr>
              <a:defRPr sz="1250" b="1">
                <a:solidFill>
                  <a:srgbClr val="143169"/>
                </a:solidFill>
                <a:latin typeface="Aptos"/>
              </a:defRPr>
            </a:pPr>
            <a:r>
              <a:t>FILE HANDLING</a:t>
            </a:r>
          </a:p>
        </p:txBody>
      </p:sp>
      <p:sp>
        <p:nvSpPr>
          <p:cNvPr id="13" name="TextBox 12"/>
          <p:cNvSpPr txBox="1"/>
          <p:nvPr/>
        </p:nvSpPr>
        <p:spPr>
          <a:xfrm>
            <a:off x="3337560" y="2185416"/>
            <a:ext cx="7178040" cy="320040"/>
          </a:xfrm>
          <a:prstGeom prst="rect">
            <a:avLst/>
          </a:prstGeom>
          <a:noFill/>
        </p:spPr>
        <p:txBody>
          <a:bodyPr wrap="square">
            <a:spAutoFit/>
          </a:bodyPr>
          <a:lstStyle/>
          <a:p>
            <a:pPr>
              <a:defRPr sz="1250" b="0">
                <a:solidFill>
                  <a:srgbClr val="232B32"/>
                </a:solidFill>
                <a:latin typeface="Aptos"/>
              </a:defRPr>
            </a:pPr>
            <a:r>
              <a:t>Detect extension and read the file</a:t>
            </a:r>
          </a:p>
        </p:txBody>
      </p:sp>
      <p:sp>
        <p:nvSpPr>
          <p:cNvPr id="14" name="Down Arrow 13"/>
          <p:cNvSpPr/>
          <p:nvPr/>
        </p:nvSpPr>
        <p:spPr>
          <a:xfrm>
            <a:off x="5577840" y="2697480"/>
            <a:ext cx="320040" cy="201168"/>
          </a:xfrm>
          <a:prstGeom prst="downArrow">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914400" y="2916936"/>
            <a:ext cx="9966960" cy="594360"/>
          </a:xfrm>
          <a:prstGeom prst="roundRect">
            <a:avLst/>
          </a:prstGeom>
          <a:solidFill>
            <a:srgbClr val="F4F5F7"/>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43000" y="3044952"/>
            <a:ext cx="2057400" cy="274320"/>
          </a:xfrm>
          <a:prstGeom prst="rect">
            <a:avLst/>
          </a:prstGeom>
          <a:noFill/>
        </p:spPr>
        <p:txBody>
          <a:bodyPr wrap="square">
            <a:spAutoFit/>
          </a:bodyPr>
          <a:lstStyle/>
          <a:p>
            <a:pPr>
              <a:defRPr sz="1250" b="1">
                <a:solidFill>
                  <a:srgbClr val="143169"/>
                </a:solidFill>
                <a:latin typeface="Aptos"/>
              </a:defRPr>
            </a:pPr>
            <a:r>
              <a:t>PREPROCESSING</a:t>
            </a:r>
          </a:p>
        </p:txBody>
      </p:sp>
      <p:sp>
        <p:nvSpPr>
          <p:cNvPr id="17" name="TextBox 16"/>
          <p:cNvSpPr txBox="1"/>
          <p:nvPr/>
        </p:nvSpPr>
        <p:spPr>
          <a:xfrm>
            <a:off x="3337560" y="3026664"/>
            <a:ext cx="7178040" cy="320040"/>
          </a:xfrm>
          <a:prstGeom prst="rect">
            <a:avLst/>
          </a:prstGeom>
          <a:noFill/>
        </p:spPr>
        <p:txBody>
          <a:bodyPr wrap="square">
            <a:spAutoFit/>
          </a:bodyPr>
          <a:lstStyle/>
          <a:p>
            <a:pPr>
              <a:defRPr sz="1250" b="0">
                <a:solidFill>
                  <a:srgbClr val="232B32"/>
                </a:solidFill>
                <a:latin typeface="Aptos"/>
              </a:defRPr>
            </a:pPr>
            <a:r>
              <a:t>Validate structure, missing values, duplicates and data types</a:t>
            </a:r>
          </a:p>
        </p:txBody>
      </p:sp>
      <p:sp>
        <p:nvSpPr>
          <p:cNvPr id="18" name="Down Arrow 17"/>
          <p:cNvSpPr/>
          <p:nvPr/>
        </p:nvSpPr>
        <p:spPr>
          <a:xfrm>
            <a:off x="5577840" y="3538728"/>
            <a:ext cx="320040" cy="201168"/>
          </a:xfrm>
          <a:prstGeom prst="downArrow">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914400" y="3758184"/>
            <a:ext cx="9966960" cy="594360"/>
          </a:xfrm>
          <a:prstGeom prst="roundRect">
            <a:avLst/>
          </a:prstGeom>
          <a:solidFill>
            <a:srgbClr val="F4F5F7"/>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143000" y="3886200"/>
            <a:ext cx="2057400" cy="274320"/>
          </a:xfrm>
          <a:prstGeom prst="rect">
            <a:avLst/>
          </a:prstGeom>
          <a:noFill/>
        </p:spPr>
        <p:txBody>
          <a:bodyPr wrap="square">
            <a:spAutoFit/>
          </a:bodyPr>
          <a:lstStyle/>
          <a:p>
            <a:pPr>
              <a:defRPr sz="1250" b="1">
                <a:solidFill>
                  <a:srgbClr val="143169"/>
                </a:solidFill>
                <a:latin typeface="Aptos"/>
              </a:defRPr>
            </a:pPr>
            <a:r>
              <a:t>ANALYSIS</a:t>
            </a:r>
          </a:p>
        </p:txBody>
      </p:sp>
      <p:sp>
        <p:nvSpPr>
          <p:cNvPr id="21" name="TextBox 20"/>
          <p:cNvSpPr txBox="1"/>
          <p:nvPr/>
        </p:nvSpPr>
        <p:spPr>
          <a:xfrm>
            <a:off x="3337560" y="3867912"/>
            <a:ext cx="7178040" cy="320040"/>
          </a:xfrm>
          <a:prstGeom prst="rect">
            <a:avLst/>
          </a:prstGeom>
          <a:noFill/>
        </p:spPr>
        <p:txBody>
          <a:bodyPr wrap="square">
            <a:spAutoFit/>
          </a:bodyPr>
          <a:lstStyle/>
          <a:p>
            <a:pPr>
              <a:defRPr sz="1250" b="0">
                <a:solidFill>
                  <a:srgbClr val="232B32"/>
                </a:solidFill>
                <a:latin typeface="Aptos"/>
              </a:defRPr>
            </a:pPr>
            <a:r>
              <a:t>Pandas + NumPy for filtering, statistics and aggregation</a:t>
            </a:r>
          </a:p>
        </p:txBody>
      </p:sp>
      <p:sp>
        <p:nvSpPr>
          <p:cNvPr id="22" name="Down Arrow 21"/>
          <p:cNvSpPr/>
          <p:nvPr/>
        </p:nvSpPr>
        <p:spPr>
          <a:xfrm>
            <a:off x="5577840" y="4379976"/>
            <a:ext cx="320040" cy="201168"/>
          </a:xfrm>
          <a:prstGeom prst="downArrow">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914400" y="4599432"/>
            <a:ext cx="9966960" cy="594360"/>
          </a:xfrm>
          <a:prstGeom prst="roundRect">
            <a:avLst/>
          </a:prstGeom>
          <a:solidFill>
            <a:srgbClr val="F4F5F7"/>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143000" y="4727448"/>
            <a:ext cx="2057400" cy="274320"/>
          </a:xfrm>
          <a:prstGeom prst="rect">
            <a:avLst/>
          </a:prstGeom>
          <a:noFill/>
        </p:spPr>
        <p:txBody>
          <a:bodyPr wrap="square">
            <a:spAutoFit/>
          </a:bodyPr>
          <a:lstStyle/>
          <a:p>
            <a:pPr>
              <a:defRPr sz="1250" b="1">
                <a:solidFill>
                  <a:srgbClr val="143169"/>
                </a:solidFill>
                <a:latin typeface="Aptos"/>
              </a:defRPr>
            </a:pPr>
            <a:r>
              <a:t>OUTPUT</a:t>
            </a:r>
          </a:p>
        </p:txBody>
      </p:sp>
      <p:sp>
        <p:nvSpPr>
          <p:cNvPr id="25" name="TextBox 24"/>
          <p:cNvSpPr txBox="1"/>
          <p:nvPr/>
        </p:nvSpPr>
        <p:spPr>
          <a:xfrm>
            <a:off x="3337560" y="4709160"/>
            <a:ext cx="7178040" cy="320040"/>
          </a:xfrm>
          <a:prstGeom prst="rect">
            <a:avLst/>
          </a:prstGeom>
          <a:noFill/>
        </p:spPr>
        <p:txBody>
          <a:bodyPr wrap="square">
            <a:spAutoFit/>
          </a:bodyPr>
          <a:lstStyle/>
          <a:p>
            <a:pPr>
              <a:defRPr sz="1250" b="0">
                <a:solidFill>
                  <a:srgbClr val="232B32"/>
                </a:solidFill>
                <a:latin typeface="Aptos"/>
              </a:defRPr>
            </a:pPr>
            <a:r>
              <a:t>Dataset summary, filtered results and analytical findings</a:t>
            </a:r>
          </a:p>
        </p:txBody>
      </p:sp>
      <p:sp>
        <p:nvSpPr>
          <p:cNvPr id="26" name="TextBox 25"/>
          <p:cNvSpPr txBox="1"/>
          <p:nvPr/>
        </p:nvSpPr>
        <p:spPr>
          <a:xfrm>
            <a:off x="2560320" y="5486400"/>
            <a:ext cx="6126480" cy="320040"/>
          </a:xfrm>
          <a:prstGeom prst="rect">
            <a:avLst/>
          </a:prstGeom>
          <a:noFill/>
        </p:spPr>
        <p:txBody>
          <a:bodyPr wrap="square">
            <a:spAutoFit/>
          </a:bodyPr>
          <a:lstStyle/>
          <a:p>
            <a:pPr algn="ctr">
              <a:defRPr sz="1500" b="1">
                <a:solidFill>
                  <a:srgbClr val="9B3730"/>
                </a:solidFill>
                <a:latin typeface="Aptos"/>
              </a:defRPr>
            </a:pPr>
            <a:r>
              <a:t>Planned file readers: CSV • Excel • JSON • TXT</a:t>
            </a:r>
          </a:p>
        </p:txBody>
      </p:sp>
      <p:sp>
        <p:nvSpPr>
          <p:cNvPr id="27" name="TextBox 26"/>
          <p:cNvSpPr txBox="1"/>
          <p:nvPr/>
        </p:nvSpPr>
        <p:spPr>
          <a:xfrm>
            <a:off x="11064240" y="6172200"/>
            <a:ext cx="411480" cy="274320"/>
          </a:xfrm>
          <a:prstGeom prst="rect">
            <a:avLst/>
          </a:prstGeom>
          <a:noFill/>
        </p:spPr>
        <p:txBody>
          <a:bodyPr wrap="none">
            <a:spAutoFit/>
          </a:bodyPr>
          <a:lstStyle/>
          <a:p>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pic>
        <p:nvPicPr>
          <p:cNvPr id="2" name="Picture 1" descr="image.png"/>
          <p:cNvPicPr>
            <a:picLocks noChangeAspect="1"/>
          </p:cNvPicPr>
          <p:nvPr/>
        </p:nvPicPr>
        <p:blipFill>
          <a:blip r:embed="rId2"/>
          <a:srcRect/>
          <a:stretch>
            <a:fillRect/>
          </a:stretch>
        </p:blipFill>
        <p:spPr>
          <a:xfrm>
            <a:off x="320040" y="164592"/>
            <a:ext cx="1417320" cy="191799"/>
          </a:xfrm>
          <a:prstGeom prst="rect">
            <a:avLst/>
          </a:prstGeom>
        </p:spPr>
      </p:pic>
      <p:grpSpPr/>
      <p:sp>
        <p:nvSpPr>
          <p:cNvPr id="3" name="Rounded Rectangle 2"/>
          <p:cNvSpPr/>
          <p:nvPr/>
        </p:nvSpPr>
        <p:spPr>
          <a:xfrm>
            <a:off x="2423160" y="438912"/>
            <a:ext cx="6263640" cy="530352"/>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2487168" y="557784"/>
            <a:ext cx="6144768" cy="475488"/>
          </a:xfrm>
          <a:prstGeom prst="roundRect">
            <a:avLst/>
          </a:prstGeom>
          <a:solidFill>
            <a:srgbClr val="46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2423160" y="438912"/>
            <a:ext cx="6263640" cy="530352"/>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png"/>
          <p:cNvPicPr>
            <a:picLocks noChangeAspect="1"/>
          </p:cNvPicPr>
          <p:nvPr/>
        </p:nvPicPr>
        <p:blipFill>
          <a:blip r:embed="rId3"/>
          <a:srcRect/>
          <a:stretch>
            <a:fillRect/>
          </a:stretch>
        </p:blipFill>
        <p:spPr>
          <a:xfrm>
            <a:off x="502920" y="1280160"/>
            <a:ext cx="5486400" cy="1082270"/>
          </a:xfrm>
          <a:prstGeom prst="rect">
            <a:avLst/>
          </a:prstGeom>
        </p:spPr>
      </p:pic>
      <p:pic>
        <p:nvPicPr>
          <p:cNvPr id="8" name="Picture 7" descr="image.png"/>
          <p:cNvPicPr>
            <a:picLocks noChangeAspect="1"/>
          </p:cNvPicPr>
          <p:nvPr/>
        </p:nvPicPr>
        <p:blipFill>
          <a:blip r:embed="rId4"/>
          <a:srcRect/>
          <a:stretch>
            <a:fillRect/>
          </a:stretch>
        </p:blipFill>
        <p:spPr>
          <a:xfrm>
            <a:off x="6172200" y="1280160"/>
            <a:ext cx="5212080" cy="1630773"/>
          </a:xfrm>
          <a:prstGeom prst="rect">
            <a:avLst/>
          </a:prstGeom>
        </p:spPr>
      </p:pic>
      <p:sp>
        <p:nvSpPr>
          <p:cNvPr id="6" name="TextBox 5"/>
          <p:cNvSpPr txBox="1"/>
          <p:nvPr/>
        </p:nvSpPr>
        <p:spPr>
          <a:xfrm>
            <a:off x="2514600" y="530352"/>
            <a:ext cx="6080760" cy="347472"/>
          </a:xfrm>
          <a:prstGeom prst="rect">
            <a:avLst/>
          </a:prstGeom>
          <a:noFill/>
        </p:spPr>
        <p:txBody>
          <a:bodyPr wrap="none">
            <a:spAutoFit/>
          </a:bodyPr>
          <a:lstStyle/>
          <a:p>
            <a:pPr algn="ctr">
              <a:defRPr sz="2300" b="1">
                <a:solidFill>
                  <a:srgbClr val="FFFFFF"/>
                </a:solidFill>
                <a:latin typeface="Aptos Display"/>
              </a:defRPr>
            </a:pPr>
            <a:r>
              <a:t>CURRENT IMPLEMENTATION &amp; CODE EVIDENCE</a:t>
            </a:r>
          </a:p>
        </p:txBody>
      </p:sp>
      <p:sp>
        <p:nvSpPr>
          <p:cNvPr id="9" name="TextBox 8"/>
          <p:cNvSpPr txBox="1"/>
          <p:nvPr/>
        </p:nvSpPr>
        <p:spPr>
          <a:xfrm>
            <a:off x="502920" y="3154680"/>
            <a:ext cx="5486400" cy="274320"/>
          </a:xfrm>
          <a:prstGeom prst="rect">
            <a:avLst/>
          </a:prstGeom>
          <a:noFill/>
        </p:spPr>
        <p:txBody>
          <a:bodyPr wrap="square">
            <a:spAutoFit/>
          </a:bodyPr>
          <a:lstStyle/>
          <a:p>
            <a:pPr algn="ctr">
              <a:defRPr sz="950" b="0">
                <a:solidFill>
                  <a:srgbClr val="5A5A5A"/>
                </a:solidFill>
                <a:latin typeface="Aptos"/>
              </a:defRPr>
            </a:pPr>
            <a:r>
              <a:t>df.shape → (9994, 21)</a:t>
            </a:r>
          </a:p>
        </p:txBody>
      </p:sp>
      <p:sp>
        <p:nvSpPr>
          <p:cNvPr id="10" name="TextBox 9"/>
          <p:cNvSpPr txBox="1"/>
          <p:nvPr/>
        </p:nvSpPr>
        <p:spPr>
          <a:xfrm>
            <a:off x="6172200" y="3154680"/>
            <a:ext cx="5212080" cy="274320"/>
          </a:xfrm>
          <a:prstGeom prst="rect">
            <a:avLst/>
          </a:prstGeom>
          <a:noFill/>
        </p:spPr>
        <p:txBody>
          <a:bodyPr wrap="square">
            <a:spAutoFit/>
          </a:bodyPr>
          <a:lstStyle/>
          <a:p>
            <a:pPr algn="ctr">
              <a:defRPr sz="950" b="0">
                <a:solidFill>
                  <a:srgbClr val="5A5A5A"/>
                </a:solidFill>
                <a:latin typeface="Aptos"/>
              </a:defRPr>
            </a:pPr>
            <a:r>
              <a:t>df.columns → 21 dataset attributes</a:t>
            </a:r>
          </a:p>
        </p:txBody>
      </p:sp>
      <p:sp>
        <p:nvSpPr>
          <p:cNvPr id="11" name="Rounded Rectangle 10"/>
          <p:cNvSpPr/>
          <p:nvPr/>
        </p:nvSpPr>
        <p:spPr>
          <a:xfrm>
            <a:off x="731520" y="3657600"/>
            <a:ext cx="3246120" cy="1508760"/>
          </a:xfrm>
          <a:prstGeom prst="roundRect">
            <a:avLst/>
          </a:prstGeom>
          <a:solidFill>
            <a:srgbClr val="F4F5F7"/>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31520" y="3657600"/>
            <a:ext cx="64008" cy="150876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96112" y="3794760"/>
            <a:ext cx="2971800" cy="347472"/>
          </a:xfrm>
          <a:prstGeom prst="rect">
            <a:avLst/>
          </a:prstGeom>
          <a:noFill/>
        </p:spPr>
        <p:txBody>
          <a:bodyPr wrap="square">
            <a:spAutoFit/>
          </a:bodyPr>
          <a:lstStyle/>
          <a:p>
            <a:pPr>
              <a:defRPr sz="1500" b="1">
                <a:solidFill>
                  <a:srgbClr val="143169"/>
                </a:solidFill>
                <a:latin typeface="Aptos"/>
              </a:defRPr>
            </a:pPr>
            <a:r>
              <a:t>Implemented</a:t>
            </a:r>
          </a:p>
        </p:txBody>
      </p:sp>
      <p:sp>
        <p:nvSpPr>
          <p:cNvPr id="14" name="TextBox 13"/>
          <p:cNvSpPr txBox="1"/>
          <p:nvPr/>
        </p:nvSpPr>
        <p:spPr>
          <a:xfrm>
            <a:off x="896112" y="4224528"/>
            <a:ext cx="2926079" cy="850392"/>
          </a:xfrm>
          <a:prstGeom prst="rect">
            <a:avLst/>
          </a:prstGeom>
          <a:noFill/>
        </p:spPr>
        <p:txBody>
          <a:bodyPr wrap="square">
            <a:spAutoFit/>
          </a:bodyPr>
          <a:lstStyle/>
          <a:p>
            <a:pPr>
              <a:defRPr sz="1150" b="0">
                <a:solidFill>
                  <a:srgbClr val="232B32"/>
                </a:solidFill>
                <a:latin typeface="Aptos"/>
              </a:defRPr>
            </a:pPr>
            <a:r>
              <a:t>CSV loading, file inspection, missing-value check, duplicate check and date conversion.</a:t>
            </a:r>
          </a:p>
        </p:txBody>
      </p:sp>
      <p:sp>
        <p:nvSpPr>
          <p:cNvPr id="15" name="Rounded Rectangle 14"/>
          <p:cNvSpPr/>
          <p:nvPr/>
        </p:nvSpPr>
        <p:spPr>
          <a:xfrm>
            <a:off x="4389120" y="3657600"/>
            <a:ext cx="3246120" cy="1508760"/>
          </a:xfrm>
          <a:prstGeom prst="roundRect">
            <a:avLst/>
          </a:prstGeom>
          <a:solidFill>
            <a:srgbClr val="F4F5F7"/>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389120" y="3657600"/>
            <a:ext cx="64008" cy="1508760"/>
          </a:xfrm>
          <a:prstGeom prst="rect">
            <a:avLst/>
          </a:prstGeom>
          <a:solidFill>
            <a:srgbClr val="1E5E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53712" y="3794760"/>
            <a:ext cx="2971800" cy="347472"/>
          </a:xfrm>
          <a:prstGeom prst="rect">
            <a:avLst/>
          </a:prstGeom>
          <a:noFill/>
        </p:spPr>
        <p:txBody>
          <a:bodyPr wrap="square">
            <a:spAutoFit/>
          </a:bodyPr>
          <a:lstStyle/>
          <a:p>
            <a:pPr>
              <a:defRPr sz="1500" b="1">
                <a:solidFill>
                  <a:srgbClr val="143169"/>
                </a:solidFill>
                <a:latin typeface="Aptos"/>
              </a:defRPr>
            </a:pPr>
            <a:r>
              <a:t>Libraries</a:t>
            </a:r>
          </a:p>
        </p:txBody>
      </p:sp>
      <p:sp>
        <p:nvSpPr>
          <p:cNvPr id="18" name="TextBox 17"/>
          <p:cNvSpPr txBox="1"/>
          <p:nvPr/>
        </p:nvSpPr>
        <p:spPr>
          <a:xfrm>
            <a:off x="4553712" y="4224528"/>
            <a:ext cx="2926079" cy="850392"/>
          </a:xfrm>
          <a:prstGeom prst="rect">
            <a:avLst/>
          </a:prstGeom>
          <a:noFill/>
        </p:spPr>
        <p:txBody>
          <a:bodyPr wrap="square">
            <a:spAutoFit/>
          </a:bodyPr>
          <a:lstStyle/>
          <a:p>
            <a:pPr>
              <a:defRPr sz="1150" b="0">
                <a:solidFill>
                  <a:srgbClr val="232B32"/>
                </a:solidFill>
                <a:latin typeface="Aptos"/>
              </a:defRPr>
            </a:pPr>
            <a:r>
              <a:t>Pandas for file/data operations and NumPy for numerical analysis.</a:t>
            </a:r>
          </a:p>
        </p:txBody>
      </p:sp>
      <p:sp>
        <p:nvSpPr>
          <p:cNvPr id="19" name="Rounded Rectangle 18"/>
          <p:cNvSpPr/>
          <p:nvPr/>
        </p:nvSpPr>
        <p:spPr>
          <a:xfrm>
            <a:off x="8046720" y="3657600"/>
            <a:ext cx="3246120" cy="1508760"/>
          </a:xfrm>
          <a:prstGeom prst="roundRect">
            <a:avLst/>
          </a:prstGeom>
          <a:solidFill>
            <a:srgbClr val="F4F5F7"/>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046720" y="3657600"/>
            <a:ext cx="64008" cy="1508760"/>
          </a:xfrm>
          <a:prstGeom prst="rect">
            <a:avLst/>
          </a:prstGeom>
          <a:solidFill>
            <a:srgbClr val="9B37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11312" y="3794760"/>
            <a:ext cx="2971800" cy="347472"/>
          </a:xfrm>
          <a:prstGeom prst="rect">
            <a:avLst/>
          </a:prstGeom>
          <a:noFill/>
        </p:spPr>
        <p:txBody>
          <a:bodyPr wrap="square">
            <a:spAutoFit/>
          </a:bodyPr>
          <a:lstStyle/>
          <a:p>
            <a:pPr>
              <a:defRPr sz="1500" b="1">
                <a:solidFill>
                  <a:srgbClr val="143169"/>
                </a:solidFill>
                <a:latin typeface="Aptos"/>
              </a:defRPr>
            </a:pPr>
            <a:r>
              <a:t>Next module</a:t>
            </a:r>
          </a:p>
        </p:txBody>
      </p:sp>
      <p:sp>
        <p:nvSpPr>
          <p:cNvPr id="22" name="TextBox 21"/>
          <p:cNvSpPr txBox="1"/>
          <p:nvPr/>
        </p:nvSpPr>
        <p:spPr>
          <a:xfrm>
            <a:off x="8211312" y="4224528"/>
            <a:ext cx="2926079" cy="850392"/>
          </a:xfrm>
          <a:prstGeom prst="rect">
            <a:avLst/>
          </a:prstGeom>
          <a:noFill/>
        </p:spPr>
        <p:txBody>
          <a:bodyPr wrap="square">
            <a:spAutoFit/>
          </a:bodyPr>
          <a:lstStyle/>
          <a:p>
            <a:pPr>
              <a:defRPr sz="1150" b="0">
                <a:solidFill>
                  <a:srgbClr val="232B32"/>
                </a:solidFill>
                <a:latin typeface="Aptos"/>
              </a:defRPr>
            </a:pPr>
            <a:r>
              <a:t>Automatic upload + format detection, followed by filtering and statistical analysis.</a:t>
            </a:r>
          </a:p>
        </p:txBody>
      </p:sp>
      <p:sp>
        <p:nvSpPr>
          <p:cNvPr id="23" name="TextBox 22"/>
          <p:cNvSpPr txBox="1"/>
          <p:nvPr/>
        </p:nvSpPr>
        <p:spPr>
          <a:xfrm>
            <a:off x="11064240" y="6172200"/>
            <a:ext cx="411480" cy="274320"/>
          </a:xfrm>
          <a:prstGeom prst="rect">
            <a:avLst/>
          </a:prstGeom>
          <a:noFill/>
        </p:spPr>
        <p:txBody>
          <a:bodyPr wrap="none">
            <a:spAutoFit/>
          </a:bodyPr>
          <a:lstStyle/>
          <a:p>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pic>
        <p:nvPicPr>
          <p:cNvPr id="2" name="Picture 1" descr="image.png"/>
          <p:cNvPicPr>
            <a:picLocks noChangeAspect="1"/>
          </p:cNvPicPr>
          <p:nvPr/>
        </p:nvPicPr>
        <p:blipFill>
          <a:blip r:embed="rId2"/>
          <a:srcRect/>
          <a:stretch>
            <a:fillRect/>
          </a:stretch>
        </p:blipFill>
        <p:spPr>
          <a:xfrm>
            <a:off x="256032" y="118872"/>
            <a:ext cx="1417320" cy="191799"/>
          </a:xfrm>
          <a:prstGeom prst="rect">
            <a:avLst/>
          </a:prstGeom>
        </p:spPr>
      </p:pic>
      <p:grpSpPr/>
      <p:sp>
        <p:nvSpPr>
          <p:cNvPr id="3" name="Rounded Rectangle 2"/>
          <p:cNvSpPr/>
          <p:nvPr/>
        </p:nvSpPr>
        <p:spPr>
          <a:xfrm>
            <a:off x="1600200" y="617220"/>
            <a:ext cx="9326880" cy="502920"/>
          </a:xfrm>
          <a:prstGeom prst="roundRect">
            <a:avLst/>
          </a:prstGeom>
          <a:solidFill>
            <a:srgbClr val="FF6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TextBox 3"/>
          <p:cNvSpPr txBox="1"/>
          <p:nvPr/>
        </p:nvSpPr>
        <p:spPr>
          <a:xfrm>
            <a:off x="1600200" y="658143"/>
            <a:ext cx="9144000" cy="384048"/>
          </a:xfrm>
          <a:prstGeom prst="rect">
            <a:avLst/>
          </a:prstGeom>
          <a:noFill/>
        </p:spPr>
        <p:txBody>
          <a:bodyPr wrap="square" lIns="36576" tIns="36576" rIns="36576" bIns="36576" anchor="ctr">
            <a:spAutoFit/>
          </a:bodyPr>
          <a:lstStyle/>
          <a:p>
            <a:pPr algn="ctr"/>
            <a:r>
              <a:rPr sz="2000" b="1">
                <a:solidFill>
                  <a:srgbClr val="FFFFFF"/>
                </a:solidFill>
                <a:latin typeface="Aptos"/>
              </a:rPr>
              <a:t>STATISTICAL ANALYSIS</a:t>
            </a:r>
          </a:p>
        </p:txBody>
      </p:sp>
      <p:pic>
        <p:nvPicPr>
          <p:cNvPr id="6" name="Picture 5" descr="image.png"/>
          <p:cNvPicPr>
            <a:picLocks noChangeAspect="1"/>
          </p:cNvPicPr>
          <p:nvPr/>
        </p:nvPicPr>
        <p:blipFill>
          <a:blip r:embed="rId3"/>
          <a:srcRect/>
          <a:stretch>
            <a:fillRect/>
          </a:stretch>
        </p:blipFill>
        <p:spPr>
          <a:xfrm>
            <a:off x="594360" y="1234440"/>
            <a:ext cx="5715000" cy="3474720"/>
          </a:xfrm>
          <a:prstGeom prst="rect">
            <a:avLst/>
          </a:prstGeom>
        </p:spPr>
      </p:pic>
      <p:sp>
        <p:nvSpPr>
          <p:cNvPr id="5" name="TextBox 4"/>
          <p:cNvSpPr txBox="1"/>
          <p:nvPr/>
        </p:nvSpPr>
        <p:spPr>
          <a:xfrm>
            <a:off x="11567160" y="6473952"/>
            <a:ext cx="320040" cy="164592"/>
          </a:xfrm>
          <a:prstGeom prst="rect">
            <a:avLst/>
          </a:prstGeom>
          <a:noFill/>
        </p:spPr>
        <p:txBody>
          <a:bodyPr wrap="square" lIns="36576" tIns="36576" rIns="36576" bIns="36576" anchor="t">
            <a:spAutoFit/>
          </a:bodyPr>
          <a:lstStyle/>
          <a:p>
            <a:r>
              <a:t>13</a:t>
            </a:r>
          </a:p>
        </p:txBody>
      </p:sp>
      <p:sp>
        <p:nvSpPr>
          <p:cNvPr id="7" name="Rounded Rectangle 6"/>
          <p:cNvSpPr/>
          <p:nvPr/>
        </p:nvSpPr>
        <p:spPr>
          <a:xfrm>
            <a:off x="6537960" y="1234440"/>
            <a:ext cx="5212080" cy="3474720"/>
          </a:xfrm>
          <a:prstGeom prst="roundRect">
            <a:avLst/>
          </a:prstGeom>
          <a:solidFill>
            <a:srgbClr val="FAFBFC"/>
          </a:solidFill>
          <a:ln>
            <a:solidFill>
              <a:srgbClr val="DC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537960" y="1234440"/>
            <a:ext cx="64008" cy="3474720"/>
          </a:xfrm>
          <a:prstGeom prst="rect">
            <a:avLst/>
          </a:prstGeom>
          <a:solidFill>
            <a:srgbClr val="FF6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702552" y="1344168"/>
            <a:ext cx="4937760" cy="292608"/>
          </a:xfrm>
          <a:prstGeom prst="rect">
            <a:avLst/>
          </a:prstGeom>
          <a:noFill/>
        </p:spPr>
        <p:txBody>
          <a:bodyPr wrap="square" lIns="36576" tIns="36576" rIns="36576" bIns="36576" anchor="t">
            <a:spAutoFit/>
          </a:bodyPr>
          <a:lstStyle/>
          <a:p>
            <a:pPr algn="l"/>
            <a:r>
              <a:rPr sz="1400" b="1">
                <a:solidFill>
                  <a:srgbClr val="183769"/>
                </a:solidFill>
                <a:latin typeface="Aptos"/>
              </a:rPr>
              <a:t>SUPERSTORE RESULTS</a:t>
            </a:r>
          </a:p>
        </p:txBody>
      </p:sp>
      <p:sp>
        <p:nvSpPr>
          <p:cNvPr id="10" name="TextBox 9"/>
          <p:cNvSpPr txBox="1"/>
          <p:nvPr/>
        </p:nvSpPr>
        <p:spPr>
          <a:xfrm>
            <a:off x="6702552" y="1709928"/>
            <a:ext cx="4937760" cy="2907791"/>
          </a:xfrm>
          <a:prstGeom prst="rect">
            <a:avLst/>
          </a:prstGeom>
          <a:noFill/>
        </p:spPr>
        <p:txBody>
          <a:bodyPr wrap="square" lIns="36576" tIns="36576" rIns="36576" bIns="36576" anchor="t">
            <a:spAutoFit/>
          </a:bodyPr>
          <a:lstStyle/>
          <a:p>
            <a:pPr algn="l"/>
            <a:r>
              <a:rPr sz="1600" b="0">
                <a:solidFill>
                  <a:srgbClr val="373737"/>
                </a:solidFill>
                <a:latin typeface="Aptos"/>
              </a:rPr>
              <a:t>Mean Sales: 229.858</a:t>
            </a:r>
            <a:br/>
            <a:r>
              <a:t>Median Sales: 54.49</a:t>
            </a:r>
            <a:br/>
            <a:r>
              <a:t>Mean Profit: 28.657</a:t>
            </a:r>
            <a:br/>
            <a:r>
              <a:t>Median Profit: 8.667</a:t>
            </a:r>
            <a:br/>
            <a:r>
              <a:t>Sales standard deviation: 623.245</a:t>
            </a:r>
            <a:br/>
            <a:r>
              <a:t>Profit standard deviation: 234.260</a:t>
            </a:r>
          </a:p>
        </p:txBody>
      </p:sp>
      <p:pic>
        <p:nvPicPr>
          <p:cNvPr id="12" name="Picture 11" descr="image.png"/>
          <p:cNvPicPr>
            <a:picLocks noChangeAspect="1"/>
          </p:cNvPicPr>
          <p:nvPr/>
        </p:nvPicPr>
        <p:blipFill>
          <a:blip r:embed="rId2"/>
          <a:srcRect/>
          <a:stretch>
            <a:fillRect/>
          </a:stretch>
        </p:blipFill>
        <p:spPr>
          <a:xfrm>
            <a:off x="256031" y="118872"/>
            <a:ext cx="3151019" cy="426412"/>
          </a:xfrm>
          <a:prstGeom prst="rect">
            <a:avLst/>
          </a:prstGeom>
        </p:spPr>
      </p:pic>
      <p:sp>
        <p:nvSpPr>
          <p:cNvPr id="11" name="TextBox 10"/>
          <p:cNvSpPr txBox="1"/>
          <p:nvPr/>
        </p:nvSpPr>
        <p:spPr>
          <a:xfrm>
            <a:off x="685800" y="5074920"/>
            <a:ext cx="10881360" cy="594360"/>
          </a:xfrm>
          <a:prstGeom prst="rect">
            <a:avLst/>
          </a:prstGeom>
          <a:noFill/>
        </p:spPr>
        <p:txBody>
          <a:bodyPr wrap="square" lIns="36576" tIns="36576" rIns="36576" bIns="36576" anchor="t">
            <a:spAutoFit/>
          </a:bodyPr>
          <a:lstStyle/>
          <a:p>
            <a:pPr algn="ctr"/>
            <a:r>
              <a:rPr sz="1400" b="0">
                <a:solidFill>
                  <a:srgbClr val="373737"/>
                </a:solidFill>
                <a:latin typeface="Aptos"/>
              </a:rPr>
              <a:t>The system identifies numeric columns and calculates descriptive statistics while also reporting dataset dimensions and validation results.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pic>
        <p:nvPicPr>
          <p:cNvPr id="2" name="Picture 1" descr="image.png"/>
          <p:cNvPicPr>
            <a:picLocks noChangeAspect="1"/>
          </p:cNvPicPr>
          <p:nvPr/>
        </p:nvPicPr>
        <p:blipFill>
          <a:blip r:embed="rId2"/>
          <a:srcRect/>
          <a:stretch>
            <a:fillRect/>
          </a:stretch>
        </p:blipFill>
        <p:spPr>
          <a:xfrm>
            <a:off x="256032" y="118872"/>
            <a:ext cx="1417320" cy="191799"/>
          </a:xfrm>
          <a:prstGeom prst="rect">
            <a:avLst/>
          </a:prstGeom>
        </p:spPr>
      </p:pic>
      <p:grpSpPr/>
      <p:sp>
        <p:nvSpPr>
          <p:cNvPr id="3" name="Rounded Rectangle 2"/>
          <p:cNvSpPr/>
          <p:nvPr/>
        </p:nvSpPr>
        <p:spPr>
          <a:xfrm>
            <a:off x="1417320" y="384048"/>
            <a:ext cx="9326880" cy="502920"/>
          </a:xfrm>
          <a:prstGeom prst="roundRect">
            <a:avLst/>
          </a:prstGeom>
          <a:solidFill>
            <a:srgbClr val="FF6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508760" y="429768"/>
            <a:ext cx="9144000" cy="384048"/>
          </a:xfrm>
          <a:prstGeom prst="rect">
            <a:avLst/>
          </a:prstGeom>
          <a:noFill/>
        </p:spPr>
        <p:txBody>
          <a:bodyPr wrap="square" lIns="36576" tIns="36576" rIns="36576" bIns="36576" anchor="ctr">
            <a:spAutoFit/>
          </a:bodyPr>
          <a:lstStyle/>
          <a:p>
            <a:pPr algn="ctr"/>
            <a:r>
              <a:rPr sz="2000" b="1">
                <a:solidFill>
                  <a:srgbClr val="FFFFFF"/>
                </a:solidFill>
                <a:latin typeface="Aptos"/>
              </a:rPr>
              <a:t>WORD COUNT &amp; DATA FILTERING</a:t>
            </a:r>
          </a:p>
        </p:txBody>
      </p:sp>
      <p:pic>
        <p:nvPicPr>
          <p:cNvPr id="6" name="Picture 5" descr="image.png"/>
          <p:cNvPicPr>
            <a:picLocks noChangeAspect="1"/>
          </p:cNvPicPr>
          <p:nvPr/>
        </p:nvPicPr>
        <p:blipFill>
          <a:blip r:embed="rId3"/>
          <a:srcRect/>
          <a:stretch>
            <a:fillRect/>
          </a:stretch>
        </p:blipFill>
        <p:spPr>
          <a:xfrm>
            <a:off x="594360" y="1234440"/>
            <a:ext cx="5394960" cy="4206240"/>
          </a:xfrm>
          <a:prstGeom prst="rect">
            <a:avLst/>
          </a:prstGeom>
        </p:spPr>
      </p:pic>
      <p:sp>
        <p:nvSpPr>
          <p:cNvPr id="5" name="TextBox 4"/>
          <p:cNvSpPr txBox="1"/>
          <p:nvPr/>
        </p:nvSpPr>
        <p:spPr>
          <a:xfrm>
            <a:off x="11567160" y="6473952"/>
            <a:ext cx="320040" cy="164592"/>
          </a:xfrm>
          <a:prstGeom prst="rect">
            <a:avLst/>
          </a:prstGeom>
          <a:noFill/>
        </p:spPr>
        <p:txBody>
          <a:bodyPr wrap="square" lIns="36576" tIns="36576" rIns="36576" bIns="36576" anchor="t">
            <a:spAutoFit/>
          </a:bodyPr>
          <a:lstStyle/>
          <a:p>
            <a:r>
              <a:t>14</a:t>
            </a:r>
          </a:p>
        </p:txBody>
      </p:sp>
      <p:sp>
        <p:nvSpPr>
          <p:cNvPr id="7" name="Rounded Rectangle 6"/>
          <p:cNvSpPr/>
          <p:nvPr/>
        </p:nvSpPr>
        <p:spPr>
          <a:xfrm>
            <a:off x="6217920" y="1234440"/>
            <a:ext cx="5440680" cy="1874519"/>
          </a:xfrm>
          <a:prstGeom prst="roundRect">
            <a:avLst/>
          </a:prstGeom>
          <a:solidFill>
            <a:srgbClr val="FAFBFC"/>
          </a:solidFill>
          <a:ln>
            <a:solidFill>
              <a:srgbClr val="DC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217920" y="1234440"/>
            <a:ext cx="64008" cy="1874519"/>
          </a:xfrm>
          <a:prstGeom prst="rect">
            <a:avLst/>
          </a:prstGeom>
          <a:solidFill>
            <a:srgbClr val="FF6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82512" y="1344168"/>
            <a:ext cx="5166360" cy="292608"/>
          </a:xfrm>
          <a:prstGeom prst="rect">
            <a:avLst/>
          </a:prstGeom>
          <a:noFill/>
        </p:spPr>
        <p:txBody>
          <a:bodyPr wrap="square" lIns="36576" tIns="36576" rIns="36576" bIns="36576" anchor="t">
            <a:spAutoFit/>
          </a:bodyPr>
          <a:lstStyle/>
          <a:p>
            <a:pPr algn="l"/>
            <a:r>
              <a:rPr sz="1400" b="1">
                <a:solidFill>
                  <a:srgbClr val="183769"/>
                </a:solidFill>
                <a:latin typeface="Aptos"/>
              </a:rPr>
              <a:t>WORD COUNT</a:t>
            </a:r>
          </a:p>
        </p:txBody>
      </p:sp>
      <p:sp>
        <p:nvSpPr>
          <p:cNvPr id="10" name="TextBox 9"/>
          <p:cNvSpPr txBox="1"/>
          <p:nvPr/>
        </p:nvSpPr>
        <p:spPr>
          <a:xfrm>
            <a:off x="6382512" y="1709928"/>
            <a:ext cx="5166360" cy="1307591"/>
          </a:xfrm>
          <a:prstGeom prst="rect">
            <a:avLst/>
          </a:prstGeom>
          <a:noFill/>
        </p:spPr>
        <p:txBody>
          <a:bodyPr wrap="square" lIns="36576" tIns="36576" rIns="36576" bIns="36576" anchor="t">
            <a:spAutoFit/>
          </a:bodyPr>
          <a:lstStyle/>
          <a:p>
            <a:pPr algn="l"/>
            <a:r>
              <a:rPr sz="1500" b="0">
                <a:solidFill>
                  <a:srgbClr val="373737"/>
                </a:solidFill>
                <a:latin typeface="Aptos"/>
              </a:rPr>
              <a:t>The CSV text columns produce a total of 333,992 words. This demonstrates that word analysis can be performed on tabular data, not only on standalone text files.</a:t>
            </a:r>
          </a:p>
        </p:txBody>
      </p:sp>
      <p:sp>
        <p:nvSpPr>
          <p:cNvPr id="11" name="Rounded Rectangle 10"/>
          <p:cNvSpPr/>
          <p:nvPr/>
        </p:nvSpPr>
        <p:spPr>
          <a:xfrm>
            <a:off x="6217920" y="3337560"/>
            <a:ext cx="5440680" cy="2103120"/>
          </a:xfrm>
          <a:prstGeom prst="roundRect">
            <a:avLst/>
          </a:prstGeom>
          <a:solidFill>
            <a:srgbClr val="FAFBFC"/>
          </a:solidFill>
          <a:ln>
            <a:solidFill>
              <a:srgbClr val="DC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17920" y="3337560"/>
            <a:ext cx="64008" cy="2103120"/>
          </a:xfrm>
          <a:prstGeom prst="rect">
            <a:avLst/>
          </a:prstGeom>
          <a:solidFill>
            <a:srgbClr val="197D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82512" y="3447288"/>
            <a:ext cx="5166360" cy="292608"/>
          </a:xfrm>
          <a:prstGeom prst="rect">
            <a:avLst/>
          </a:prstGeom>
          <a:noFill/>
        </p:spPr>
        <p:txBody>
          <a:bodyPr wrap="square" lIns="36576" tIns="36576" rIns="36576" bIns="36576" anchor="t">
            <a:spAutoFit/>
          </a:bodyPr>
          <a:lstStyle/>
          <a:p>
            <a:pPr algn="l"/>
            <a:r>
              <a:rPr sz="1400" b="1">
                <a:solidFill>
                  <a:srgbClr val="183769"/>
                </a:solidFill>
                <a:latin typeface="Aptos"/>
              </a:rPr>
              <a:t>DATA FILTERING</a:t>
            </a:r>
          </a:p>
        </p:txBody>
      </p:sp>
      <p:sp>
        <p:nvSpPr>
          <p:cNvPr id="14" name="TextBox 13"/>
          <p:cNvSpPr txBox="1"/>
          <p:nvPr/>
        </p:nvSpPr>
        <p:spPr>
          <a:xfrm>
            <a:off x="6382512" y="3813048"/>
            <a:ext cx="5166360" cy="1536191"/>
          </a:xfrm>
          <a:prstGeom prst="rect">
            <a:avLst/>
          </a:prstGeom>
          <a:noFill/>
        </p:spPr>
        <p:txBody>
          <a:bodyPr wrap="square" lIns="36576" tIns="36576" rIns="36576" bIns="36576" anchor="t">
            <a:spAutoFit/>
          </a:bodyPr>
          <a:lstStyle/>
          <a:p>
            <a:pPr algn="l"/>
            <a:r>
              <a:rPr sz="1500" b="0">
                <a:solidFill>
                  <a:srgbClr val="373737"/>
                </a:solidFill>
                <a:latin typeface="Aptos"/>
              </a:rPr>
              <a:t>Filter condition: Sales &gt; mean Sales (229.86). The execution returns 2,360 rows for inspection, demonstrating how a numeric condition can reduce a large dataset.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pic>
        <p:nvPicPr>
          <p:cNvPr id="2" name="Picture 1" descr="image.png"/>
          <p:cNvPicPr>
            <a:picLocks noChangeAspect="1"/>
          </p:cNvPicPr>
          <p:nvPr/>
        </p:nvPicPr>
        <p:blipFill>
          <a:blip r:embed="rId2"/>
          <a:srcRect/>
          <a:stretch>
            <a:fillRect/>
          </a:stretch>
        </p:blipFill>
        <p:spPr>
          <a:xfrm>
            <a:off x="256032" y="118872"/>
            <a:ext cx="1417320" cy="191799"/>
          </a:xfrm>
          <a:prstGeom prst="rect">
            <a:avLst/>
          </a:prstGeom>
        </p:spPr>
      </p:pic>
      <p:grpSpPr/>
      <p:sp>
        <p:nvSpPr>
          <p:cNvPr id="3" name="Rounded Rectangle 2"/>
          <p:cNvSpPr/>
          <p:nvPr/>
        </p:nvSpPr>
        <p:spPr>
          <a:xfrm>
            <a:off x="1432560" y="717804"/>
            <a:ext cx="9326880" cy="502920"/>
          </a:xfrm>
          <a:prstGeom prst="roundRect">
            <a:avLst/>
          </a:prstGeom>
          <a:solidFill>
            <a:srgbClr val="FF6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600200" y="740665"/>
            <a:ext cx="9144000" cy="384048"/>
          </a:xfrm>
          <a:prstGeom prst="rect">
            <a:avLst/>
          </a:prstGeom>
          <a:noFill/>
        </p:spPr>
        <p:txBody>
          <a:bodyPr wrap="square" lIns="36576" tIns="36576" rIns="36576" bIns="36576" anchor="ctr">
            <a:spAutoFit/>
          </a:bodyPr>
          <a:lstStyle/>
          <a:p>
            <a:pPr algn="ctr"/>
            <a:r>
              <a:rPr sz="2000" b="1">
                <a:solidFill>
                  <a:srgbClr val="FFFFFF"/>
                </a:solidFill>
                <a:latin typeface="Aptos"/>
              </a:rPr>
              <a:t>DATA VISUALIZATION</a:t>
            </a:r>
          </a:p>
        </p:txBody>
      </p:sp>
      <p:pic>
        <p:nvPicPr>
          <p:cNvPr id="6" name="Picture 5" descr="image.png"/>
          <p:cNvPicPr>
            <a:picLocks noChangeAspect="1"/>
          </p:cNvPicPr>
          <p:nvPr/>
        </p:nvPicPr>
        <p:blipFill>
          <a:blip r:embed="rId3"/>
          <a:srcRect/>
          <a:stretch>
            <a:fillRect/>
          </a:stretch>
        </p:blipFill>
        <p:spPr>
          <a:xfrm>
            <a:off x="640080" y="1234440"/>
            <a:ext cx="6583680" cy="4434840"/>
          </a:xfrm>
          <a:prstGeom prst="rect">
            <a:avLst/>
          </a:prstGeom>
        </p:spPr>
      </p:pic>
      <p:sp>
        <p:nvSpPr>
          <p:cNvPr id="5" name="TextBox 4"/>
          <p:cNvSpPr txBox="1"/>
          <p:nvPr/>
        </p:nvSpPr>
        <p:spPr>
          <a:xfrm>
            <a:off x="11567160" y="6473952"/>
            <a:ext cx="320040" cy="164592"/>
          </a:xfrm>
          <a:prstGeom prst="rect">
            <a:avLst/>
          </a:prstGeom>
          <a:noFill/>
        </p:spPr>
        <p:txBody>
          <a:bodyPr wrap="square" lIns="36576" tIns="36576" rIns="36576" bIns="36576" anchor="t">
            <a:spAutoFit/>
          </a:bodyPr>
          <a:lstStyle/>
          <a:p>
            <a:r>
              <a:t>15</a:t>
            </a:r>
          </a:p>
        </p:txBody>
      </p:sp>
      <p:sp>
        <p:nvSpPr>
          <p:cNvPr id="7" name="Rounded Rectangle 6"/>
          <p:cNvSpPr/>
          <p:nvPr/>
        </p:nvSpPr>
        <p:spPr>
          <a:xfrm>
            <a:off x="7498079" y="1234440"/>
            <a:ext cx="4160520" cy="4434840"/>
          </a:xfrm>
          <a:prstGeom prst="roundRect">
            <a:avLst/>
          </a:prstGeom>
          <a:solidFill>
            <a:srgbClr val="FAFBFC"/>
          </a:solidFill>
          <a:ln>
            <a:solidFill>
              <a:srgbClr val="DC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498079" y="1234440"/>
            <a:ext cx="64008" cy="4434840"/>
          </a:xfrm>
          <a:prstGeom prst="rect">
            <a:avLst/>
          </a:prstGeom>
          <a:solidFill>
            <a:srgbClr val="FF6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60" y="1417320"/>
            <a:ext cx="3886200" cy="292608"/>
          </a:xfrm>
          <a:prstGeom prst="rect">
            <a:avLst/>
          </a:prstGeom>
          <a:noFill/>
        </p:spPr>
        <p:txBody>
          <a:bodyPr wrap="square" lIns="36576" tIns="36576" rIns="36576" bIns="36576" anchor="t">
            <a:spAutoFit/>
          </a:bodyPr>
          <a:lstStyle/>
          <a:p>
            <a:pPr algn="l"/>
            <a:r>
              <a:rPr sz="1400" b="1" dirty="0">
                <a:solidFill>
                  <a:srgbClr val="183769"/>
                </a:solidFill>
                <a:latin typeface="Aptos"/>
              </a:rPr>
              <a:t>GENERATED CHARTS</a:t>
            </a:r>
          </a:p>
        </p:txBody>
      </p:sp>
      <p:pic>
        <p:nvPicPr>
          <p:cNvPr id="11" name="Picture 10" descr="image.png"/>
          <p:cNvPicPr>
            <a:picLocks noChangeAspect="1"/>
          </p:cNvPicPr>
          <p:nvPr/>
        </p:nvPicPr>
        <p:blipFill>
          <a:blip r:embed="rId2"/>
          <a:srcRect/>
          <a:stretch>
            <a:fillRect/>
          </a:stretch>
        </p:blipFill>
        <p:spPr>
          <a:xfrm>
            <a:off x="256031" y="118872"/>
            <a:ext cx="3151019" cy="426412"/>
          </a:xfrm>
          <a:prstGeom prst="rect">
            <a:avLst/>
          </a:prstGeom>
        </p:spPr>
      </p:pic>
      <p:sp>
        <p:nvSpPr>
          <p:cNvPr id="10" name="TextBox 9"/>
          <p:cNvSpPr txBox="1"/>
          <p:nvPr/>
        </p:nvSpPr>
        <p:spPr>
          <a:xfrm>
            <a:off x="7662671" y="1709928"/>
            <a:ext cx="3886200" cy="3867911"/>
          </a:xfrm>
          <a:prstGeom prst="rect">
            <a:avLst/>
          </a:prstGeom>
          <a:noFill/>
        </p:spPr>
        <p:txBody>
          <a:bodyPr wrap="square" lIns="36576" tIns="36576" rIns="36576" bIns="36576" anchor="t">
            <a:spAutoFit/>
          </a:bodyPr>
          <a:lstStyle/>
          <a:p>
            <a:pPr algn="l"/>
            <a:r>
              <a:rPr sz="1500" b="0">
                <a:solidFill>
                  <a:srgbClr val="373737"/>
                </a:solidFill>
                <a:latin typeface="Aptos"/>
              </a:rPr>
              <a:t>• Sales histogram for distribution</a:t>
            </a:r>
            <a:br/>
            <a:br/>
            <a:r>
              <a:t>• Sales vs Profit comparison</a:t>
            </a:r>
            <a:br/>
            <a:br/>
            <a:r>
              <a:t>The charts provide visual views of numeric behavior and relationships, and are generated as part of the automated analysis workflow.</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pic>
        <p:nvPicPr>
          <p:cNvPr id="2" name="Picture 1" descr="image.png"/>
          <p:cNvPicPr>
            <a:picLocks noChangeAspect="1"/>
          </p:cNvPicPr>
          <p:nvPr/>
        </p:nvPicPr>
        <p:blipFill>
          <a:blip r:embed="rId2"/>
          <a:srcRect/>
          <a:stretch>
            <a:fillRect/>
          </a:stretch>
        </p:blipFill>
        <p:spPr>
          <a:xfrm>
            <a:off x="256032" y="118872"/>
            <a:ext cx="1417320" cy="191799"/>
          </a:xfrm>
          <a:prstGeom prst="rect">
            <a:avLst/>
          </a:prstGeom>
        </p:spPr>
      </p:pic>
      <p:grpSpPr/>
      <p:sp>
        <p:nvSpPr>
          <p:cNvPr id="3" name="Rounded Rectangle 2"/>
          <p:cNvSpPr/>
          <p:nvPr/>
        </p:nvSpPr>
        <p:spPr>
          <a:xfrm>
            <a:off x="1463040" y="534924"/>
            <a:ext cx="9326880" cy="502920"/>
          </a:xfrm>
          <a:prstGeom prst="roundRect">
            <a:avLst/>
          </a:prstGeom>
          <a:solidFill>
            <a:srgbClr val="FF6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508760" y="603504"/>
            <a:ext cx="9144000" cy="384048"/>
          </a:xfrm>
          <a:prstGeom prst="rect">
            <a:avLst/>
          </a:prstGeom>
          <a:noFill/>
        </p:spPr>
        <p:txBody>
          <a:bodyPr wrap="square" lIns="36576" tIns="36576" rIns="36576" bIns="36576" anchor="ctr">
            <a:spAutoFit/>
          </a:bodyPr>
          <a:lstStyle/>
          <a:p>
            <a:pPr algn="ctr"/>
            <a:r>
              <a:rPr sz="2000" b="1">
                <a:solidFill>
                  <a:srgbClr val="FFFFFF"/>
                </a:solidFill>
                <a:latin typeface="Aptos"/>
              </a:rPr>
              <a:t>MULTIPLE FILES USING GLOB</a:t>
            </a:r>
          </a:p>
        </p:txBody>
      </p:sp>
      <p:pic>
        <p:nvPicPr>
          <p:cNvPr id="6" name="Picture 5" descr="image.png"/>
          <p:cNvPicPr>
            <a:picLocks noChangeAspect="1"/>
          </p:cNvPicPr>
          <p:nvPr/>
        </p:nvPicPr>
        <p:blipFill>
          <a:blip r:embed="rId3"/>
          <a:srcRect/>
          <a:stretch>
            <a:fillRect/>
          </a:stretch>
        </p:blipFill>
        <p:spPr>
          <a:xfrm>
            <a:off x="594360" y="1234440"/>
            <a:ext cx="5760720" cy="3429000"/>
          </a:xfrm>
          <a:prstGeom prst="rect">
            <a:avLst/>
          </a:prstGeom>
        </p:spPr>
      </p:pic>
      <p:sp>
        <p:nvSpPr>
          <p:cNvPr id="5" name="TextBox 4"/>
          <p:cNvSpPr txBox="1"/>
          <p:nvPr/>
        </p:nvSpPr>
        <p:spPr>
          <a:xfrm>
            <a:off x="11567160" y="6473952"/>
            <a:ext cx="320040" cy="164592"/>
          </a:xfrm>
          <a:prstGeom prst="rect">
            <a:avLst/>
          </a:prstGeom>
          <a:noFill/>
        </p:spPr>
        <p:txBody>
          <a:bodyPr wrap="square" lIns="36576" tIns="36576" rIns="36576" bIns="36576" anchor="t">
            <a:spAutoFit/>
          </a:bodyPr>
          <a:lstStyle/>
          <a:p>
            <a:r>
              <a:t>16</a:t>
            </a:r>
          </a:p>
        </p:txBody>
      </p:sp>
      <p:sp>
        <p:nvSpPr>
          <p:cNvPr id="7" name="Rounded Rectangle 6"/>
          <p:cNvSpPr/>
          <p:nvPr/>
        </p:nvSpPr>
        <p:spPr>
          <a:xfrm>
            <a:off x="6629400" y="1234440"/>
            <a:ext cx="5029200" cy="3429000"/>
          </a:xfrm>
          <a:prstGeom prst="roundRect">
            <a:avLst/>
          </a:prstGeom>
          <a:solidFill>
            <a:srgbClr val="FAFBFC"/>
          </a:solidFill>
          <a:ln>
            <a:solidFill>
              <a:srgbClr val="DC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629400" y="1234440"/>
            <a:ext cx="64008" cy="3429000"/>
          </a:xfrm>
          <a:prstGeom prst="rect">
            <a:avLst/>
          </a:prstGeom>
          <a:solidFill>
            <a:srgbClr val="197D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793992" y="1344168"/>
            <a:ext cx="4754880" cy="292608"/>
          </a:xfrm>
          <a:prstGeom prst="rect">
            <a:avLst/>
          </a:prstGeom>
          <a:noFill/>
        </p:spPr>
        <p:txBody>
          <a:bodyPr wrap="square" lIns="36576" tIns="36576" rIns="36576" bIns="36576" anchor="t">
            <a:spAutoFit/>
          </a:bodyPr>
          <a:lstStyle/>
          <a:p>
            <a:pPr algn="l"/>
            <a:r>
              <a:rPr sz="1400" b="1">
                <a:solidFill>
                  <a:srgbClr val="183769"/>
                </a:solidFill>
                <a:latin typeface="Aptos"/>
              </a:rPr>
              <a:t>BATCH EXECUTION</a:t>
            </a:r>
          </a:p>
        </p:txBody>
      </p:sp>
      <p:sp>
        <p:nvSpPr>
          <p:cNvPr id="10" name="TextBox 9"/>
          <p:cNvSpPr txBox="1"/>
          <p:nvPr/>
        </p:nvSpPr>
        <p:spPr>
          <a:xfrm>
            <a:off x="6793992" y="1709928"/>
            <a:ext cx="4754880" cy="2862072"/>
          </a:xfrm>
          <a:prstGeom prst="rect">
            <a:avLst/>
          </a:prstGeom>
          <a:noFill/>
        </p:spPr>
        <p:txBody>
          <a:bodyPr wrap="square" lIns="36576" tIns="36576" rIns="36576" bIns="36576" anchor="t">
            <a:spAutoFit/>
          </a:bodyPr>
          <a:lstStyle/>
          <a:p>
            <a:pPr algn="l"/>
            <a:r>
              <a:rPr sz="1500" b="0">
                <a:solidFill>
                  <a:srgbClr val="373737"/>
                </a:solidFill>
                <a:latin typeface="Aptos"/>
              </a:rPr>
              <a:t>The supplied run detected five files and processed them in one workflow. Several Superstore CSV copies were analyzed successfully, demonstrating that the same operations can be repeated without manually rewriting the analysis for each file.</a:t>
            </a:r>
          </a:p>
        </p:txBody>
      </p:sp>
      <p:sp>
        <p:nvSpPr>
          <p:cNvPr id="11" name="Rounded Rectangle 10"/>
          <p:cNvSpPr/>
          <p:nvPr/>
        </p:nvSpPr>
        <p:spPr>
          <a:xfrm>
            <a:off x="594360" y="4892040"/>
            <a:ext cx="11064240" cy="960120"/>
          </a:xfrm>
          <a:prstGeom prst="roundRect">
            <a:avLst/>
          </a:prstGeom>
          <a:solidFill>
            <a:srgbClr val="FAFBFC"/>
          </a:solidFill>
          <a:ln>
            <a:solidFill>
              <a:srgbClr val="DC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94360" y="4892040"/>
            <a:ext cx="64008" cy="960120"/>
          </a:xfrm>
          <a:prstGeom prst="rect">
            <a:avLst/>
          </a:prstGeom>
          <a:solidFill>
            <a:srgbClr val="B45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58952" y="5001768"/>
            <a:ext cx="10789919" cy="292608"/>
          </a:xfrm>
          <a:prstGeom prst="rect">
            <a:avLst/>
          </a:prstGeom>
          <a:noFill/>
        </p:spPr>
        <p:txBody>
          <a:bodyPr wrap="square" lIns="36576" tIns="36576" rIns="36576" bIns="36576" anchor="t">
            <a:spAutoFit/>
          </a:bodyPr>
          <a:lstStyle/>
          <a:p>
            <a:pPr algn="l"/>
            <a:r>
              <a:rPr sz="1400" b="1">
                <a:solidFill>
                  <a:srgbClr val="183769"/>
                </a:solidFill>
                <a:latin typeface="Aptos"/>
              </a:rPr>
              <a:t>RUN NOTE</a:t>
            </a:r>
          </a:p>
        </p:txBody>
      </p:sp>
      <p:pic>
        <p:nvPicPr>
          <p:cNvPr id="15" name="Picture 14" descr="image.png"/>
          <p:cNvPicPr>
            <a:picLocks noChangeAspect="1"/>
          </p:cNvPicPr>
          <p:nvPr/>
        </p:nvPicPr>
        <p:blipFill>
          <a:blip r:embed="rId2"/>
          <a:srcRect/>
          <a:stretch>
            <a:fillRect/>
          </a:stretch>
        </p:blipFill>
        <p:spPr>
          <a:xfrm>
            <a:off x="256031" y="118872"/>
            <a:ext cx="3151019" cy="426412"/>
          </a:xfrm>
          <a:prstGeom prst="rect">
            <a:avLst/>
          </a:prstGeom>
        </p:spPr>
      </p:pic>
      <p:sp>
        <p:nvSpPr>
          <p:cNvPr id="14" name="TextBox 13"/>
          <p:cNvSpPr txBox="1"/>
          <p:nvPr/>
        </p:nvSpPr>
        <p:spPr>
          <a:xfrm>
            <a:off x="758952" y="5367527"/>
            <a:ext cx="10789919" cy="393192"/>
          </a:xfrm>
          <a:prstGeom prst="rect">
            <a:avLst/>
          </a:prstGeom>
          <a:noFill/>
        </p:spPr>
        <p:txBody>
          <a:bodyPr wrap="square" lIns="36576" tIns="36576" rIns="36576" bIns="36576" anchor="t">
            <a:spAutoFit/>
          </a:bodyPr>
          <a:lstStyle/>
          <a:p>
            <a:pPr algn="l"/>
            <a:r>
              <a:rPr sz="1300" b="0">
                <a:solidFill>
                  <a:srgbClr val="373737"/>
                </a:solidFill>
                <a:latin typeface="Aptos"/>
              </a:rPr>
              <a:t>The generated file_analysis_summary.csv was also present in the folder and was picked up by the glob pattern during this run.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pic>
        <p:nvPicPr>
          <p:cNvPr id="2" name="Picture 1" descr="image.png"/>
          <p:cNvPicPr>
            <a:picLocks noChangeAspect="1"/>
          </p:cNvPicPr>
          <p:nvPr/>
        </p:nvPicPr>
        <p:blipFill>
          <a:blip r:embed="rId2"/>
          <a:srcRect/>
          <a:stretch>
            <a:fillRect/>
          </a:stretch>
        </p:blipFill>
        <p:spPr>
          <a:xfrm>
            <a:off x="256032" y="118872"/>
            <a:ext cx="1417320" cy="191799"/>
          </a:xfrm>
          <a:prstGeom prst="rect">
            <a:avLst/>
          </a:prstGeom>
        </p:spPr>
      </p:pic>
      <p:grpSpPr/>
      <p:sp>
        <p:nvSpPr>
          <p:cNvPr id="3" name="Rounded Rectangle 2"/>
          <p:cNvSpPr/>
          <p:nvPr/>
        </p:nvSpPr>
        <p:spPr>
          <a:xfrm>
            <a:off x="1417320" y="562356"/>
            <a:ext cx="9326880" cy="502920"/>
          </a:xfrm>
          <a:prstGeom prst="roundRect">
            <a:avLst/>
          </a:prstGeom>
          <a:solidFill>
            <a:srgbClr val="FF6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524000" y="621792"/>
            <a:ext cx="9144000" cy="384048"/>
          </a:xfrm>
          <a:prstGeom prst="rect">
            <a:avLst/>
          </a:prstGeom>
          <a:noFill/>
        </p:spPr>
        <p:txBody>
          <a:bodyPr wrap="square" lIns="36576" tIns="36576" rIns="36576" bIns="36576" anchor="ctr">
            <a:spAutoFit/>
          </a:bodyPr>
          <a:lstStyle/>
          <a:p>
            <a:pPr algn="ctr"/>
            <a:r>
              <a:rPr sz="2000" b="1" dirty="0">
                <a:solidFill>
                  <a:srgbClr val="FFFFFF"/>
                </a:solidFill>
                <a:latin typeface="Aptos"/>
              </a:rPr>
              <a:t>EXECUTION RESULTS</a:t>
            </a:r>
          </a:p>
        </p:txBody>
      </p:sp>
      <p:pic>
        <p:nvPicPr>
          <p:cNvPr id="6" name="Picture 5" descr="image.png"/>
          <p:cNvPicPr>
            <a:picLocks noChangeAspect="1"/>
          </p:cNvPicPr>
          <p:nvPr/>
        </p:nvPicPr>
        <p:blipFill>
          <a:blip r:embed="rId3"/>
          <a:srcRect/>
          <a:stretch>
            <a:fillRect/>
          </a:stretch>
        </p:blipFill>
        <p:spPr>
          <a:xfrm>
            <a:off x="640080" y="1234440"/>
            <a:ext cx="6400800" cy="4023360"/>
          </a:xfrm>
          <a:prstGeom prst="rect">
            <a:avLst/>
          </a:prstGeom>
        </p:spPr>
      </p:pic>
      <p:sp>
        <p:nvSpPr>
          <p:cNvPr id="5" name="TextBox 4"/>
          <p:cNvSpPr txBox="1"/>
          <p:nvPr/>
        </p:nvSpPr>
        <p:spPr>
          <a:xfrm>
            <a:off x="11567160" y="6473952"/>
            <a:ext cx="320040" cy="164592"/>
          </a:xfrm>
          <a:prstGeom prst="rect">
            <a:avLst/>
          </a:prstGeom>
          <a:noFill/>
        </p:spPr>
        <p:txBody>
          <a:bodyPr wrap="square" lIns="36576" tIns="36576" rIns="36576" bIns="36576" anchor="t">
            <a:spAutoFit/>
          </a:bodyPr>
          <a:lstStyle/>
          <a:p>
            <a:r>
              <a:t>17</a:t>
            </a:r>
          </a:p>
        </p:txBody>
      </p:sp>
      <p:sp>
        <p:nvSpPr>
          <p:cNvPr id="7" name="Rounded Rectangle 6"/>
          <p:cNvSpPr/>
          <p:nvPr/>
        </p:nvSpPr>
        <p:spPr>
          <a:xfrm>
            <a:off x="7269480" y="1234440"/>
            <a:ext cx="4434840" cy="4023360"/>
          </a:xfrm>
          <a:prstGeom prst="roundRect">
            <a:avLst/>
          </a:prstGeom>
          <a:solidFill>
            <a:srgbClr val="FAFBFC"/>
          </a:solidFill>
          <a:ln>
            <a:solidFill>
              <a:srgbClr val="DC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269480" y="1234440"/>
            <a:ext cx="64008" cy="4023360"/>
          </a:xfrm>
          <a:prstGeom prst="rect">
            <a:avLst/>
          </a:prstGeom>
          <a:solidFill>
            <a:srgbClr val="FF6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543800" y="1362456"/>
            <a:ext cx="4160520" cy="292608"/>
          </a:xfrm>
          <a:prstGeom prst="rect">
            <a:avLst/>
          </a:prstGeom>
          <a:noFill/>
        </p:spPr>
        <p:txBody>
          <a:bodyPr wrap="square" lIns="36576" tIns="36576" rIns="36576" bIns="36576" anchor="t">
            <a:spAutoFit/>
          </a:bodyPr>
          <a:lstStyle/>
          <a:p>
            <a:pPr algn="l"/>
            <a:r>
              <a:rPr sz="1400" b="1" dirty="0">
                <a:solidFill>
                  <a:srgbClr val="183769"/>
                </a:solidFill>
                <a:latin typeface="Aptos"/>
              </a:rPr>
              <a:t>IMPLEMENTATION CHECKLIST</a:t>
            </a:r>
          </a:p>
        </p:txBody>
      </p:sp>
      <p:pic>
        <p:nvPicPr>
          <p:cNvPr id="11" name="Picture 10" descr="image.png"/>
          <p:cNvPicPr>
            <a:picLocks noChangeAspect="1"/>
          </p:cNvPicPr>
          <p:nvPr/>
        </p:nvPicPr>
        <p:blipFill>
          <a:blip r:embed="rId2"/>
          <a:srcRect/>
          <a:stretch>
            <a:fillRect/>
          </a:stretch>
        </p:blipFill>
        <p:spPr>
          <a:xfrm>
            <a:off x="256031" y="118872"/>
            <a:ext cx="3151019" cy="426412"/>
          </a:xfrm>
          <a:prstGeom prst="rect">
            <a:avLst/>
          </a:prstGeom>
        </p:spPr>
      </p:pic>
      <p:sp>
        <p:nvSpPr>
          <p:cNvPr id="10" name="TextBox 9"/>
          <p:cNvSpPr txBox="1"/>
          <p:nvPr/>
        </p:nvSpPr>
        <p:spPr>
          <a:xfrm>
            <a:off x="7434072" y="1709928"/>
            <a:ext cx="4160520" cy="3456432"/>
          </a:xfrm>
          <a:prstGeom prst="rect">
            <a:avLst/>
          </a:prstGeom>
          <a:noFill/>
        </p:spPr>
        <p:txBody>
          <a:bodyPr wrap="square" lIns="36576" tIns="36576" rIns="36576" bIns="36576" anchor="t">
            <a:spAutoFit/>
          </a:bodyPr>
          <a:lstStyle/>
          <a:p>
            <a:pPr algn="l"/>
            <a:r>
              <a:rPr sz="1400" b="0">
                <a:solidFill>
                  <a:srgbClr val="373737"/>
                </a:solidFill>
                <a:latin typeface="Aptos"/>
              </a:rPr>
              <a:t>✓ Text file processing</a:t>
            </a:r>
            <a:br/>
            <a:r>
              <a:t>✓ CSV file processing</a:t>
            </a:r>
            <a:br/>
            <a:r>
              <a:t>✓ JSON file processing</a:t>
            </a:r>
            <a:br/>
            <a:r>
              <a:t>✓ Excel file processing</a:t>
            </a:r>
            <a:br/>
            <a:r>
              <a:t>✓ Word count</a:t>
            </a:r>
            <a:br/>
            <a:r>
              <a:t>✓ Data filtering</a:t>
            </a:r>
            <a:br/>
            <a:r>
              <a:t>✓ Statistical analysis</a:t>
            </a:r>
            <a:br/>
            <a:r>
              <a:t>✓ Multiple files using glob</a:t>
            </a:r>
            <a:br/>
            <a:r>
              <a:t>✓ Data visualization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pic>
        <p:nvPicPr>
          <p:cNvPr id="2" name="Picture 1" descr="image.png"/>
          <p:cNvPicPr>
            <a:picLocks noChangeAspect="1"/>
          </p:cNvPicPr>
          <p:nvPr/>
        </p:nvPicPr>
        <p:blipFill>
          <a:blip r:embed="rId2"/>
          <a:srcRect/>
          <a:stretch>
            <a:fillRect/>
          </a:stretch>
        </p:blipFill>
        <p:spPr>
          <a:xfrm>
            <a:off x="320040" y="164592"/>
            <a:ext cx="1417320" cy="191799"/>
          </a:xfrm>
          <a:prstGeom prst="rect">
            <a:avLst/>
          </a:prstGeom>
        </p:spPr>
      </p:pic>
      <p:grpSpPr/>
      <p:sp>
        <p:nvSpPr>
          <p:cNvPr id="3" name="Rounded Rectangle 2"/>
          <p:cNvSpPr/>
          <p:nvPr/>
        </p:nvSpPr>
        <p:spPr>
          <a:xfrm>
            <a:off x="2423160" y="438912"/>
            <a:ext cx="6263640" cy="530352"/>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2487168" y="557784"/>
            <a:ext cx="6144768" cy="475488"/>
          </a:xfrm>
          <a:prstGeom prst="roundRect">
            <a:avLst/>
          </a:prstGeom>
          <a:solidFill>
            <a:srgbClr val="46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2423160" y="438912"/>
            <a:ext cx="6263640" cy="530352"/>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514600" y="530352"/>
            <a:ext cx="6080760" cy="347472"/>
          </a:xfrm>
          <a:prstGeom prst="rect">
            <a:avLst/>
          </a:prstGeom>
          <a:noFill/>
        </p:spPr>
        <p:txBody>
          <a:bodyPr wrap="none">
            <a:spAutoFit/>
          </a:bodyPr>
          <a:lstStyle/>
          <a:p>
            <a:pPr algn="ctr">
              <a:defRPr sz="2300" b="1">
                <a:solidFill>
                  <a:srgbClr val="FFFFFF"/>
                </a:solidFill>
                <a:latin typeface="Aptos Display"/>
              </a:defRPr>
            </a:pPr>
            <a:r>
              <a:rPr sz="2000" b="1">
                <a:solidFill>
                  <a:srgbClr val="2D2D2D"/>
                </a:solidFill>
                <a:latin typeface="Aptos"/>
              </a:rPr>
              <a:t>ENHANCEMENTS</a:t>
            </a:r>
          </a:p>
        </p:txBody>
      </p:sp>
      <p:sp>
        <p:nvSpPr>
          <p:cNvPr id="7" name="TextBox 6"/>
          <p:cNvSpPr txBox="1"/>
          <p:nvPr/>
        </p:nvSpPr>
        <p:spPr>
          <a:xfrm>
            <a:off x="777240" y="1325880"/>
            <a:ext cx="2286000" cy="320040"/>
          </a:xfrm>
          <a:prstGeom prst="rect">
            <a:avLst/>
          </a:prstGeom>
          <a:noFill/>
        </p:spPr>
        <p:txBody>
          <a:bodyPr wrap="none">
            <a:spAutoFit/>
          </a:bodyPr>
          <a:lstStyle/>
          <a:p>
            <a:pPr algn="ctr">
              <a:defRPr sz="1600" b="1">
                <a:solidFill>
                  <a:srgbClr val="232B32"/>
                </a:solidFill>
                <a:latin typeface="Aptos Display"/>
              </a:defRPr>
            </a:pPr>
            <a:r>
              <a:rPr sz="1700" b="1">
                <a:solidFill>
                  <a:srgbClr val="E67E22"/>
                </a:solidFill>
                <a:latin typeface="Aptos"/>
              </a:rPr>
              <a:t>PLANNED ENHANCEMENTS</a:t>
            </a:r>
          </a:p>
        </p:txBody>
      </p:sp>
      <p:sp>
        <p:nvSpPr>
          <p:cNvPr id="8" name="TextBox 7"/>
          <p:cNvSpPr txBox="1"/>
          <p:nvPr/>
        </p:nvSpPr>
        <p:spPr>
          <a:xfrm>
            <a:off x="914400" y="1508760"/>
            <a:ext cx="9875520" cy="3566160"/>
          </a:xfrm>
          <a:prstGeom prst="rect">
            <a:avLst/>
          </a:prstGeom>
          <a:noFill/>
        </p:spPr>
        <p:txBody>
          <a:bodyPr wrap="square">
            <a:spAutoFit/>
          </a:bodyPr>
          <a:lstStyle/>
          <a:p>
            <a:pPr>
              <a:spcAft>
                <a:spcPts val="1000"/>
              </a:spcAft>
              <a:defRPr sz="1450">
                <a:solidFill>
                  <a:srgbClr val="232B32"/>
                </a:solidFill>
                <a:latin typeface="Aptos"/>
              </a:defRPr>
            </a:pPr>
            <a:r>
              <a:rPr sz="1800" b="0">
                <a:solidFill>
                  <a:srgbClr val="2D2D2D"/>
                </a:solidFill>
                <a:latin typeface="Aptos"/>
              </a:rPr>
              <a:t>• Support Excel, JSON and TXT files in addition to CSV.
• Add batch processing for multiple files.
• Automate file summaries and analytical reports.
• Add flexible filtering and aggregation options.
• Add visualization after the core Pandas/NumPy workflow is complete.</a:t>
            </a:r>
          </a:p>
        </p:txBody>
      </p:sp>
      <p:sp>
        <p:nvSpPr>
          <p:cNvPr id="9" name="TextBox 8"/>
          <p:cNvSpPr txBox="1"/>
          <p:nvPr/>
        </p:nvSpPr>
        <p:spPr>
          <a:xfrm>
            <a:off x="6172200" y="1325880"/>
            <a:ext cx="2286000" cy="320040"/>
          </a:xfrm>
          <a:prstGeom prst="rect">
            <a:avLst/>
          </a:prstGeom>
          <a:noFill/>
        </p:spPr>
        <p:txBody>
          <a:bodyPr wrap="none">
            <a:spAutoFit/>
          </a:bodyPr>
          <a:lstStyle/>
          <a:p>
            <a:pPr>
              <a:defRPr sz="1600" b="1">
                <a:solidFill>
                  <a:srgbClr val="232B32"/>
                </a:solidFill>
                <a:latin typeface="Aptos Display"/>
              </a:defRPr>
            </a:pPr>
          </a:p>
        </p:txBody>
      </p:sp>
      <p:sp>
        <p:nvSpPr>
          <p:cNvPr id="10" name="TextBox 9"/>
          <p:cNvSpPr txBox="1"/>
          <p:nvPr/>
        </p:nvSpPr>
        <p:spPr>
          <a:xfrm>
            <a:off x="6217920" y="1691640"/>
            <a:ext cx="4846320" cy="3291840"/>
          </a:xfrm>
          <a:prstGeom prst="rect">
            <a:avLst/>
          </a:prstGeom>
          <a:noFill/>
        </p:spPr>
        <p:txBody>
          <a:bodyPr wrap="square">
            <a:spAutoFit/>
          </a:bodyPr>
          <a:lstStyle/>
          <a:p>
            <a:pPr>
              <a:spcAft>
                <a:spcPts val="1000"/>
              </a:spcAft>
              <a:defRPr sz="1450">
                <a:solidFill>
                  <a:srgbClr val="232B32"/>
                </a:solidFill>
                <a:latin typeface="Aptos"/>
              </a:defRPr>
            </a:pPr>
          </a:p>
        </p:txBody>
      </p:sp>
      <p:sp>
        <p:nvSpPr>
          <p:cNvPr id="11" name="TextBox 10"/>
          <p:cNvSpPr txBox="1"/>
          <p:nvPr/>
        </p:nvSpPr>
        <p:spPr>
          <a:xfrm>
            <a:off x="4114800" y="5212080"/>
            <a:ext cx="3840480" cy="502920"/>
          </a:xfrm>
          <a:prstGeom prst="rect">
            <a:avLst/>
          </a:prstGeom>
          <a:noFill/>
        </p:spPr>
        <p:txBody>
          <a:bodyPr wrap="square">
            <a:spAutoFit/>
          </a:bodyPr>
          <a:lstStyle/>
          <a:p>
            <a:pPr algn="ctr">
              <a:defRPr sz="2400" b="1">
                <a:solidFill>
                  <a:srgbClr val="9B3730"/>
                </a:solidFill>
                <a:latin typeface="Aptos"/>
              </a:defRPr>
            </a:pPr>
            <a:r>
              <a:rPr sz="2600" b="1">
                <a:solidFill>
                  <a:srgbClr val="E67E22"/>
                </a:solidFill>
                <a:latin typeface="Aptos"/>
              </a:rPr>
              <a:t>Thank You</a:t>
            </a:r>
          </a:p>
        </p:txBody>
      </p:sp>
      <p:sp>
        <p:nvSpPr>
          <p:cNvPr id="12" name="TextBox 11"/>
          <p:cNvSpPr txBox="1"/>
          <p:nvPr/>
        </p:nvSpPr>
        <p:spPr>
          <a:xfrm>
            <a:off x="11064240" y="6172200"/>
            <a:ext cx="411480" cy="274320"/>
          </a:xfrm>
          <a:prstGeom prst="rect">
            <a:avLst/>
          </a:prstGeom>
          <a:noFill/>
        </p:spPr>
        <p:txBody>
          <a:bodyPr wrap="none">
            <a:spAutoFit/>
          </a:bodyPr>
          <a:lstStyle/>
          <a:p>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ounded Rectangle 2"/>
          <p:cNvSpPr/>
          <p:nvPr/>
        </p:nvSpPr>
        <p:spPr>
          <a:xfrm>
            <a:off x="2423160" y="438912"/>
            <a:ext cx="6263640" cy="530352"/>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2487168" y="557784"/>
            <a:ext cx="6144768" cy="475488"/>
          </a:xfrm>
          <a:prstGeom prst="roundRect">
            <a:avLst/>
          </a:prstGeom>
          <a:solidFill>
            <a:srgbClr val="46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2423160" y="438912"/>
            <a:ext cx="6263640" cy="530352"/>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514600" y="530352"/>
            <a:ext cx="6080760" cy="347472"/>
          </a:xfrm>
          <a:prstGeom prst="rect">
            <a:avLst/>
          </a:prstGeom>
          <a:noFill/>
        </p:spPr>
        <p:txBody>
          <a:bodyPr wrap="none">
            <a:spAutoFit/>
          </a:bodyPr>
          <a:lstStyle/>
          <a:p>
            <a:pPr algn="ctr">
              <a:defRPr sz="2300" b="1">
                <a:solidFill>
                  <a:srgbClr val="FFFFFF"/>
                </a:solidFill>
                <a:latin typeface="Aptos Display"/>
              </a:defRPr>
            </a:pPr>
            <a:r>
              <a:rPr sz="2000" b="1">
                <a:solidFill>
                  <a:srgbClr val="2D2D2D"/>
                </a:solidFill>
                <a:latin typeface="Aptos"/>
              </a:rPr>
              <a:t>CONCLUSION</a:t>
            </a:r>
          </a:p>
        </p:txBody>
      </p:sp>
      <p:sp>
        <p:nvSpPr>
          <p:cNvPr id="7" name="TextBox 6"/>
          <p:cNvSpPr txBox="1"/>
          <p:nvPr/>
        </p:nvSpPr>
        <p:spPr>
          <a:xfrm>
            <a:off x="777240" y="1325880"/>
            <a:ext cx="2286000" cy="320040"/>
          </a:xfrm>
          <a:prstGeom prst="rect">
            <a:avLst/>
          </a:prstGeom>
          <a:noFill/>
        </p:spPr>
        <p:txBody>
          <a:bodyPr wrap="none">
            <a:spAutoFit/>
          </a:bodyPr>
          <a:lstStyle/>
          <a:p>
            <a:pPr algn="ctr">
              <a:defRPr sz="1600" b="1">
                <a:solidFill>
                  <a:srgbClr val="232B32"/>
                </a:solidFill>
                <a:latin typeface="Aptos Display"/>
              </a:defRPr>
            </a:pPr>
            <a:r>
              <a:rPr sz="1700" b="1">
                <a:solidFill>
                  <a:srgbClr val="E67E22"/>
                </a:solidFill>
                <a:latin typeface="Aptos"/>
              </a:rPr>
              <a:t>KEY OUTCOMES</a:t>
            </a:r>
          </a:p>
        </p:txBody>
      </p:sp>
      <p:sp>
        <p:nvSpPr>
          <p:cNvPr id="8" name="TextBox 7"/>
          <p:cNvSpPr txBox="1"/>
          <p:nvPr/>
        </p:nvSpPr>
        <p:spPr>
          <a:xfrm>
            <a:off x="914400" y="1508760"/>
            <a:ext cx="9875520" cy="3566160"/>
          </a:xfrm>
          <a:prstGeom prst="rect">
            <a:avLst/>
          </a:prstGeom>
          <a:noFill/>
        </p:spPr>
        <p:txBody>
          <a:bodyPr wrap="square">
            <a:spAutoFit/>
          </a:bodyPr>
          <a:lstStyle/>
          <a:p>
            <a:pPr>
              <a:spcAft>
                <a:spcPts val="1000"/>
              </a:spcAft>
              <a:defRPr sz="1450">
                <a:solidFill>
                  <a:srgbClr val="232B32"/>
                </a:solidFill>
                <a:latin typeface="Aptos"/>
              </a:defRPr>
            </a:pPr>
            <a:r>
              <a:rPr sz="1800" b="0">
                <a:solidFill>
                  <a:srgbClr val="2D2D2D"/>
                </a:solidFill>
                <a:latin typeface="Aptos"/>
              </a:rPr>
              <a:t>• The Review 1 prototype successfully loads and inspects the Kaggle Superstore dataset.
• The dataset contains 9,994 rows and 21 columns with no missing or duplicate rows.
• Date fields have been converted into usable datetime values.
• The project now has a foundation for a reusable multi-format File Data Analyzer System.</a:t>
            </a:r>
          </a:p>
        </p:txBody>
      </p:sp>
      <p:sp>
        <p:nvSpPr>
          <p:cNvPr id="9" name="TextBox 8"/>
          <p:cNvSpPr txBox="1"/>
          <p:nvPr/>
        </p:nvSpPr>
        <p:spPr>
          <a:xfrm>
            <a:off x="6172200" y="1325880"/>
            <a:ext cx="2286000" cy="320040"/>
          </a:xfrm>
          <a:prstGeom prst="rect">
            <a:avLst/>
          </a:prstGeom>
          <a:noFill/>
        </p:spPr>
        <p:txBody>
          <a:bodyPr wrap="none">
            <a:spAutoFit/>
          </a:bodyPr>
          <a:lstStyle/>
          <a:p>
            <a:pPr>
              <a:defRPr sz="1600" b="1">
                <a:solidFill>
                  <a:srgbClr val="232B32"/>
                </a:solidFill>
                <a:latin typeface="Aptos Display"/>
              </a:defRPr>
            </a:pPr>
          </a:p>
        </p:txBody>
      </p:sp>
      <p:sp>
        <p:nvSpPr>
          <p:cNvPr id="10" name="TextBox 9"/>
          <p:cNvSpPr txBox="1"/>
          <p:nvPr/>
        </p:nvSpPr>
        <p:spPr>
          <a:xfrm>
            <a:off x="6217920" y="1691640"/>
            <a:ext cx="4846320" cy="3291840"/>
          </a:xfrm>
          <a:prstGeom prst="rect">
            <a:avLst/>
          </a:prstGeom>
          <a:noFill/>
        </p:spPr>
        <p:txBody>
          <a:bodyPr wrap="square">
            <a:spAutoFit/>
          </a:bodyPr>
          <a:lstStyle/>
          <a:p>
            <a:pPr>
              <a:spcAft>
                <a:spcPts val="1000"/>
              </a:spcAft>
              <a:defRPr sz="1450">
                <a:solidFill>
                  <a:srgbClr val="232B32"/>
                </a:solidFill>
                <a:latin typeface="Aptos"/>
              </a:defRPr>
            </a:pPr>
          </a:p>
        </p:txBody>
      </p:sp>
      <p:sp>
        <p:nvSpPr>
          <p:cNvPr id="11" name="TextBox 10"/>
          <p:cNvSpPr txBox="1"/>
          <p:nvPr/>
        </p:nvSpPr>
        <p:spPr>
          <a:xfrm>
            <a:off x="4114800" y="5212080"/>
            <a:ext cx="3840480" cy="502920"/>
          </a:xfrm>
          <a:prstGeom prst="rect">
            <a:avLst/>
          </a:prstGeom>
          <a:noFill/>
        </p:spPr>
        <p:txBody>
          <a:bodyPr wrap="square">
            <a:spAutoFit/>
          </a:bodyPr>
          <a:lstStyle/>
          <a:p>
            <a:pPr algn="ctr">
              <a:defRPr sz="2400" b="1">
                <a:solidFill>
                  <a:srgbClr val="9B3730"/>
                </a:solidFill>
                <a:latin typeface="Aptos"/>
              </a:defRPr>
            </a:pPr>
            <a:r>
              <a:rPr sz="2600" b="1">
                <a:solidFill>
                  <a:srgbClr val="E67E22"/>
                </a:solidFill>
                <a:latin typeface="Aptos"/>
              </a:rPr>
              <a:t>Thank You</a:t>
            </a:r>
          </a:p>
        </p:txBody>
      </p:sp>
      <p:sp>
        <p:nvSpPr>
          <p:cNvPr id="12" name="TextBox 11"/>
          <p:cNvSpPr txBox="1"/>
          <p:nvPr/>
        </p:nvSpPr>
        <p:spPr>
          <a:xfrm>
            <a:off x="11064240" y="6172200"/>
            <a:ext cx="411480" cy="274320"/>
          </a:xfrm>
          <a:prstGeom prst="rect">
            <a:avLst/>
          </a:prstGeom>
          <a:noFill/>
        </p:spPr>
        <p:txBody>
          <a:bodyPr wrap="none">
            <a:spAutoFit/>
          </a:bodyPr>
          <a:lstStyle/>
          <a:p>
            <a:r>
              <a:t>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TotalTime>
  <Words>811</Words>
  <Application>Microsoft Office PowerPoint</Application>
  <PresentationFormat>Widescreen</PresentationFormat>
  <Paragraphs>117</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Jaswanth Katragadda</cp:lastModifiedBy>
  <cp:revision>3</cp:revision>
  <dcterms:created xsi:type="dcterms:W3CDTF">2013-01-27T09:14:16Z</dcterms:created>
  <dcterms:modified xsi:type="dcterms:W3CDTF">2026-08-26T13:31:55Z</dcterms:modified>
  <cp:category/>
</cp:coreProperties>
</file>